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5" r:id="rId8"/>
    <p:sldId id="262" r:id="rId9"/>
    <p:sldId id="263" r:id="rId10"/>
    <p:sldId id="264"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FDAC05-5134-4CC8-B62B-17BB326FBEA9}" v="8" dt="2026-08-28T02:33:25.332"/>
    <p1510:client id="{EB25B244-1BC6-42F4-B41D-EC86B9EC1B58}" v="2" dt="2026-08-28T02:05:48.9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78" autoAdjust="0"/>
  </p:normalViewPr>
  <p:slideViewPr>
    <p:cSldViewPr snapToGrid="0" snapToObjects="1">
      <p:cViewPr>
        <p:scale>
          <a:sx n="66" d="100"/>
          <a:sy n="66" d="100"/>
        </p:scale>
        <p:origin x="644" y="1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 Xingyun" userId="1103bae7-35ac-4504-92f0-467c2a688be9" providerId="ADAL" clId="{11ABD78E-95ED-46A1-A228-70ED263CCEA8}"/>
    <pc:docChg chg="undo custSel addSld modSld">
      <pc:chgData name="MA, Xingyun" userId="1103bae7-35ac-4504-92f0-467c2a688be9" providerId="ADAL" clId="{11ABD78E-95ED-46A1-A228-70ED263CCEA8}" dt="2026-08-28T02:28:28.719" v="268" actId="1076"/>
      <pc:docMkLst>
        <pc:docMk/>
      </pc:docMkLst>
      <pc:sldChg chg="delSp modSp mod">
        <pc:chgData name="MA, Xingyun" userId="1103bae7-35ac-4504-92f0-467c2a688be9" providerId="ADAL" clId="{11ABD78E-95ED-46A1-A228-70ED263CCEA8}" dt="2026-08-28T02:11:02.945" v="54" actId="20577"/>
        <pc:sldMkLst>
          <pc:docMk/>
          <pc:sldMk cId="0" sldId="256"/>
        </pc:sldMkLst>
        <pc:spChg chg="mod">
          <ac:chgData name="MA, Xingyun" userId="1103bae7-35ac-4504-92f0-467c2a688be9" providerId="ADAL" clId="{11ABD78E-95ED-46A1-A228-70ED263CCEA8}" dt="2026-08-28T02:05:17.370" v="13" actId="1076"/>
          <ac:spMkLst>
            <pc:docMk/>
            <pc:sldMk cId="0" sldId="256"/>
            <ac:spMk id="2" creationId="{00000000-0000-0000-0000-000000000000}"/>
          </ac:spMkLst>
        </pc:spChg>
        <pc:spChg chg="del">
          <ac:chgData name="MA, Xingyun" userId="1103bae7-35ac-4504-92f0-467c2a688be9" providerId="ADAL" clId="{11ABD78E-95ED-46A1-A228-70ED263CCEA8}" dt="2026-08-28T02:10:11.900" v="37" actId="478"/>
          <ac:spMkLst>
            <pc:docMk/>
            <pc:sldMk cId="0" sldId="256"/>
            <ac:spMk id="4" creationId="{00000000-0000-0000-0000-000000000000}"/>
          </ac:spMkLst>
        </pc:spChg>
        <pc:spChg chg="mod">
          <ac:chgData name="MA, Xingyun" userId="1103bae7-35ac-4504-92f0-467c2a688be9" providerId="ADAL" clId="{11ABD78E-95ED-46A1-A228-70ED263CCEA8}" dt="2026-08-28T02:11:02.945" v="54" actId="20577"/>
          <ac:spMkLst>
            <pc:docMk/>
            <pc:sldMk cId="0" sldId="256"/>
            <ac:spMk id="7" creationId="{00000000-0000-0000-0000-000000000000}"/>
          </ac:spMkLst>
        </pc:spChg>
        <pc:grpChg chg="mod">
          <ac:chgData name="MA, Xingyun" userId="1103bae7-35ac-4504-92f0-467c2a688be9" providerId="ADAL" clId="{11ABD78E-95ED-46A1-A228-70ED263CCEA8}" dt="2026-08-28T02:10:17.502" v="38" actId="14100"/>
          <ac:grpSpMkLst>
            <pc:docMk/>
            <pc:sldMk cId="0" sldId="256"/>
            <ac:grpSpMk id="8" creationId="{00000000-0000-0000-0000-000000000000}"/>
          </ac:grpSpMkLst>
        </pc:grpChg>
      </pc:sldChg>
      <pc:sldChg chg="delSp modSp mod">
        <pc:chgData name="MA, Xingyun" userId="1103bae7-35ac-4504-92f0-467c2a688be9" providerId="ADAL" clId="{11ABD78E-95ED-46A1-A228-70ED263CCEA8}" dt="2026-08-28T02:13:05.642" v="89" actId="2711"/>
        <pc:sldMkLst>
          <pc:docMk/>
          <pc:sldMk cId="0" sldId="257"/>
        </pc:sldMkLst>
        <pc:spChg chg="mod">
          <ac:chgData name="MA, Xingyun" userId="1103bae7-35ac-4504-92f0-467c2a688be9" providerId="ADAL" clId="{11ABD78E-95ED-46A1-A228-70ED263CCEA8}" dt="2026-08-28T02:12:15.670" v="83"/>
          <ac:spMkLst>
            <pc:docMk/>
            <pc:sldMk cId="0" sldId="257"/>
            <ac:spMk id="4" creationId="{00000000-0000-0000-0000-000000000000}"/>
          </ac:spMkLst>
        </pc:spChg>
        <pc:spChg chg="mod">
          <ac:chgData name="MA, Xingyun" userId="1103bae7-35ac-4504-92f0-467c2a688be9" providerId="ADAL" clId="{11ABD78E-95ED-46A1-A228-70ED263CCEA8}" dt="2026-08-28T02:12:15.670" v="83"/>
          <ac:spMkLst>
            <pc:docMk/>
            <pc:sldMk cId="0" sldId="257"/>
            <ac:spMk id="5" creationId="{00000000-0000-0000-0000-000000000000}"/>
          </ac:spMkLst>
        </pc:spChg>
        <pc:spChg chg="del mod">
          <ac:chgData name="MA, Xingyun" userId="1103bae7-35ac-4504-92f0-467c2a688be9" providerId="ADAL" clId="{11ABD78E-95ED-46A1-A228-70ED263CCEA8}" dt="2026-08-28T02:12:11.919" v="81" actId="478"/>
          <ac:spMkLst>
            <pc:docMk/>
            <pc:sldMk cId="0" sldId="257"/>
            <ac:spMk id="6" creationId="{00000000-0000-0000-0000-000000000000}"/>
          </ac:spMkLst>
        </pc:spChg>
        <pc:spChg chg="mod">
          <ac:chgData name="MA, Xingyun" userId="1103bae7-35ac-4504-92f0-467c2a688be9" providerId="ADAL" clId="{11ABD78E-95ED-46A1-A228-70ED263CCEA8}" dt="2026-08-28T02:13:05.642" v="89" actId="2711"/>
          <ac:spMkLst>
            <pc:docMk/>
            <pc:sldMk cId="0" sldId="257"/>
            <ac:spMk id="13" creationId="{00000000-0000-0000-0000-000000000000}"/>
          </ac:spMkLst>
        </pc:spChg>
        <pc:spChg chg="del mod">
          <ac:chgData name="MA, Xingyun" userId="1103bae7-35ac-4504-92f0-467c2a688be9" providerId="ADAL" clId="{11ABD78E-95ED-46A1-A228-70ED263CCEA8}" dt="2026-08-28T02:12:36.142" v="88" actId="478"/>
          <ac:spMkLst>
            <pc:docMk/>
            <pc:sldMk cId="0" sldId="257"/>
            <ac:spMk id="25" creationId="{00000000-0000-0000-0000-000000000000}"/>
          </ac:spMkLst>
        </pc:spChg>
        <pc:grpChg chg="mod">
          <ac:chgData name="MA, Xingyun" userId="1103bae7-35ac-4504-92f0-467c2a688be9" providerId="ADAL" clId="{11ABD78E-95ED-46A1-A228-70ED263CCEA8}" dt="2026-08-28T02:12:15.670" v="83"/>
          <ac:grpSpMkLst>
            <pc:docMk/>
            <pc:sldMk cId="0" sldId="257"/>
            <ac:grpSpMk id="7" creationId="{00000000-0000-0000-0000-000000000000}"/>
          </ac:grpSpMkLst>
        </pc:grpChg>
        <pc:grpChg chg="mod">
          <ac:chgData name="MA, Xingyun" userId="1103bae7-35ac-4504-92f0-467c2a688be9" providerId="ADAL" clId="{11ABD78E-95ED-46A1-A228-70ED263CCEA8}" dt="2026-08-28T02:12:24.259" v="84" actId="1076"/>
          <ac:grpSpMkLst>
            <pc:docMk/>
            <pc:sldMk cId="0" sldId="257"/>
            <ac:grpSpMk id="14" creationId="{00000000-0000-0000-0000-000000000000}"/>
          </ac:grpSpMkLst>
        </pc:grpChg>
        <pc:grpChg chg="mod">
          <ac:chgData name="MA, Xingyun" userId="1103bae7-35ac-4504-92f0-467c2a688be9" providerId="ADAL" clId="{11ABD78E-95ED-46A1-A228-70ED263CCEA8}" dt="2026-08-28T02:12:27.833" v="86" actId="1076"/>
          <ac:grpSpMkLst>
            <pc:docMk/>
            <pc:sldMk cId="0" sldId="257"/>
            <ac:grpSpMk id="26" creationId="{00000000-0000-0000-0000-000000000000}"/>
          </ac:grpSpMkLst>
        </pc:grpChg>
      </pc:sldChg>
      <pc:sldChg chg="modSp mod">
        <pc:chgData name="MA, Xingyun" userId="1103bae7-35ac-4504-92f0-467c2a688be9" providerId="ADAL" clId="{11ABD78E-95ED-46A1-A228-70ED263CCEA8}" dt="2026-08-28T02:15:35.315" v="139" actId="1076"/>
        <pc:sldMkLst>
          <pc:docMk/>
          <pc:sldMk cId="0" sldId="258"/>
        </pc:sldMkLst>
        <pc:spChg chg="mod">
          <ac:chgData name="MA, Xingyun" userId="1103bae7-35ac-4504-92f0-467c2a688be9" providerId="ADAL" clId="{11ABD78E-95ED-46A1-A228-70ED263CCEA8}" dt="2026-08-28T02:14:03.966" v="118" actId="20577"/>
          <ac:spMkLst>
            <pc:docMk/>
            <pc:sldMk cId="0" sldId="258"/>
            <ac:spMk id="4" creationId="{00000000-0000-0000-0000-000000000000}"/>
          </ac:spMkLst>
        </pc:spChg>
        <pc:spChg chg="mod">
          <ac:chgData name="MA, Xingyun" userId="1103bae7-35ac-4504-92f0-467c2a688be9" providerId="ADAL" clId="{11ABD78E-95ED-46A1-A228-70ED263CCEA8}" dt="2026-08-28T02:14:10.303" v="126" actId="20577"/>
          <ac:spMkLst>
            <pc:docMk/>
            <pc:sldMk cId="0" sldId="258"/>
            <ac:spMk id="5" creationId="{00000000-0000-0000-0000-000000000000}"/>
          </ac:spMkLst>
        </pc:spChg>
        <pc:spChg chg="mod">
          <ac:chgData name="MA, Xingyun" userId="1103bae7-35ac-4504-92f0-467c2a688be9" providerId="ADAL" clId="{11ABD78E-95ED-46A1-A228-70ED263CCEA8}" dt="2026-08-28T02:14:35.290" v="132" actId="1076"/>
          <ac:spMkLst>
            <pc:docMk/>
            <pc:sldMk cId="0" sldId="258"/>
            <ac:spMk id="8" creationId="{00000000-0000-0000-0000-000000000000}"/>
          </ac:spMkLst>
        </pc:spChg>
        <pc:spChg chg="mod">
          <ac:chgData name="MA, Xingyun" userId="1103bae7-35ac-4504-92f0-467c2a688be9" providerId="ADAL" clId="{11ABD78E-95ED-46A1-A228-70ED263CCEA8}" dt="2026-08-28T02:14:40.121" v="133" actId="1076"/>
          <ac:spMkLst>
            <pc:docMk/>
            <pc:sldMk cId="0" sldId="258"/>
            <ac:spMk id="10" creationId="{00000000-0000-0000-0000-000000000000}"/>
          </ac:spMkLst>
        </pc:spChg>
        <pc:spChg chg="mod">
          <ac:chgData name="MA, Xingyun" userId="1103bae7-35ac-4504-92f0-467c2a688be9" providerId="ADAL" clId="{11ABD78E-95ED-46A1-A228-70ED263CCEA8}" dt="2026-08-28T02:14:49.585" v="134" actId="20577"/>
          <ac:spMkLst>
            <pc:docMk/>
            <pc:sldMk cId="0" sldId="258"/>
            <ac:spMk id="11" creationId="{00000000-0000-0000-0000-000000000000}"/>
          </ac:spMkLst>
        </pc:spChg>
        <pc:spChg chg="mod">
          <ac:chgData name="MA, Xingyun" userId="1103bae7-35ac-4504-92f0-467c2a688be9" providerId="ADAL" clId="{11ABD78E-95ED-46A1-A228-70ED263CCEA8}" dt="2026-08-28T02:14:59.665" v="136" actId="1076"/>
          <ac:spMkLst>
            <pc:docMk/>
            <pc:sldMk cId="0" sldId="258"/>
            <ac:spMk id="16" creationId="{00000000-0000-0000-0000-000000000000}"/>
          </ac:spMkLst>
        </pc:spChg>
        <pc:spChg chg="mod">
          <ac:chgData name="MA, Xingyun" userId="1103bae7-35ac-4504-92f0-467c2a688be9" providerId="ADAL" clId="{11ABD78E-95ED-46A1-A228-70ED263CCEA8}" dt="2026-08-28T02:15:18.796" v="138" actId="403"/>
          <ac:spMkLst>
            <pc:docMk/>
            <pc:sldMk cId="0" sldId="258"/>
            <ac:spMk id="28" creationId="{00000000-0000-0000-0000-000000000000}"/>
          </ac:spMkLst>
        </pc:spChg>
        <pc:spChg chg="mod">
          <ac:chgData name="MA, Xingyun" userId="1103bae7-35ac-4504-92f0-467c2a688be9" providerId="ADAL" clId="{11ABD78E-95ED-46A1-A228-70ED263CCEA8}" dt="2026-08-28T02:15:35.315" v="139" actId="1076"/>
          <ac:spMkLst>
            <pc:docMk/>
            <pc:sldMk cId="0" sldId="258"/>
            <ac:spMk id="30" creationId="{00000000-0000-0000-0000-000000000000}"/>
          </ac:spMkLst>
        </pc:spChg>
      </pc:sldChg>
      <pc:sldChg chg="addSp delSp modSp mod">
        <pc:chgData name="MA, Xingyun" userId="1103bae7-35ac-4504-92f0-467c2a688be9" providerId="ADAL" clId="{11ABD78E-95ED-46A1-A228-70ED263CCEA8}" dt="2026-08-28T02:23:13.667" v="244" actId="20577"/>
        <pc:sldMkLst>
          <pc:docMk/>
          <pc:sldMk cId="0" sldId="259"/>
        </pc:sldMkLst>
        <pc:spChg chg="add del mod">
          <ac:chgData name="MA, Xingyun" userId="1103bae7-35ac-4504-92f0-467c2a688be9" providerId="ADAL" clId="{11ABD78E-95ED-46A1-A228-70ED263CCEA8}" dt="2026-08-28T02:17:00.687" v="150"/>
          <ac:spMkLst>
            <pc:docMk/>
            <pc:sldMk cId="0" sldId="259"/>
            <ac:spMk id="4" creationId="{00000000-0000-0000-0000-000000000000}"/>
          </ac:spMkLst>
        </pc:spChg>
        <pc:spChg chg="mod">
          <ac:chgData name="MA, Xingyun" userId="1103bae7-35ac-4504-92f0-467c2a688be9" providerId="ADAL" clId="{11ABD78E-95ED-46A1-A228-70ED263CCEA8}" dt="2026-08-28T02:17:00.687" v="150"/>
          <ac:spMkLst>
            <pc:docMk/>
            <pc:sldMk cId="0" sldId="259"/>
            <ac:spMk id="5" creationId="{00000000-0000-0000-0000-000000000000}"/>
          </ac:spMkLst>
        </pc:spChg>
        <pc:spChg chg="mod">
          <ac:chgData name="MA, Xingyun" userId="1103bae7-35ac-4504-92f0-467c2a688be9" providerId="ADAL" clId="{11ABD78E-95ED-46A1-A228-70ED263CCEA8}" dt="2026-08-28T02:17:00.687" v="150"/>
          <ac:spMkLst>
            <pc:docMk/>
            <pc:sldMk cId="0" sldId="259"/>
            <ac:spMk id="6" creationId="{00000000-0000-0000-0000-000000000000}"/>
          </ac:spMkLst>
        </pc:spChg>
        <pc:spChg chg="mod">
          <ac:chgData name="MA, Xingyun" userId="1103bae7-35ac-4504-92f0-467c2a688be9" providerId="ADAL" clId="{11ABD78E-95ED-46A1-A228-70ED263CCEA8}" dt="2026-08-28T02:17:24.343" v="155" actId="1076"/>
          <ac:spMkLst>
            <pc:docMk/>
            <pc:sldMk cId="0" sldId="259"/>
            <ac:spMk id="7" creationId="{00000000-0000-0000-0000-000000000000}"/>
          </ac:spMkLst>
        </pc:spChg>
        <pc:spChg chg="mod">
          <ac:chgData name="MA, Xingyun" userId="1103bae7-35ac-4504-92f0-467c2a688be9" providerId="ADAL" clId="{11ABD78E-95ED-46A1-A228-70ED263CCEA8}" dt="2026-08-28T02:21:54.558" v="232" actId="1076"/>
          <ac:spMkLst>
            <pc:docMk/>
            <pc:sldMk cId="0" sldId="259"/>
            <ac:spMk id="9" creationId="{00000000-0000-0000-0000-000000000000}"/>
          </ac:spMkLst>
        </pc:spChg>
        <pc:spChg chg="mod">
          <ac:chgData name="MA, Xingyun" userId="1103bae7-35ac-4504-92f0-467c2a688be9" providerId="ADAL" clId="{11ABD78E-95ED-46A1-A228-70ED263CCEA8}" dt="2026-08-28T02:21:50.176" v="230" actId="1076"/>
          <ac:spMkLst>
            <pc:docMk/>
            <pc:sldMk cId="0" sldId="259"/>
            <ac:spMk id="10" creationId="{00000000-0000-0000-0000-000000000000}"/>
          </ac:spMkLst>
        </pc:spChg>
        <pc:spChg chg="mod">
          <ac:chgData name="MA, Xingyun" userId="1103bae7-35ac-4504-92f0-467c2a688be9" providerId="ADAL" clId="{11ABD78E-95ED-46A1-A228-70ED263CCEA8}" dt="2026-08-28T02:22:02.606" v="233" actId="1076"/>
          <ac:spMkLst>
            <pc:docMk/>
            <pc:sldMk cId="0" sldId="259"/>
            <ac:spMk id="11" creationId="{00000000-0000-0000-0000-000000000000}"/>
          </ac:spMkLst>
        </pc:spChg>
        <pc:spChg chg="mod">
          <ac:chgData name="MA, Xingyun" userId="1103bae7-35ac-4504-92f0-467c2a688be9" providerId="ADAL" clId="{11ABD78E-95ED-46A1-A228-70ED263CCEA8}" dt="2026-08-28T02:21:12.145" v="222" actId="1076"/>
          <ac:spMkLst>
            <pc:docMk/>
            <pc:sldMk cId="0" sldId="259"/>
            <ac:spMk id="12" creationId="{00000000-0000-0000-0000-000000000000}"/>
          </ac:spMkLst>
        </pc:spChg>
        <pc:spChg chg="mod">
          <ac:chgData name="MA, Xingyun" userId="1103bae7-35ac-4504-92f0-467c2a688be9" providerId="ADAL" clId="{11ABD78E-95ED-46A1-A228-70ED263CCEA8}" dt="2026-08-28T02:17:43.074" v="161" actId="20577"/>
          <ac:spMkLst>
            <pc:docMk/>
            <pc:sldMk cId="0" sldId="259"/>
            <ac:spMk id="18" creationId="{00000000-0000-0000-0000-000000000000}"/>
          </ac:spMkLst>
        </pc:spChg>
        <pc:spChg chg="mod">
          <ac:chgData name="MA, Xingyun" userId="1103bae7-35ac-4504-92f0-467c2a688be9" providerId="ADAL" clId="{11ABD78E-95ED-46A1-A228-70ED263CCEA8}" dt="2026-08-28T02:17:46.480" v="164" actId="20577"/>
          <ac:spMkLst>
            <pc:docMk/>
            <pc:sldMk cId="0" sldId="259"/>
            <ac:spMk id="19" creationId="{00000000-0000-0000-0000-000000000000}"/>
          </ac:spMkLst>
        </pc:spChg>
        <pc:spChg chg="mod">
          <ac:chgData name="MA, Xingyun" userId="1103bae7-35ac-4504-92f0-467c2a688be9" providerId="ADAL" clId="{11ABD78E-95ED-46A1-A228-70ED263CCEA8}" dt="2026-08-28T02:18:39.067" v="173" actId="1076"/>
          <ac:spMkLst>
            <pc:docMk/>
            <pc:sldMk cId="0" sldId="259"/>
            <ac:spMk id="43" creationId="{00000000-0000-0000-0000-000000000000}"/>
          </ac:spMkLst>
        </pc:spChg>
        <pc:spChg chg="del mod">
          <ac:chgData name="MA, Xingyun" userId="1103bae7-35ac-4504-92f0-467c2a688be9" providerId="ADAL" clId="{11ABD78E-95ED-46A1-A228-70ED263CCEA8}" dt="2026-08-28T02:18:21.696" v="166" actId="478"/>
          <ac:spMkLst>
            <pc:docMk/>
            <pc:sldMk cId="0" sldId="259"/>
            <ac:spMk id="57" creationId="{00000000-0000-0000-0000-000000000000}"/>
          </ac:spMkLst>
        </pc:spChg>
        <pc:spChg chg="mod">
          <ac:chgData name="MA, Xingyun" userId="1103bae7-35ac-4504-92f0-467c2a688be9" providerId="ADAL" clId="{11ABD78E-95ED-46A1-A228-70ED263CCEA8}" dt="2026-08-28T02:20:02.749" v="210" actId="255"/>
          <ac:spMkLst>
            <pc:docMk/>
            <pc:sldMk cId="0" sldId="259"/>
            <ac:spMk id="87" creationId="{00000000-0000-0000-0000-000000000000}"/>
          </ac:spMkLst>
        </pc:spChg>
        <pc:spChg chg="mod">
          <ac:chgData name="MA, Xingyun" userId="1103bae7-35ac-4504-92f0-467c2a688be9" providerId="ADAL" clId="{11ABD78E-95ED-46A1-A228-70ED263CCEA8}" dt="2026-08-28T02:20:48.934" v="220" actId="14100"/>
          <ac:spMkLst>
            <pc:docMk/>
            <pc:sldMk cId="0" sldId="259"/>
            <ac:spMk id="88" creationId="{00000000-0000-0000-0000-000000000000}"/>
          </ac:spMkLst>
        </pc:spChg>
        <pc:spChg chg="mod">
          <ac:chgData name="MA, Xingyun" userId="1103bae7-35ac-4504-92f0-467c2a688be9" providerId="ADAL" clId="{11ABD78E-95ED-46A1-A228-70ED263CCEA8}" dt="2026-08-28T02:21:03.359" v="221" actId="1076"/>
          <ac:spMkLst>
            <pc:docMk/>
            <pc:sldMk cId="0" sldId="259"/>
            <ac:spMk id="89" creationId="{00000000-0000-0000-0000-000000000000}"/>
          </ac:spMkLst>
        </pc:spChg>
        <pc:spChg chg="mod">
          <ac:chgData name="MA, Xingyun" userId="1103bae7-35ac-4504-92f0-467c2a688be9" providerId="ADAL" clId="{11ABD78E-95ED-46A1-A228-70ED263CCEA8}" dt="2026-08-28T02:21:03.359" v="221" actId="1076"/>
          <ac:spMkLst>
            <pc:docMk/>
            <pc:sldMk cId="0" sldId="259"/>
            <ac:spMk id="90" creationId="{00000000-0000-0000-0000-000000000000}"/>
          </ac:spMkLst>
        </pc:spChg>
        <pc:spChg chg="mod">
          <ac:chgData name="MA, Xingyun" userId="1103bae7-35ac-4504-92f0-467c2a688be9" providerId="ADAL" clId="{11ABD78E-95ED-46A1-A228-70ED263CCEA8}" dt="2026-08-28T02:23:13.667" v="244" actId="20577"/>
          <ac:spMkLst>
            <pc:docMk/>
            <pc:sldMk cId="0" sldId="259"/>
            <ac:spMk id="94" creationId="{00000000-0000-0000-0000-000000000000}"/>
          </ac:spMkLst>
        </pc:spChg>
        <pc:spChg chg="add del mod">
          <ac:chgData name="MA, Xingyun" userId="1103bae7-35ac-4504-92f0-467c2a688be9" providerId="ADAL" clId="{11ABD78E-95ED-46A1-A228-70ED263CCEA8}" dt="2026-08-28T02:20:28.753" v="218"/>
          <ac:spMkLst>
            <pc:docMk/>
            <pc:sldMk cId="0" sldId="259"/>
            <ac:spMk id="101" creationId="{C07672A1-5C73-EA8E-080C-A163CDD1F613}"/>
          </ac:spMkLst>
        </pc:spChg>
        <pc:spChg chg="add del">
          <ac:chgData name="MA, Xingyun" userId="1103bae7-35ac-4504-92f0-467c2a688be9" providerId="ADAL" clId="{11ABD78E-95ED-46A1-A228-70ED263CCEA8}" dt="2026-08-28T02:18:35.707" v="171" actId="22"/>
          <ac:spMkLst>
            <pc:docMk/>
            <pc:sldMk cId="0" sldId="259"/>
            <ac:spMk id="103" creationId="{14A21229-42DB-F0F0-243C-5E8097FEE20D}"/>
          </ac:spMkLst>
        </pc:spChg>
        <pc:spChg chg="add mod">
          <ac:chgData name="MA, Xingyun" userId="1103bae7-35ac-4504-92f0-467c2a688be9" providerId="ADAL" clId="{11ABD78E-95ED-46A1-A228-70ED263CCEA8}" dt="2026-08-28T02:19:08.085" v="207" actId="14100"/>
          <ac:spMkLst>
            <pc:docMk/>
            <pc:sldMk cId="0" sldId="259"/>
            <ac:spMk id="105" creationId="{0F178B9B-3488-8BE3-ADF8-E3B16C69BEFF}"/>
          </ac:spMkLst>
        </pc:spChg>
        <pc:grpChg chg="mod">
          <ac:chgData name="MA, Xingyun" userId="1103bae7-35ac-4504-92f0-467c2a688be9" providerId="ADAL" clId="{11ABD78E-95ED-46A1-A228-70ED263CCEA8}" dt="2026-08-28T02:17:00.687" v="150"/>
          <ac:grpSpMkLst>
            <pc:docMk/>
            <pc:sldMk cId="0" sldId="259"/>
            <ac:grpSpMk id="8" creationId="{00000000-0000-0000-0000-000000000000}"/>
          </ac:grpSpMkLst>
        </pc:grpChg>
        <pc:grpChg chg="mod">
          <ac:chgData name="MA, Xingyun" userId="1103bae7-35ac-4504-92f0-467c2a688be9" providerId="ADAL" clId="{11ABD78E-95ED-46A1-A228-70ED263CCEA8}" dt="2026-08-28T02:21:40.426" v="229" actId="1076"/>
          <ac:grpSpMkLst>
            <pc:docMk/>
            <pc:sldMk cId="0" sldId="259"/>
            <ac:grpSpMk id="23" creationId="{00000000-0000-0000-0000-000000000000}"/>
          </ac:grpSpMkLst>
        </pc:grpChg>
      </pc:sldChg>
      <pc:sldChg chg="modSp mod">
        <pc:chgData name="MA, Xingyun" userId="1103bae7-35ac-4504-92f0-467c2a688be9" providerId="ADAL" clId="{11ABD78E-95ED-46A1-A228-70ED263CCEA8}" dt="2026-08-28T02:23:56.136" v="253" actId="1076"/>
        <pc:sldMkLst>
          <pc:docMk/>
          <pc:sldMk cId="0" sldId="260"/>
        </pc:sldMkLst>
        <pc:spChg chg="mod">
          <ac:chgData name="MA, Xingyun" userId="1103bae7-35ac-4504-92f0-467c2a688be9" providerId="ADAL" clId="{11ABD78E-95ED-46A1-A228-70ED263CCEA8}" dt="2026-08-28T02:23:47.108" v="251" actId="113"/>
          <ac:spMkLst>
            <pc:docMk/>
            <pc:sldMk cId="0" sldId="260"/>
            <ac:spMk id="4" creationId="{00000000-0000-0000-0000-000000000000}"/>
          </ac:spMkLst>
        </pc:spChg>
        <pc:spChg chg="mod">
          <ac:chgData name="MA, Xingyun" userId="1103bae7-35ac-4504-92f0-467c2a688be9" providerId="ADAL" clId="{11ABD78E-95ED-46A1-A228-70ED263CCEA8}" dt="2026-08-28T02:23:56.136" v="253" actId="1076"/>
          <ac:spMkLst>
            <pc:docMk/>
            <pc:sldMk cId="0" sldId="260"/>
            <ac:spMk id="5" creationId="{00000000-0000-0000-0000-000000000000}"/>
          </ac:spMkLst>
        </pc:spChg>
      </pc:sldChg>
      <pc:sldChg chg="delSp modSp mod">
        <pc:chgData name="MA, Xingyun" userId="1103bae7-35ac-4504-92f0-467c2a688be9" providerId="ADAL" clId="{11ABD78E-95ED-46A1-A228-70ED263CCEA8}" dt="2026-08-28T02:28:28.719" v="268" actId="1076"/>
        <pc:sldMkLst>
          <pc:docMk/>
          <pc:sldMk cId="0" sldId="261"/>
        </pc:sldMkLst>
        <pc:spChg chg="mod">
          <ac:chgData name="MA, Xingyun" userId="1103bae7-35ac-4504-92f0-467c2a688be9" providerId="ADAL" clId="{11ABD78E-95ED-46A1-A228-70ED263CCEA8}" dt="2026-08-28T02:24:48.677" v="259"/>
          <ac:spMkLst>
            <pc:docMk/>
            <pc:sldMk cId="0" sldId="261"/>
            <ac:spMk id="4" creationId="{00000000-0000-0000-0000-000000000000}"/>
          </ac:spMkLst>
        </pc:spChg>
        <pc:spChg chg="del mod">
          <ac:chgData name="MA, Xingyun" userId="1103bae7-35ac-4504-92f0-467c2a688be9" providerId="ADAL" clId="{11ABD78E-95ED-46A1-A228-70ED263CCEA8}" dt="2026-08-28T02:27:34.480" v="264" actId="478"/>
          <ac:spMkLst>
            <pc:docMk/>
            <pc:sldMk cId="0" sldId="261"/>
            <ac:spMk id="5" creationId="{00000000-0000-0000-0000-000000000000}"/>
          </ac:spMkLst>
        </pc:spChg>
        <pc:spChg chg="mod">
          <ac:chgData name="MA, Xingyun" userId="1103bae7-35ac-4504-92f0-467c2a688be9" providerId="ADAL" clId="{11ABD78E-95ED-46A1-A228-70ED263CCEA8}" dt="2026-08-28T02:24:48.677" v="259"/>
          <ac:spMkLst>
            <pc:docMk/>
            <pc:sldMk cId="0" sldId="261"/>
            <ac:spMk id="6" creationId="{00000000-0000-0000-0000-000000000000}"/>
          </ac:spMkLst>
        </pc:spChg>
        <pc:spChg chg="mod">
          <ac:chgData name="MA, Xingyun" userId="1103bae7-35ac-4504-92f0-467c2a688be9" providerId="ADAL" clId="{11ABD78E-95ED-46A1-A228-70ED263CCEA8}" dt="2026-08-28T02:28:22.767" v="267" actId="1076"/>
          <ac:spMkLst>
            <pc:docMk/>
            <pc:sldMk cId="0" sldId="261"/>
            <ac:spMk id="22" creationId="{00000000-0000-0000-0000-000000000000}"/>
          </ac:spMkLst>
        </pc:spChg>
        <pc:grpChg chg="mod">
          <ac:chgData name="MA, Xingyun" userId="1103bae7-35ac-4504-92f0-467c2a688be9" providerId="ADAL" clId="{11ABD78E-95ED-46A1-A228-70ED263CCEA8}" dt="2026-08-28T02:24:48.677" v="259"/>
          <ac:grpSpMkLst>
            <pc:docMk/>
            <pc:sldMk cId="0" sldId="261"/>
            <ac:grpSpMk id="7" creationId="{00000000-0000-0000-0000-000000000000}"/>
          </ac:grpSpMkLst>
        </pc:grpChg>
        <pc:grpChg chg="mod">
          <ac:chgData name="MA, Xingyun" userId="1103bae7-35ac-4504-92f0-467c2a688be9" providerId="ADAL" clId="{11ABD78E-95ED-46A1-A228-70ED263CCEA8}" dt="2026-08-28T02:27:41.731" v="265" actId="1076"/>
          <ac:grpSpMkLst>
            <pc:docMk/>
            <pc:sldMk cId="0" sldId="261"/>
            <ac:grpSpMk id="13" creationId="{00000000-0000-0000-0000-000000000000}"/>
          </ac:grpSpMkLst>
        </pc:grpChg>
        <pc:grpChg chg="mod">
          <ac:chgData name="MA, Xingyun" userId="1103bae7-35ac-4504-92f0-467c2a688be9" providerId="ADAL" clId="{11ABD78E-95ED-46A1-A228-70ED263CCEA8}" dt="2026-08-28T02:27:41.731" v="265" actId="1076"/>
          <ac:grpSpMkLst>
            <pc:docMk/>
            <pc:sldMk cId="0" sldId="261"/>
            <ac:grpSpMk id="20" creationId="{00000000-0000-0000-0000-000000000000}"/>
          </ac:grpSpMkLst>
        </pc:grpChg>
        <pc:grpChg chg="mod">
          <ac:chgData name="MA, Xingyun" userId="1103bae7-35ac-4504-92f0-467c2a688be9" providerId="ADAL" clId="{11ABD78E-95ED-46A1-A228-70ED263CCEA8}" dt="2026-08-28T02:28:28.719" v="268" actId="1076"/>
          <ac:grpSpMkLst>
            <pc:docMk/>
            <pc:sldMk cId="0" sldId="261"/>
            <ac:grpSpMk id="23" creationId="{00000000-0000-0000-0000-000000000000}"/>
          </ac:grpSpMkLst>
        </pc:grpChg>
      </pc:sldChg>
      <pc:sldChg chg="addSp delSp modSp mod">
        <pc:chgData name="MA, Xingyun" userId="1103bae7-35ac-4504-92f0-467c2a688be9" providerId="ADAL" clId="{11ABD78E-95ED-46A1-A228-70ED263CCEA8}" dt="2026-08-28T02:05:11.536" v="11" actId="1076"/>
        <pc:sldMkLst>
          <pc:docMk/>
          <pc:sldMk cId="0" sldId="262"/>
        </pc:sldMkLst>
        <pc:spChg chg="mod">
          <ac:chgData name="MA, Xingyun" userId="1103bae7-35ac-4504-92f0-467c2a688be9" providerId="ADAL" clId="{11ABD78E-95ED-46A1-A228-70ED263CCEA8}" dt="2026-08-28T02:05:11.536" v="11" actId="1076"/>
          <ac:spMkLst>
            <pc:docMk/>
            <pc:sldMk cId="0" sldId="262"/>
            <ac:spMk id="4" creationId="{00000000-0000-0000-0000-000000000000}"/>
          </ac:spMkLst>
        </pc:spChg>
        <pc:spChg chg="add del mod">
          <ac:chgData name="MA, Xingyun" userId="1103bae7-35ac-4504-92f0-467c2a688be9" providerId="ADAL" clId="{11ABD78E-95ED-46A1-A228-70ED263CCEA8}" dt="2026-08-28T02:05:09.878" v="9"/>
          <ac:spMkLst>
            <pc:docMk/>
            <pc:sldMk cId="0" sldId="262"/>
            <ac:spMk id="25" creationId="{8F2ABE62-A3CB-7521-81C1-04236C6A7629}"/>
          </ac:spMkLst>
        </pc:spChg>
      </pc:sldChg>
      <pc:sldChg chg="addSp delSp modSp new mod">
        <pc:chgData name="MA, Xingyun" userId="1103bae7-35ac-4504-92f0-467c2a688be9" providerId="ADAL" clId="{11ABD78E-95ED-46A1-A228-70ED263CCEA8}" dt="2026-08-28T02:06:15.918" v="36" actId="1076"/>
        <pc:sldMkLst>
          <pc:docMk/>
          <pc:sldMk cId="1654758023" sldId="265"/>
        </pc:sldMkLst>
        <pc:spChg chg="del">
          <ac:chgData name="MA, Xingyun" userId="1103bae7-35ac-4504-92f0-467c2a688be9" providerId="ADAL" clId="{11ABD78E-95ED-46A1-A228-70ED263CCEA8}" dt="2026-08-28T02:05:59.991" v="32" actId="478"/>
          <ac:spMkLst>
            <pc:docMk/>
            <pc:sldMk cId="1654758023" sldId="265"/>
            <ac:spMk id="2" creationId="{2F7CD2D0-2ACD-4807-BB6A-1306B50ABE0E}"/>
          </ac:spMkLst>
        </pc:spChg>
        <pc:spChg chg="del">
          <ac:chgData name="MA, Xingyun" userId="1103bae7-35ac-4504-92f0-467c2a688be9" providerId="ADAL" clId="{11ABD78E-95ED-46A1-A228-70ED263CCEA8}" dt="2026-08-28T02:05:56.206" v="31" actId="478"/>
          <ac:spMkLst>
            <pc:docMk/>
            <pc:sldMk cId="1654758023" sldId="265"/>
            <ac:spMk id="3" creationId="{4DF6A80E-A856-FA1C-6B4D-B153983CF71E}"/>
          </ac:spMkLst>
        </pc:spChg>
        <pc:spChg chg="add">
          <ac:chgData name="MA, Xingyun" userId="1103bae7-35ac-4504-92f0-467c2a688be9" providerId="ADAL" clId="{11ABD78E-95ED-46A1-A228-70ED263CCEA8}" dt="2026-08-28T02:04:59.310" v="4" actId="22"/>
          <ac:spMkLst>
            <pc:docMk/>
            <pc:sldMk cId="1654758023" sldId="265"/>
            <ac:spMk id="5" creationId="{7E6AE738-69CE-8B9E-A203-A56E44BBBA34}"/>
          </ac:spMkLst>
        </pc:spChg>
        <pc:spChg chg="add mod ord">
          <ac:chgData name="MA, Xingyun" userId="1103bae7-35ac-4504-92f0-467c2a688be9" providerId="ADAL" clId="{11ABD78E-95ED-46A1-A228-70ED263CCEA8}" dt="2026-08-28T02:06:03.924" v="34" actId="1076"/>
          <ac:spMkLst>
            <pc:docMk/>
            <pc:sldMk cId="1654758023" sldId="265"/>
            <ac:spMk id="7" creationId="{FC4E6B7C-E080-7826-B29B-5089A0824240}"/>
          </ac:spMkLst>
        </pc:spChg>
        <pc:spChg chg="add mod">
          <ac:chgData name="MA, Xingyun" userId="1103bae7-35ac-4504-92f0-467c2a688be9" providerId="ADAL" clId="{11ABD78E-95ED-46A1-A228-70ED263CCEA8}" dt="2026-08-28T02:06:15.918" v="36" actId="1076"/>
          <ac:spMkLst>
            <pc:docMk/>
            <pc:sldMk cId="1654758023" sldId="265"/>
            <ac:spMk id="9" creationId="{438E05C4-E885-CBA5-0942-72B489EFC34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a:t>
            </a:r>
          </a:p>
          <a:p>
            <a:endParaRPr lang="en-US" dirty="0"/>
          </a:p>
          <a:p>
            <a:r>
              <a:rPr lang="en-US" dirty="0"/>
              <a:t>What I'm sharing today is a follow-up to the customer relationship discovery proposal that Sushi shared on Tuesday.</a:t>
            </a:r>
          </a:p>
          <a:p>
            <a:endParaRPr lang="en-US" dirty="0"/>
          </a:p>
          <a:p>
            <a:r>
              <a:rPr lang="en-US" dirty="0"/>
              <a:t>The prototype I'm showing today is an exploration I've been working on around that broader idea — how we can bring different pieces of information together to discover and investigate relationships around a customer.</a:t>
            </a:r>
          </a:p>
          <a:p>
            <a:endParaRPr lang="en-US" dirty="0"/>
          </a:p>
          <a:p>
            <a:r>
              <a:rPr lang="en-US" dirty="0"/>
              <a:t>And just in case anyone missed Tuesday's meeting, I'll quickly go through the background and the broader project idea first, and then I'll spend most of the time on a live demo of the prototype.</a:t>
            </a:r>
          </a:p>
          <a:p>
            <a:endParaRPr lang="en-US" dirty="0"/>
          </a:p>
          <a:p>
            <a:r>
              <a:rPr lang="en-US" dirty="0"/>
              <a:t>[Timing: ~1 min]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very quickly, the problem we're trying to address is that when we look at a customer, we may not always have a complete view of the wider relationships around them.</a:t>
            </a:r>
          </a:p>
          <a:p>
            <a:endParaRPr lang="en-US" dirty="0"/>
          </a:p>
          <a:p>
            <a:r>
              <a:rPr lang="en-US" dirty="0"/>
              <a:t>Customer information can sit across different sources. Some direct relationships may be relatively easy to see, but indirect connections can be much harder to spot.</a:t>
            </a:r>
          </a:p>
          <a:p>
            <a:endParaRPr lang="en-US" dirty="0"/>
          </a:p>
          <a:p>
            <a:r>
              <a:rPr lang="en-US" dirty="0"/>
              <a:t>For example, a company may be connected to another company through an owner, a director, a joint venture, a shared project, or another counterparty. And some of that information may only appear in external sources such as company disclosures or news.</a:t>
            </a:r>
          </a:p>
          <a:p>
            <a:endParaRPr lang="en-US" dirty="0"/>
          </a:p>
          <a:p>
            <a:r>
              <a:rPr lang="en-US" dirty="0"/>
              <a:t>So even when the information exists somewhere, connecting the different entities, people and risk signals across sources can still require quite a lot of manual investigation.</a:t>
            </a:r>
          </a:p>
          <a:p>
            <a:endParaRPr lang="en-US" dirty="0"/>
          </a:p>
          <a:p>
            <a:r>
              <a:rPr lang="en-US" dirty="0"/>
              <a:t>The idea behind this project is really to bring those pieces together and make those relationships easier to discover and investigate.</a:t>
            </a:r>
          </a:p>
          <a:p>
            <a:endParaRPr lang="en-US" dirty="0"/>
          </a:p>
          <a:p>
            <a:r>
              <a:rPr lang="en-US" dirty="0"/>
              <a:t>[Timing: ~1.5 min]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the broader concept that Sushi introduced on Tuesday.</a:t>
            </a:r>
          </a:p>
          <a:p>
            <a:endParaRPr lang="en-US" dirty="0"/>
          </a:p>
          <a:p>
            <a:r>
              <a:rPr lang="en-US" dirty="0"/>
              <a:t>The idea is to build a customer-centred relationship view by bringing together two sides of information.</a:t>
            </a:r>
          </a:p>
          <a:p>
            <a:endParaRPr lang="en-US" dirty="0"/>
          </a:p>
          <a:p>
            <a:r>
              <a:rPr lang="en-US" dirty="0"/>
              <a:t>On one side, we have internal structured data — customer and entity information, registration details, UBOs, business owners, addresses, transactions, and potentially other information we already know about the customer.</a:t>
            </a:r>
          </a:p>
          <a:p>
            <a:endParaRPr lang="en-US" dirty="0"/>
          </a:p>
          <a:p>
            <a:r>
              <a:rPr lang="en-US" dirty="0"/>
              <a:t>On the other side, we can bring in external information — for example Moody's, public company information, news, reports, disclosures and relevant risk sources.</a:t>
            </a:r>
          </a:p>
          <a:p>
            <a:endParaRPr lang="en-US" dirty="0"/>
          </a:p>
          <a:p>
            <a:r>
              <a:rPr lang="en-US" dirty="0"/>
              <a:t>But the important part isn't simply putting more data in one place. It's connecting it.</a:t>
            </a:r>
          </a:p>
          <a:p>
            <a:endParaRPr lang="en-US" dirty="0"/>
          </a:p>
          <a:p>
            <a:r>
              <a:rPr lang="en-US" dirty="0"/>
              <a:t>If we can connect those different pieces around a customer, we may be able to surface relationships that aren't obvious when we look at each source separately — for example potential related-party leads, indirect counterparties, or connections to entities that may warrant further investigation.</a:t>
            </a:r>
          </a:p>
          <a:p>
            <a:endParaRPr lang="en-US" dirty="0"/>
          </a:p>
          <a:p>
            <a:r>
              <a:rPr lang="en-US" dirty="0"/>
              <a:t>And the goal isn't for the tool to automatically decide that somebody is a related party or that something is risky. It's really about supporting investigation — helping us see connections that may be worth looking into.</a:t>
            </a:r>
          </a:p>
          <a:p>
            <a:endParaRPr lang="en-US" dirty="0"/>
          </a:p>
          <a:p>
            <a:r>
              <a:rPr lang="en-US" dirty="0"/>
              <a:t>So that's the broader project idea.</a:t>
            </a:r>
          </a:p>
          <a:p>
            <a:endParaRPr lang="en-US" dirty="0"/>
          </a:p>
          <a:p>
            <a:r>
              <a:rPr lang="en-US" dirty="0"/>
              <a:t>What I'm showing today is an early prototype of how that relationship-discovery workflow could work in practice.</a:t>
            </a:r>
          </a:p>
          <a:p>
            <a:endParaRPr lang="en-US" dirty="0"/>
          </a:p>
          <a:p>
            <a:r>
              <a:rPr lang="en-US" dirty="0"/>
              <a:t>[CLICK → Slide 4]</a:t>
            </a:r>
          </a:p>
          <a:p>
            <a:r>
              <a:rPr lang="en-US" dirty="0"/>
              <a:t>[Timing: ~2 min]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just to reassure Tian — I did remember the very important reminder about customer data! Everything in this prototype comes entirely from publicly available sources.</a:t>
            </a:r>
          </a:p>
          <a:p>
            <a:endParaRPr lang="en-US" dirty="0"/>
          </a:p>
          <a:p>
            <a:r>
              <a:rPr lang="en-US" dirty="0"/>
              <a:t>I don't have Moody's API access yet either, so for this early-stage exploration I've used public data and resources as proxies for some of the inputs we would ideally use in the proposed project.</a:t>
            </a:r>
          </a:p>
          <a:p>
            <a:endParaRPr lang="en-US" dirty="0"/>
          </a:p>
          <a:p>
            <a:r>
              <a:rPr lang="en-US" dirty="0"/>
              <a:t>For example, I've used GLEIF for structured legal-entity information, together with public company disclosures, news and public risk sources.</a:t>
            </a:r>
          </a:p>
          <a:p>
            <a:endParaRPr lang="en-US" dirty="0"/>
          </a:p>
          <a:p>
            <a:r>
              <a:rPr lang="en-US" dirty="0"/>
              <a:t>Obviously, GLEIF isn't a replacement for Moody's. I'm simply using publicly available sources to approximate some of the data inputs we would ideally have in the full project.</a:t>
            </a:r>
          </a:p>
          <a:p>
            <a:endParaRPr lang="en-US" dirty="0"/>
          </a:p>
          <a:p>
            <a:r>
              <a:rPr lang="en-US" dirty="0"/>
              <a:t>So the idea here isn't to test whether public data alone is enough. It's to use what we can safely access at this stage to simulate the broader workflow and see how the concept works in practice.</a:t>
            </a:r>
          </a:p>
          <a:p>
            <a:endParaRPr lang="en-US" dirty="0"/>
          </a:p>
          <a:p>
            <a:r>
              <a:rPr lang="en-US" dirty="0"/>
              <a:t>The workflow starts by confirming the company we're actually investigating. Company names can be ambiguous, so I first use legal-entity information to establish the target — things like the legal name, LEI, jurisdiction and known aliases.</a:t>
            </a:r>
          </a:p>
          <a:p>
            <a:endParaRPr lang="en-US" dirty="0"/>
          </a:p>
          <a:p>
            <a:r>
              <a:rPr lang="en-US" dirty="0"/>
              <a:t>Then the prototype collects public information around that company, such as annual reports, company announcements, public news and reports.</a:t>
            </a:r>
          </a:p>
          <a:p>
            <a:endParaRPr lang="en-US" dirty="0"/>
          </a:p>
          <a:p>
            <a:r>
              <a:rPr lang="en-US" dirty="0"/>
              <a:t>From those sources, it identifies candidate entities and relationships — companies, people, projects, ownership relationships, joint ventures, counterparties and so on.</a:t>
            </a:r>
          </a:p>
          <a:p>
            <a:endParaRPr lang="en-US" dirty="0"/>
          </a:p>
          <a:p>
            <a:r>
              <a:rPr lang="en-US" dirty="0"/>
              <a:t>There's also an entity-resolution step behind the scenes, so the aim is to connect references to the same entity consistently rather than create separate entities every time a name varies.</a:t>
            </a:r>
          </a:p>
          <a:p>
            <a:endParaRPr lang="en-US" dirty="0"/>
          </a:p>
          <a:p>
            <a:r>
              <a:rPr lang="en-US" dirty="0"/>
              <a:t>One thing I was quite conscious of when building this was that I didn't want the output to just be an AI-generated set of connections where we have no idea why two things are linked.</a:t>
            </a:r>
          </a:p>
          <a:p>
            <a:endParaRPr lang="en-US" dirty="0"/>
          </a:p>
          <a:p>
            <a:r>
              <a:rPr lang="en-US" dirty="0"/>
              <a:t>So the prototype keeps the evidence behind each relationship. If the system says Company A is connected to Company B, we should be able to ask: why? Where did that relationship come from? What does the source actually say? Can I go back and verify it?</a:t>
            </a:r>
          </a:p>
          <a:p>
            <a:endParaRPr lang="en-US" dirty="0"/>
          </a:p>
          <a:p>
            <a:r>
              <a:rPr lang="en-US" dirty="0"/>
              <a:t>The prototype can also compare connected entities against selected public risk sources. Again, a match or risk signal is only an investigation lead — it isn't a risk determination.</a:t>
            </a:r>
          </a:p>
          <a:p>
            <a:endParaRPr lang="en-US" dirty="0"/>
          </a:p>
          <a:p>
            <a:r>
              <a:rPr lang="en-US" dirty="0"/>
              <a:t>So from the user's perspective, I think of the workflow as three things: Discover. Verify. Prioritise.</a:t>
            </a:r>
          </a:p>
          <a:p>
            <a:endParaRPr lang="en-US" dirty="0"/>
          </a:p>
          <a:p>
            <a:r>
              <a:rPr lang="en-US" dirty="0"/>
              <a:t>And rather than keep talking about it, it's probably easier if I just show you.</a:t>
            </a:r>
          </a:p>
          <a:p>
            <a:endParaRPr lang="en-US" dirty="0"/>
          </a:p>
          <a:p>
            <a:r>
              <a:rPr lang="en-US" dirty="0"/>
              <a:t>[CLICK → Live Demo]</a:t>
            </a:r>
          </a:p>
          <a:p>
            <a:r>
              <a:rPr lang="en-US" dirty="0"/>
              <a:t>[Timing: ~3–3.5 min]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demo, I'm going to use one company as the investigation target.</a:t>
            </a:r>
          </a:p>
          <a:p>
            <a:endParaRPr lang="en-US" dirty="0"/>
          </a:p>
          <a:p>
            <a:r>
              <a:rPr lang="en-US" dirty="0"/>
              <a:t>Rather than show every feature, I'll try to answer three questions:</a:t>
            </a:r>
          </a:p>
          <a:p>
            <a:r>
              <a:rPr lang="en-US" dirty="0"/>
              <a:t>1. Who can we discover around the target — directly or indirectly?</a:t>
            </a:r>
          </a:p>
          <a:p>
            <a:r>
              <a:rPr lang="en-US" dirty="0"/>
              <a:t>2. What evidence supports those connections?</a:t>
            </a:r>
          </a:p>
          <a:p>
            <a:r>
              <a:rPr lang="en-US" dirty="0"/>
              <a:t>3. Do any connected entities give us a reason to investigate further?</a:t>
            </a:r>
          </a:p>
          <a:p>
            <a:endParaRPr lang="en-US" dirty="0"/>
          </a:p>
          <a:p>
            <a:r>
              <a:rPr lang="en-US" dirty="0"/>
              <a:t>So again: Discover. Verify. Prioritise.</a:t>
            </a:r>
          </a:p>
          <a:p>
            <a:endParaRPr lang="en-US" dirty="0"/>
          </a:p>
          <a:p>
            <a:r>
              <a:rPr lang="en-US" dirty="0"/>
              <a:t>[DEMO 1 — Confirm the target | ~1 min]</a:t>
            </a:r>
          </a:p>
          <a:p>
            <a:r>
              <a:rPr lang="en-US" dirty="0"/>
              <a:t>The first step is simply making sure we're investigating the right company. Search by company name, identify the legal entity, and confirm things like the LEI and jurisdiction. This gives us a consistent starting point.</a:t>
            </a:r>
          </a:p>
          <a:p>
            <a:endParaRPr lang="en-US" dirty="0"/>
          </a:p>
          <a:p>
            <a:r>
              <a:rPr lang="en-US" dirty="0"/>
              <a:t>[DEMO 2 — Relationship view | ~2–2.5 min]</a:t>
            </a:r>
          </a:p>
          <a:p>
            <a:r>
              <a:rPr lang="en-US" dirty="0"/>
              <a:t>Once the information has been processed, this gives us a relationship view around the target. We can see different types of connected entities — companies, people or projects — and the relationships between them.</a:t>
            </a:r>
          </a:p>
          <a:p>
            <a:endParaRPr lang="en-US" dirty="0"/>
          </a:p>
          <a:p>
            <a:r>
              <a:rPr lang="en-US" dirty="0"/>
              <a:t>Choose a pre-selected relationship:</a:t>
            </a:r>
          </a:p>
          <a:p>
            <a:r>
              <a:rPr lang="en-US" dirty="0"/>
              <a:t>“For example, here we have [ENTITY] connected to the target through [RELATIONSHIP]. But seeing a line between two entities is useful only up to a point. The more important question is: why do we believe this relationship exists?”</a:t>
            </a:r>
          </a:p>
          <a:p>
            <a:endParaRPr lang="en-US" dirty="0"/>
          </a:p>
          <a:p>
            <a:r>
              <a:rPr lang="en-US" dirty="0"/>
              <a:t>[DEMO 3 — Evidence | ~2 min]</a:t>
            </a:r>
          </a:p>
          <a:p>
            <a:r>
              <a:rPr lang="en-US" dirty="0"/>
              <a:t>Open the relationship and show the evidence excerpt and source.</a:t>
            </a:r>
          </a:p>
          <a:p>
            <a:r>
              <a:rPr lang="en-US" dirty="0"/>
              <a:t>“Rather than asking the user to trust an AI-generated answer, we retain the relevant evidence and the source it came from. The relationship view helps us discover where to look; the evidence helps us decide whether the connection is actually meaningful.”</a:t>
            </a:r>
          </a:p>
          <a:p>
            <a:endParaRPr lang="en-US" dirty="0"/>
          </a:p>
          <a:p>
            <a:r>
              <a:rPr lang="en-US" dirty="0"/>
              <a:t>[DEMO 4 — Indirect relationship | ~1–1.5 min]</a:t>
            </a:r>
          </a:p>
          <a:p>
            <a:r>
              <a:rPr lang="en-US" dirty="0"/>
              <a:t>Show a prepared indirect connection:</a:t>
            </a:r>
          </a:p>
          <a:p>
            <a:r>
              <a:rPr lang="en-US" dirty="0"/>
              <a:t>“The target is connected to [A], and [A] is connected to [B]. I'm not saying that automatically makes [B] a related party of the original customer. But it gives us an investigation path that may not have been obvious if we were only looking at the target itself.”</a:t>
            </a:r>
          </a:p>
          <a:p>
            <a:endParaRPr lang="en-US" dirty="0"/>
          </a:p>
          <a:p>
            <a:r>
              <a:rPr lang="en-US" dirty="0"/>
              <a:t>[DEMO 5 — Risk signal | ~1–1.5 min]</a:t>
            </a:r>
          </a:p>
          <a:p>
            <a:r>
              <a:rPr lang="en-US" dirty="0"/>
              <a:t>If there is a meaningful signal:</a:t>
            </a:r>
          </a:p>
          <a:p>
            <a:r>
              <a:rPr lang="en-US" dirty="0"/>
              <a:t>“Here we have a public risk signal associated with this entity. This isn't saying the original customer is risky because they're connected to it. It simply gives the investigator additional context.”</a:t>
            </a:r>
          </a:p>
          <a:p>
            <a:r>
              <a:rPr lang="en-US" dirty="0"/>
              <a:t>If there is no meaningful signal:</a:t>
            </a:r>
          </a:p>
          <a:p>
            <a:r>
              <a:rPr lang="en-US" dirty="0"/>
              <a:t>“There are no meaningful risk signals in this particular example, which is also a perfectly valid outcome.”</a:t>
            </a:r>
          </a:p>
          <a:p>
            <a:endParaRPr lang="en-US" dirty="0"/>
          </a:p>
          <a:p>
            <a:r>
              <a:rPr lang="en-US" dirty="0"/>
              <a:t>[DEMO END]</a:t>
            </a:r>
          </a:p>
          <a:p>
            <a:r>
              <a:rPr lang="en-US" dirty="0"/>
              <a:t>“So that's the prototype in a nutshell. We started with one company, discovered relationships around it, followed an indirect connection, and traced the finding back to supporting evidence. That's what I mean by discover, verify and prioritise.”</a:t>
            </a:r>
          </a:p>
          <a:p>
            <a:endParaRPr lang="en-US" dirty="0"/>
          </a:p>
          <a:p>
            <a:r>
              <a:rPr lang="en-US" dirty="0"/>
              <a:t>[Return to Slide 6]</a:t>
            </a:r>
          </a:p>
          <a:p>
            <a:r>
              <a:rPr lang="en-US" dirty="0"/>
              <a:t>[Timing: ~8–9 min]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coming back to the proposal Sushi introduced on Tuesday, what does this prototype actually give us?</a:t>
            </a:r>
          </a:p>
          <a:p>
            <a:endParaRPr lang="en-US" dirty="0"/>
          </a:p>
          <a:p>
            <a:r>
              <a:rPr lang="en-US" dirty="0"/>
              <a:t>I don't think it validates the full project concept — because we haven't tested it with the actual combination of internal customer information and licensed external data that we would ultimately want to use.</a:t>
            </a:r>
          </a:p>
          <a:p>
            <a:endParaRPr lang="en-US" dirty="0"/>
          </a:p>
          <a:p>
            <a:r>
              <a:rPr lang="en-US" dirty="0"/>
              <a:t>What it does give us is a way to test the proposed relationship-discovery workflow using public data as a proxy.</a:t>
            </a:r>
          </a:p>
          <a:p>
            <a:endParaRPr lang="en-US" dirty="0"/>
          </a:p>
          <a:p>
            <a:r>
              <a:rPr lang="en-US" dirty="0"/>
              <a:t>We've been able to take different types of information, connect entities and relationships, keep the findings traceable to evidence, and turn that into something an investigator can actually explore.</a:t>
            </a:r>
          </a:p>
          <a:p>
            <a:endParaRPr lang="en-US" dirty="0"/>
          </a:p>
          <a:p>
            <a:r>
              <a:rPr lang="en-US" dirty="0"/>
              <a:t>The next step is where I think it becomes more interesting.</a:t>
            </a:r>
          </a:p>
          <a:p>
            <a:endParaRPr lang="en-US" dirty="0"/>
          </a:p>
          <a:p>
            <a:r>
              <a:rPr lang="en-US" dirty="0"/>
              <a:t>Today, we're using public sources to approximate some of the intended data inputs.</a:t>
            </a:r>
          </a:p>
          <a:p>
            <a:endParaRPr lang="en-US" dirty="0"/>
          </a:p>
          <a:p>
            <a:r>
              <a:rPr lang="en-US" dirty="0"/>
              <a:t>If we eventually replace those proxies with the real data sources and combine them with our internal customer view, we can start asking:</a:t>
            </a:r>
          </a:p>
          <a:p>
            <a:endParaRPr lang="en-US" dirty="0"/>
          </a:p>
          <a:p>
            <a:r>
              <a:rPr lang="en-US" dirty="0"/>
              <a:t>“What does the external information tell us that we don't already know about this customer?”</a:t>
            </a:r>
          </a:p>
          <a:p>
            <a:endParaRPr lang="en-US" dirty="0"/>
          </a:p>
          <a:p>
            <a:r>
              <a:rPr lang="en-US" dirty="0"/>
              <a:t>That could give us potential new counterparty leads, related-party leads, or connected risks that aren't obvious from the existing customer view.</a:t>
            </a:r>
          </a:p>
          <a:p>
            <a:endParaRPr lang="en-US" dirty="0"/>
          </a:p>
          <a:p>
            <a:r>
              <a:rPr lang="en-US" dirty="0"/>
              <a:t>So I wouldn't describe what you've seen today as the finished solution. I'd describe it as an early prototype that lets us test the workflow and make the broader idea more concrete.</a:t>
            </a:r>
          </a:p>
          <a:p>
            <a:endParaRPr lang="en-US" dirty="0"/>
          </a:p>
          <a:p>
            <a:r>
              <a:rPr lang="en-US" dirty="0"/>
              <a:t>And I think the logical next step would be a small validation exercise — take a limited number of representative cases, bring in the internal and licensed data we would realistically have available, and test whether combining those sources actually gives investigators useful additional insight.</a:t>
            </a:r>
          </a:p>
          <a:p>
            <a:endParaRPr lang="en-US" dirty="0"/>
          </a:p>
          <a:p>
            <a:r>
              <a:rPr lang="en-US" dirty="0"/>
              <a:t>That's everything from me. Thank you.</a:t>
            </a:r>
          </a:p>
          <a:p>
            <a:endParaRPr lang="en-US" dirty="0"/>
          </a:p>
          <a:p>
            <a:r>
              <a:rPr lang="en-US" dirty="0"/>
              <a:t>[Timing: ~2 min]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4EE"/>
          </a:solidFill>
          <a:ln>
            <a:noFill/>
          </a:ln>
        </p:spPr>
        <p:txBody>
          <a:bodyPr/>
          <a:lstStyle/>
          <a:p>
            <a:endParaRPr/>
          </a:p>
        </p:txBody>
      </p:sp>
      <p:sp>
        <p:nvSpPr>
          <p:cNvPr id="3" name="Rectangle 3"/>
          <p:cNvSpPr/>
          <p:nvPr/>
        </p:nvSpPr>
        <p:spPr>
          <a:xfrm>
            <a:off x="0" y="0"/>
            <a:ext cx="152400" cy="6858000"/>
          </a:xfrm>
          <a:prstGeom prst="rect">
            <a:avLst/>
          </a:prstGeom>
          <a:solidFill>
            <a:srgbClr val="D97745"/>
          </a:solidFill>
          <a:ln>
            <a:noFill/>
          </a:ln>
        </p:spPr>
        <p:txBody>
          <a:bodyPr/>
          <a:lstStyle/>
          <a:p>
            <a:endParaRPr/>
          </a:p>
        </p:txBody>
      </p:sp>
      <p:grpSp>
        <p:nvGrpSpPr>
          <p:cNvPr id="8" name="Group 8"/>
          <p:cNvGrpSpPr/>
          <p:nvPr/>
        </p:nvGrpSpPr>
        <p:grpSpPr>
          <a:xfrm>
            <a:off x="704850" y="1824514"/>
            <a:ext cx="6570831" cy="2510205"/>
            <a:chOff x="704850" y="1824514"/>
            <a:chExt cx="6570831" cy="1668737"/>
          </a:xfrm>
        </p:grpSpPr>
        <p:sp>
          <p:nvSpPr>
            <p:cNvPr id="5" name="TextBox 5"/>
            <p:cNvSpPr txBox="1"/>
            <p:nvPr/>
          </p:nvSpPr>
          <p:spPr>
            <a:xfrm>
              <a:off x="704850" y="1824514"/>
              <a:ext cx="6570831" cy="833438"/>
            </a:xfrm>
            <a:prstGeom prst="rect">
              <a:avLst/>
            </a:prstGeom>
            <a:noFill/>
            <a:ln>
              <a:noFill/>
            </a:ln>
          </p:spPr>
          <p:txBody>
            <a:bodyPr wrap="none" lIns="0" tIns="0" rIns="0" bIns="0" anchor="t" anchorCtr="0">
              <a:spAutoFit/>
            </a:bodyPr>
            <a:lstStyle/>
            <a:p>
              <a:pPr algn="l"/>
              <a:r>
                <a:rPr lang="en-US" sz="4280" b="1" dirty="0">
                  <a:solidFill>
                    <a:srgbClr val="1F1F1C"/>
                  </a:solidFill>
                  <a:latin typeface="Arial"/>
                  <a:ea typeface="Arial"/>
                  <a:cs typeface="Arial"/>
                </a:rPr>
                <a:t>Customer Relationship</a:t>
              </a:r>
            </a:p>
          </p:txBody>
        </p:sp>
        <p:sp>
          <p:nvSpPr>
            <p:cNvPr id="6" name="TextBox 6"/>
            <p:cNvSpPr txBox="1"/>
            <p:nvPr/>
          </p:nvSpPr>
          <p:spPr>
            <a:xfrm>
              <a:off x="704850" y="2472214"/>
              <a:ext cx="2896057" cy="833438"/>
            </a:xfrm>
            <a:prstGeom prst="rect">
              <a:avLst/>
            </a:prstGeom>
            <a:noFill/>
            <a:ln>
              <a:noFill/>
            </a:ln>
          </p:spPr>
          <p:txBody>
            <a:bodyPr wrap="none" lIns="0" tIns="0" rIns="0" bIns="0" anchor="t" anchorCtr="0">
              <a:spAutoFit/>
            </a:bodyPr>
            <a:lstStyle/>
            <a:p>
              <a:pPr algn="l"/>
              <a:r>
                <a:rPr lang="en-US" sz="4280" b="1" dirty="0">
                  <a:solidFill>
                    <a:srgbClr val="1F1F1C"/>
                  </a:solidFill>
                  <a:latin typeface="Arial"/>
                  <a:ea typeface="Arial"/>
                  <a:cs typeface="Arial"/>
                </a:rPr>
                <a:t>Discovery</a:t>
              </a:r>
            </a:p>
          </p:txBody>
        </p:sp>
        <p:sp>
          <p:nvSpPr>
            <p:cNvPr id="7" name="TextBox 7"/>
            <p:cNvSpPr txBox="1"/>
            <p:nvPr/>
          </p:nvSpPr>
          <p:spPr>
            <a:xfrm>
              <a:off x="713613" y="3286601"/>
              <a:ext cx="6073907" cy="206650"/>
            </a:xfrm>
            <a:prstGeom prst="rect">
              <a:avLst/>
            </a:prstGeom>
            <a:noFill/>
            <a:ln>
              <a:noFill/>
            </a:ln>
          </p:spPr>
          <p:txBody>
            <a:bodyPr wrap="none" lIns="0" tIns="0" rIns="0" bIns="0" anchor="t" anchorCtr="0">
              <a:spAutoFit/>
            </a:bodyPr>
            <a:lstStyle/>
            <a:p>
              <a:pPr algn="l"/>
              <a:r>
                <a:rPr lang="en-US" sz="2020" dirty="0">
                  <a:solidFill>
                    <a:srgbClr val="6B6861"/>
                  </a:solidFill>
                  <a:latin typeface="Arial"/>
                  <a:ea typeface="Arial"/>
                  <a:cs typeface="Arial"/>
                </a:rPr>
                <a:t>A public-data prototype for </a:t>
              </a:r>
              <a:r>
                <a:rPr lang="en-US" altLang="zh-CN" sz="2020" dirty="0">
                  <a:solidFill>
                    <a:srgbClr val="6B6861"/>
                  </a:solidFill>
                  <a:latin typeface="Arial"/>
                  <a:ea typeface="Arial"/>
                  <a:cs typeface="Arial"/>
                </a:rPr>
                <a:t>related-party</a:t>
              </a:r>
              <a:r>
                <a:rPr lang="en-US" sz="2020" dirty="0">
                  <a:solidFill>
                    <a:srgbClr val="6B6861"/>
                  </a:solidFill>
                  <a:latin typeface="Arial"/>
                  <a:ea typeface="Arial"/>
                  <a:cs typeface="Arial"/>
                </a:rPr>
                <a:t> investigation</a:t>
              </a:r>
            </a:p>
          </p:txBody>
        </p:sp>
      </p:grpSp>
      <p:grpSp>
        <p:nvGrpSpPr>
          <p:cNvPr id="17" name="Group 17"/>
          <p:cNvGrpSpPr/>
          <p:nvPr/>
        </p:nvGrpSpPr>
        <p:grpSpPr>
          <a:xfrm>
            <a:off x="7886700" y="1466850"/>
            <a:ext cx="2933700" cy="3162300"/>
            <a:chOff x="7886700" y="1466850"/>
            <a:chExt cx="2933700" cy="3162300"/>
          </a:xfrm>
        </p:grpSpPr>
        <p:sp>
          <p:nvSpPr>
            <p:cNvPr id="9" name="Line 9"/>
            <p:cNvSpPr/>
            <p:nvPr/>
          </p:nvSpPr>
          <p:spPr>
            <a:xfrm>
              <a:off x="8572500" y="1809750"/>
              <a:ext cx="1428750" cy="666750"/>
            </a:xfrm>
            <a:custGeom>
              <a:avLst/>
              <a:gdLst/>
              <a:ahLst/>
              <a:cxnLst/>
              <a:rect l="l" t="t" r="r" b="b"/>
              <a:pathLst>
                <a:path w="1428750" h="666750">
                  <a:moveTo>
                    <a:pt x="0" y="666750"/>
                  </a:moveTo>
                  <a:lnTo>
                    <a:pt x="1428750" y="0"/>
                  </a:lnTo>
                </a:path>
              </a:pathLst>
            </a:custGeom>
            <a:noFill/>
            <a:ln w="28575">
              <a:solidFill>
                <a:srgbClr val="8C6B52"/>
              </a:solidFill>
            </a:ln>
          </p:spPr>
          <p:txBody>
            <a:bodyPr/>
            <a:lstStyle/>
            <a:p>
              <a:endParaRPr/>
            </a:p>
          </p:txBody>
        </p:sp>
        <p:sp>
          <p:nvSpPr>
            <p:cNvPr id="10" name="Line 10"/>
            <p:cNvSpPr/>
            <p:nvPr/>
          </p:nvSpPr>
          <p:spPr>
            <a:xfrm>
              <a:off x="8572500" y="2476500"/>
              <a:ext cx="1905000" cy="904875"/>
            </a:xfrm>
            <a:custGeom>
              <a:avLst/>
              <a:gdLst/>
              <a:ahLst/>
              <a:cxnLst/>
              <a:rect l="l" t="t" r="r" b="b"/>
              <a:pathLst>
                <a:path w="1905000" h="904875">
                  <a:moveTo>
                    <a:pt x="0" y="0"/>
                  </a:moveTo>
                  <a:lnTo>
                    <a:pt x="1905000" y="904875"/>
                  </a:lnTo>
                </a:path>
              </a:pathLst>
            </a:custGeom>
            <a:noFill/>
            <a:ln w="28575">
              <a:solidFill>
                <a:srgbClr val="8C6B52"/>
              </a:solidFill>
            </a:ln>
          </p:spPr>
          <p:txBody>
            <a:bodyPr/>
            <a:lstStyle/>
            <a:p>
              <a:endParaRPr/>
            </a:p>
          </p:txBody>
        </p:sp>
        <p:sp>
          <p:nvSpPr>
            <p:cNvPr id="11" name="Line 11"/>
            <p:cNvSpPr/>
            <p:nvPr/>
          </p:nvSpPr>
          <p:spPr>
            <a:xfrm>
              <a:off x="8572500" y="2476500"/>
              <a:ext cx="1000125" cy="1809750"/>
            </a:xfrm>
            <a:custGeom>
              <a:avLst/>
              <a:gdLst/>
              <a:ahLst/>
              <a:cxnLst/>
              <a:rect l="l" t="t" r="r" b="b"/>
              <a:pathLst>
                <a:path w="1000125" h="1809750">
                  <a:moveTo>
                    <a:pt x="0" y="0"/>
                  </a:moveTo>
                  <a:lnTo>
                    <a:pt x="1000125" y="1809750"/>
                  </a:lnTo>
                </a:path>
              </a:pathLst>
            </a:custGeom>
            <a:noFill/>
            <a:ln w="28575">
              <a:solidFill>
                <a:srgbClr val="D97745"/>
              </a:solidFill>
              <a:custDash>
                <a:ds d="333333" sp="266666"/>
              </a:custDash>
            </a:ln>
          </p:spPr>
          <p:txBody>
            <a:bodyPr/>
            <a:lstStyle/>
            <a:p>
              <a:endParaRPr/>
            </a:p>
          </p:txBody>
        </p:sp>
        <p:sp>
          <p:nvSpPr>
            <p:cNvPr id="12" name="Ellipse 12"/>
            <p:cNvSpPr/>
            <p:nvPr/>
          </p:nvSpPr>
          <p:spPr>
            <a:xfrm>
              <a:off x="7886700" y="1790700"/>
              <a:ext cx="1371600" cy="1371600"/>
            </a:xfrm>
            <a:prstGeom prst="ellipse">
              <a:avLst/>
            </a:prstGeom>
            <a:solidFill>
              <a:srgbClr val="D97745"/>
            </a:solidFill>
            <a:ln>
              <a:noFill/>
            </a:ln>
          </p:spPr>
          <p:txBody>
            <a:bodyPr/>
            <a:lstStyle/>
            <a:p>
              <a:endParaRPr/>
            </a:p>
          </p:txBody>
        </p:sp>
        <p:sp>
          <p:nvSpPr>
            <p:cNvPr id="13" name="TextBox 13"/>
            <p:cNvSpPr txBox="1"/>
            <p:nvPr/>
          </p:nvSpPr>
          <p:spPr>
            <a:xfrm>
              <a:off x="8195234" y="2381250"/>
              <a:ext cx="754532" cy="293370"/>
            </a:xfrm>
            <a:prstGeom prst="rect">
              <a:avLst/>
            </a:prstGeom>
            <a:noFill/>
            <a:ln>
              <a:noFill/>
            </a:ln>
          </p:spPr>
          <p:txBody>
            <a:bodyPr wrap="none" lIns="0" tIns="0" rIns="0" bIns="0" anchor="t" anchorCtr="0">
              <a:spAutoFit/>
            </a:bodyPr>
            <a:lstStyle/>
            <a:p>
              <a:pPr algn="ctr"/>
              <a:r>
                <a:rPr lang="en-US" sz="1500" b="1" dirty="0">
                  <a:solidFill>
                    <a:srgbClr val="F7F4EE"/>
                  </a:solidFill>
                  <a:latin typeface="Arial"/>
                  <a:ea typeface="Arial"/>
                  <a:cs typeface="Arial"/>
                </a:rPr>
                <a:t>TARGET</a:t>
              </a:r>
            </a:p>
          </p:txBody>
        </p:sp>
        <p:sp>
          <p:nvSpPr>
            <p:cNvPr id="14" name="Ellipse 14"/>
            <p:cNvSpPr/>
            <p:nvPr/>
          </p:nvSpPr>
          <p:spPr>
            <a:xfrm>
              <a:off x="9658350" y="1466850"/>
              <a:ext cx="685800" cy="685800"/>
            </a:xfrm>
            <a:prstGeom prst="ellipse">
              <a:avLst/>
            </a:prstGeom>
            <a:solidFill>
              <a:srgbClr val="1F1F1C"/>
            </a:solidFill>
            <a:ln>
              <a:noFill/>
            </a:ln>
          </p:spPr>
          <p:txBody>
            <a:bodyPr/>
            <a:lstStyle/>
            <a:p>
              <a:endParaRPr/>
            </a:p>
          </p:txBody>
        </p:sp>
        <p:sp>
          <p:nvSpPr>
            <p:cNvPr id="15" name="Ellipse 15"/>
            <p:cNvSpPr/>
            <p:nvPr/>
          </p:nvSpPr>
          <p:spPr>
            <a:xfrm>
              <a:off x="10134600" y="3038475"/>
              <a:ext cx="685800" cy="685800"/>
            </a:xfrm>
            <a:prstGeom prst="ellipse">
              <a:avLst/>
            </a:prstGeom>
            <a:solidFill>
              <a:srgbClr val="4E8068"/>
            </a:solidFill>
            <a:ln>
              <a:noFill/>
            </a:ln>
          </p:spPr>
          <p:txBody>
            <a:bodyPr/>
            <a:lstStyle/>
            <a:p>
              <a:endParaRPr/>
            </a:p>
          </p:txBody>
        </p:sp>
        <p:sp>
          <p:nvSpPr>
            <p:cNvPr id="16" name="Ellipse 16"/>
            <p:cNvSpPr/>
            <p:nvPr/>
          </p:nvSpPr>
          <p:spPr>
            <a:xfrm>
              <a:off x="9229725" y="3943350"/>
              <a:ext cx="685800" cy="685800"/>
            </a:xfrm>
            <a:prstGeom prst="ellipse">
              <a:avLst/>
            </a:prstGeom>
            <a:solidFill>
              <a:srgbClr val="B85C4C"/>
            </a:solidFill>
            <a:ln>
              <a:noFill/>
            </a:ln>
          </p:spPr>
          <p:txBody>
            <a:bodyPr/>
            <a:lstStyle/>
            <a:p>
              <a:endParaRPr/>
            </a:p>
          </p:txBody>
        </p:sp>
      </p:grpSp>
      <p:grpSp>
        <p:nvGrpSpPr>
          <p:cNvPr id="21" name="Group 21"/>
          <p:cNvGrpSpPr/>
          <p:nvPr/>
        </p:nvGrpSpPr>
        <p:grpSpPr>
          <a:xfrm>
            <a:off x="717804" y="6248400"/>
            <a:ext cx="10794492" cy="409956"/>
            <a:chOff x="717804" y="6248400"/>
            <a:chExt cx="10794492" cy="409956"/>
          </a:xfrm>
        </p:grpSpPr>
        <p:sp>
          <p:nvSpPr>
            <p:cNvPr id="18" name="Line 18"/>
            <p:cNvSpPr/>
            <p:nvPr/>
          </p:nvSpPr>
          <p:spPr>
            <a:xfrm>
              <a:off x="723900" y="6248400"/>
              <a:ext cx="10782300" cy="9525"/>
            </a:xfrm>
            <a:custGeom>
              <a:avLst/>
              <a:gdLst/>
              <a:ahLst/>
              <a:cxnLst/>
              <a:rect l="l" t="t" r="r" b="b"/>
              <a:pathLst>
                <a:path w="10782300" h="9525">
                  <a:moveTo>
                    <a:pt x="0" y="0"/>
                  </a:moveTo>
                  <a:lnTo>
                    <a:pt x="10782300" y="0"/>
                  </a:lnTo>
                </a:path>
              </a:pathLst>
            </a:custGeom>
            <a:noFill/>
            <a:ln w="19050">
              <a:solidFill>
                <a:srgbClr val="D8D1C6"/>
              </a:solidFill>
            </a:ln>
          </p:spPr>
          <p:txBody>
            <a:bodyPr/>
            <a:lstStyle/>
            <a:p>
              <a:endParaRPr/>
            </a:p>
          </p:txBody>
        </p:sp>
        <p:sp>
          <p:nvSpPr>
            <p:cNvPr id="19" name="TextBox 19"/>
            <p:cNvSpPr txBox="1"/>
            <p:nvPr/>
          </p:nvSpPr>
          <p:spPr>
            <a:xfrm>
              <a:off x="717804" y="6423660"/>
              <a:ext cx="2571408" cy="234696"/>
            </a:xfrm>
            <a:prstGeom prst="rect">
              <a:avLst/>
            </a:prstGeom>
            <a:noFill/>
            <a:ln>
              <a:noFill/>
            </a:ln>
          </p:spPr>
          <p:txBody>
            <a:bodyPr wrap="none" lIns="0" tIns="0" rIns="0" bIns="0" anchor="t" anchorCtr="0">
              <a:spAutoFit/>
            </a:bodyPr>
            <a:lstStyle/>
            <a:p>
              <a:pPr algn="l"/>
              <a:r>
                <a:rPr lang="en-US" sz="1200" dirty="0">
                  <a:solidFill>
                    <a:srgbClr val="6B6861"/>
                  </a:solidFill>
                  <a:latin typeface="Arial"/>
                  <a:ea typeface="Arial"/>
                  <a:cs typeface="Arial"/>
                </a:rPr>
                <a:t>Customer Relationship Discovery</a:t>
              </a:r>
            </a:p>
          </p:txBody>
        </p:sp>
        <p:sp>
          <p:nvSpPr>
            <p:cNvPr id="20" name="TextBox 20"/>
            <p:cNvSpPr txBox="1"/>
            <p:nvPr/>
          </p:nvSpPr>
          <p:spPr>
            <a:xfrm>
              <a:off x="10958932" y="6423660"/>
              <a:ext cx="553364" cy="234696"/>
            </a:xfrm>
            <a:prstGeom prst="rect">
              <a:avLst/>
            </a:prstGeom>
            <a:noFill/>
            <a:ln>
              <a:noFill/>
            </a:ln>
          </p:spPr>
          <p:txBody>
            <a:bodyPr wrap="none" lIns="0" tIns="0" rIns="0" bIns="0" anchor="t" anchorCtr="0">
              <a:spAutoFit/>
            </a:bodyPr>
            <a:lstStyle/>
            <a:p>
              <a:pPr algn="r"/>
              <a:r>
                <a:rPr lang="en-US" sz="1200" dirty="0">
                  <a:solidFill>
                    <a:srgbClr val="6B6861"/>
                  </a:solidFill>
                  <a:latin typeface="Arial"/>
                  <a:ea typeface="Arial"/>
                  <a:cs typeface="Arial"/>
                </a:rPr>
                <a:t>01 / 06</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4EE"/>
          </a:solidFill>
          <a:ln>
            <a:noFill/>
          </a:ln>
        </p:spPr>
        <p:txBody>
          <a:bodyPr/>
          <a:lstStyle/>
          <a:p>
            <a:endParaRPr/>
          </a:p>
        </p:txBody>
      </p:sp>
      <p:sp>
        <p:nvSpPr>
          <p:cNvPr id="3" name="Rectangle 3"/>
          <p:cNvSpPr/>
          <p:nvPr/>
        </p:nvSpPr>
        <p:spPr>
          <a:xfrm>
            <a:off x="0" y="0"/>
            <a:ext cx="152400" cy="6858000"/>
          </a:xfrm>
          <a:prstGeom prst="rect">
            <a:avLst/>
          </a:prstGeom>
          <a:solidFill>
            <a:srgbClr val="D97745"/>
          </a:solidFill>
          <a:ln>
            <a:noFill/>
          </a:ln>
        </p:spPr>
        <p:txBody>
          <a:bodyPr/>
          <a:lstStyle/>
          <a:p>
            <a:endParaRPr/>
          </a:p>
        </p:txBody>
      </p:sp>
      <p:grpSp>
        <p:nvGrpSpPr>
          <p:cNvPr id="7" name="Group 7"/>
          <p:cNvGrpSpPr/>
          <p:nvPr/>
        </p:nvGrpSpPr>
        <p:grpSpPr>
          <a:xfrm>
            <a:off x="678942" y="654368"/>
            <a:ext cx="10296657" cy="1388162"/>
            <a:chOff x="678942" y="654368"/>
            <a:chExt cx="10296657" cy="1388162"/>
          </a:xfrm>
        </p:grpSpPr>
        <p:sp>
          <p:nvSpPr>
            <p:cNvPr id="4" name="TextBox 4"/>
            <p:cNvSpPr txBox="1"/>
            <p:nvPr/>
          </p:nvSpPr>
          <p:spPr>
            <a:xfrm>
              <a:off x="678942" y="654368"/>
              <a:ext cx="6280565" cy="492443"/>
            </a:xfrm>
            <a:prstGeom prst="rect">
              <a:avLst/>
            </a:prstGeom>
            <a:noFill/>
            <a:ln>
              <a:noFill/>
            </a:ln>
          </p:spPr>
          <p:txBody>
            <a:bodyPr wrap="none" lIns="0" tIns="0" rIns="0" bIns="0" anchor="t" anchorCtr="0">
              <a:spAutoFit/>
            </a:bodyPr>
            <a:lstStyle/>
            <a:p>
              <a:pPr algn="l"/>
              <a:r>
                <a:rPr lang="en-US" sz="3200" b="1" spc="150" dirty="0">
                  <a:solidFill>
                    <a:srgbClr val="D97745"/>
                  </a:solidFill>
                  <a:latin typeface="Arial"/>
                  <a:ea typeface="Arial"/>
                  <a:cs typeface="Arial"/>
                </a:rPr>
                <a:t>THE BUSINESS CHALLENGE:</a:t>
              </a:r>
            </a:p>
          </p:txBody>
        </p:sp>
        <p:sp>
          <p:nvSpPr>
            <p:cNvPr id="5" name="TextBox 5"/>
            <p:cNvSpPr txBox="1"/>
            <p:nvPr/>
          </p:nvSpPr>
          <p:spPr>
            <a:xfrm>
              <a:off x="679704" y="1303866"/>
              <a:ext cx="10295895" cy="738664"/>
            </a:xfrm>
            <a:prstGeom prst="rect">
              <a:avLst/>
            </a:prstGeom>
            <a:noFill/>
            <a:ln>
              <a:noFill/>
            </a:ln>
          </p:spPr>
          <p:txBody>
            <a:bodyPr wrap="none" lIns="0" tIns="0" rIns="0" bIns="0" anchor="t" anchorCtr="0">
              <a:spAutoFit/>
            </a:bodyPr>
            <a:lstStyle/>
            <a:p>
              <a:r>
                <a:rPr lang="en-US" sz="2400" b="1" dirty="0">
                  <a:solidFill>
                    <a:srgbClr val="1F1F1C"/>
                  </a:solidFill>
                  <a:latin typeface="Arial"/>
                  <a:ea typeface="Arial"/>
                  <a:cs typeface="Arial"/>
                </a:rPr>
                <a:t>Important relationships can remain </a:t>
              </a:r>
              <a:r>
                <a:rPr lang="en-US" altLang="zh-CN" sz="2400" b="1" dirty="0">
                  <a:solidFill>
                    <a:srgbClr val="1F1F1C"/>
                  </a:solidFill>
                  <a:latin typeface="Arial"/>
                  <a:ea typeface="Arial"/>
                  <a:cs typeface="Arial"/>
                </a:rPr>
                <a:t>outside the current customer view.</a:t>
              </a:r>
            </a:p>
            <a:p>
              <a:pPr algn="l"/>
              <a:endParaRPr lang="en-US" sz="2400" b="1" dirty="0">
                <a:solidFill>
                  <a:srgbClr val="1F1F1C"/>
                </a:solidFill>
                <a:latin typeface="Arial"/>
                <a:ea typeface="Arial"/>
                <a:cs typeface="Arial"/>
              </a:endParaRPr>
            </a:p>
          </p:txBody>
        </p:sp>
      </p:grpSp>
      <p:grpSp>
        <p:nvGrpSpPr>
          <p:cNvPr id="14" name="Group 14"/>
          <p:cNvGrpSpPr/>
          <p:nvPr/>
        </p:nvGrpSpPr>
        <p:grpSpPr>
          <a:xfrm>
            <a:off x="781759" y="2100156"/>
            <a:ext cx="10916874" cy="1591449"/>
            <a:chOff x="771525" y="2787015"/>
            <a:chExt cx="10916874" cy="1591449"/>
          </a:xfrm>
        </p:grpSpPr>
        <p:sp>
          <p:nvSpPr>
            <p:cNvPr id="8" name="Ellipse 8"/>
            <p:cNvSpPr/>
            <p:nvPr/>
          </p:nvSpPr>
          <p:spPr>
            <a:xfrm>
              <a:off x="771525" y="2838450"/>
              <a:ext cx="133350" cy="133350"/>
            </a:xfrm>
            <a:prstGeom prst="ellipse">
              <a:avLst/>
            </a:prstGeom>
            <a:solidFill>
              <a:srgbClr val="D97745"/>
            </a:solidFill>
            <a:ln>
              <a:noFill/>
            </a:ln>
          </p:spPr>
          <p:txBody>
            <a:bodyPr/>
            <a:lstStyle/>
            <a:p>
              <a:endParaRPr/>
            </a:p>
          </p:txBody>
        </p:sp>
        <p:sp>
          <p:nvSpPr>
            <p:cNvPr id="9" name="TextBox 9"/>
            <p:cNvSpPr txBox="1"/>
            <p:nvPr/>
          </p:nvSpPr>
          <p:spPr>
            <a:xfrm>
              <a:off x="1095756" y="2787015"/>
              <a:ext cx="7525830" cy="352044"/>
            </a:xfrm>
            <a:prstGeom prst="rect">
              <a:avLst/>
            </a:prstGeom>
            <a:noFill/>
            <a:ln>
              <a:noFill/>
            </a:ln>
          </p:spPr>
          <p:txBody>
            <a:bodyPr wrap="none" lIns="0" tIns="0" rIns="0" bIns="0" anchor="t" anchorCtr="0">
              <a:spAutoFit/>
            </a:bodyPr>
            <a:lstStyle/>
            <a:p>
              <a:pPr algn="l"/>
              <a:r>
                <a:rPr lang="en-US" sz="1800" dirty="0">
                  <a:solidFill>
                    <a:srgbClr val="292824"/>
                  </a:solidFill>
                  <a:latin typeface="Arial"/>
                  <a:ea typeface="Arial"/>
                  <a:cs typeface="Arial"/>
                </a:rPr>
                <a:t>Customer information is distributed across different sources.</a:t>
              </a:r>
            </a:p>
          </p:txBody>
        </p:sp>
        <p:sp>
          <p:nvSpPr>
            <p:cNvPr id="10" name="Ellipse 10"/>
            <p:cNvSpPr/>
            <p:nvPr/>
          </p:nvSpPr>
          <p:spPr>
            <a:xfrm>
              <a:off x="771525" y="3495675"/>
              <a:ext cx="133350" cy="133350"/>
            </a:xfrm>
            <a:prstGeom prst="ellipse">
              <a:avLst/>
            </a:prstGeom>
            <a:solidFill>
              <a:srgbClr val="D97745"/>
            </a:solidFill>
            <a:ln>
              <a:noFill/>
            </a:ln>
          </p:spPr>
          <p:txBody>
            <a:bodyPr/>
            <a:lstStyle/>
            <a:p>
              <a:endParaRPr/>
            </a:p>
          </p:txBody>
        </p:sp>
        <p:sp>
          <p:nvSpPr>
            <p:cNvPr id="11" name="TextBox 11"/>
            <p:cNvSpPr txBox="1"/>
            <p:nvPr/>
          </p:nvSpPr>
          <p:spPr>
            <a:xfrm>
              <a:off x="1095756" y="3444240"/>
              <a:ext cx="7659098" cy="352044"/>
            </a:xfrm>
            <a:prstGeom prst="rect">
              <a:avLst/>
            </a:prstGeom>
            <a:noFill/>
            <a:ln>
              <a:noFill/>
            </a:ln>
          </p:spPr>
          <p:txBody>
            <a:bodyPr wrap="none" lIns="0" tIns="0" rIns="0" bIns="0" anchor="t" anchorCtr="0">
              <a:spAutoFit/>
            </a:bodyPr>
            <a:lstStyle/>
            <a:p>
              <a:pPr algn="l"/>
              <a:r>
                <a:rPr lang="en-US" sz="1800" dirty="0">
                  <a:solidFill>
                    <a:srgbClr val="292824"/>
                  </a:solidFill>
                  <a:latin typeface="Arial"/>
                  <a:ea typeface="Arial"/>
                  <a:cs typeface="Arial"/>
                </a:rPr>
                <a:t>Direct links are visible; indirect connections are easier to miss.</a:t>
              </a:r>
            </a:p>
          </p:txBody>
        </p:sp>
        <p:sp>
          <p:nvSpPr>
            <p:cNvPr id="12" name="Ellipse 12"/>
            <p:cNvSpPr/>
            <p:nvPr/>
          </p:nvSpPr>
          <p:spPr>
            <a:xfrm>
              <a:off x="771525" y="4152900"/>
              <a:ext cx="133350" cy="133350"/>
            </a:xfrm>
            <a:prstGeom prst="ellipse">
              <a:avLst/>
            </a:prstGeom>
            <a:solidFill>
              <a:srgbClr val="D97745"/>
            </a:solidFill>
            <a:ln>
              <a:noFill/>
            </a:ln>
          </p:spPr>
          <p:txBody>
            <a:bodyPr/>
            <a:lstStyle/>
            <a:p>
              <a:endParaRPr/>
            </a:p>
          </p:txBody>
        </p:sp>
        <p:sp>
          <p:nvSpPr>
            <p:cNvPr id="13" name="TextBox 13"/>
            <p:cNvSpPr txBox="1"/>
            <p:nvPr/>
          </p:nvSpPr>
          <p:spPr>
            <a:xfrm>
              <a:off x="1095756" y="4101465"/>
              <a:ext cx="10592643" cy="276999"/>
            </a:xfrm>
            <a:prstGeom prst="rect">
              <a:avLst/>
            </a:prstGeom>
            <a:noFill/>
            <a:ln>
              <a:noFill/>
            </a:ln>
          </p:spPr>
          <p:txBody>
            <a:bodyPr wrap="none" lIns="0" tIns="0" rIns="0" bIns="0" anchor="t" anchorCtr="0">
              <a:spAutoFit/>
            </a:bodyPr>
            <a:lstStyle/>
            <a:p>
              <a:pPr algn="l"/>
              <a:r>
                <a:rPr dirty="0">
                  <a:latin typeface="Arial" panose="020B0604020202020204" pitchFamily="34" charset="0"/>
                  <a:cs typeface="Arial" panose="020B0604020202020204" pitchFamily="34" charset="0"/>
                </a:rPr>
                <a:t>Connecting entities, people and risk signals across sources can require significant manual investigation.</a:t>
              </a:r>
            </a:p>
          </p:txBody>
        </p:sp>
      </p:grpSp>
      <p:grpSp>
        <p:nvGrpSpPr>
          <p:cNvPr id="26" name="Group 26"/>
          <p:cNvGrpSpPr/>
          <p:nvPr/>
        </p:nvGrpSpPr>
        <p:grpSpPr>
          <a:xfrm>
            <a:off x="4191759" y="4059787"/>
            <a:ext cx="3603850" cy="1895475"/>
            <a:chOff x="6667500" y="2476500"/>
            <a:chExt cx="4286250" cy="2524125"/>
          </a:xfrm>
        </p:grpSpPr>
        <p:sp>
          <p:nvSpPr>
            <p:cNvPr id="15" name="Rectangle 15"/>
            <p:cNvSpPr/>
            <p:nvPr/>
          </p:nvSpPr>
          <p:spPr>
            <a:xfrm>
              <a:off x="6667500" y="2476500"/>
              <a:ext cx="4286250" cy="2524125"/>
            </a:xfrm>
            <a:prstGeom prst="roundRect">
              <a:avLst>
                <a:gd name="adj" fmla="val 9057"/>
              </a:avLst>
            </a:prstGeom>
            <a:solidFill>
              <a:srgbClr val="EEEAE2"/>
            </a:solidFill>
            <a:ln>
              <a:noFill/>
            </a:ln>
          </p:spPr>
          <p:txBody>
            <a:bodyPr/>
            <a:lstStyle/>
            <a:p>
              <a:endParaRPr/>
            </a:p>
          </p:txBody>
        </p:sp>
        <p:sp>
          <p:nvSpPr>
            <p:cNvPr id="16" name="Line 16"/>
            <p:cNvSpPr/>
            <p:nvPr/>
          </p:nvSpPr>
          <p:spPr>
            <a:xfrm>
              <a:off x="7620000" y="3048000"/>
              <a:ext cx="1190625" cy="685800"/>
            </a:xfrm>
            <a:custGeom>
              <a:avLst/>
              <a:gdLst/>
              <a:ahLst/>
              <a:cxnLst/>
              <a:rect l="l" t="t" r="r" b="b"/>
              <a:pathLst>
                <a:path w="1190625" h="685800">
                  <a:moveTo>
                    <a:pt x="1190625" y="685800"/>
                  </a:moveTo>
                  <a:lnTo>
                    <a:pt x="0" y="0"/>
                  </a:lnTo>
                </a:path>
              </a:pathLst>
            </a:custGeom>
            <a:noFill/>
            <a:ln w="28575">
              <a:solidFill>
                <a:srgbClr val="8C6B52"/>
              </a:solidFill>
            </a:ln>
          </p:spPr>
          <p:txBody>
            <a:bodyPr/>
            <a:lstStyle/>
            <a:p>
              <a:endParaRPr/>
            </a:p>
          </p:txBody>
        </p:sp>
        <p:sp>
          <p:nvSpPr>
            <p:cNvPr id="17" name="Line 17"/>
            <p:cNvSpPr/>
            <p:nvPr/>
          </p:nvSpPr>
          <p:spPr>
            <a:xfrm>
              <a:off x="8810625" y="3105150"/>
              <a:ext cx="1190625" cy="628650"/>
            </a:xfrm>
            <a:custGeom>
              <a:avLst/>
              <a:gdLst/>
              <a:ahLst/>
              <a:cxnLst/>
              <a:rect l="l" t="t" r="r" b="b"/>
              <a:pathLst>
                <a:path w="1190625" h="628650">
                  <a:moveTo>
                    <a:pt x="0" y="628650"/>
                  </a:moveTo>
                  <a:lnTo>
                    <a:pt x="1190625" y="0"/>
                  </a:lnTo>
                </a:path>
              </a:pathLst>
            </a:custGeom>
            <a:noFill/>
            <a:ln w="28575">
              <a:solidFill>
                <a:srgbClr val="8C6B52"/>
              </a:solidFill>
            </a:ln>
          </p:spPr>
          <p:txBody>
            <a:bodyPr/>
            <a:lstStyle/>
            <a:p>
              <a:endParaRPr/>
            </a:p>
          </p:txBody>
        </p:sp>
        <p:sp>
          <p:nvSpPr>
            <p:cNvPr id="18" name="Line 18"/>
            <p:cNvSpPr/>
            <p:nvPr/>
          </p:nvSpPr>
          <p:spPr>
            <a:xfrm>
              <a:off x="8810625" y="3733800"/>
              <a:ext cx="1095375" cy="781050"/>
            </a:xfrm>
            <a:custGeom>
              <a:avLst/>
              <a:gdLst/>
              <a:ahLst/>
              <a:cxnLst/>
              <a:rect l="l" t="t" r="r" b="b"/>
              <a:pathLst>
                <a:path w="1095375" h="781050">
                  <a:moveTo>
                    <a:pt x="0" y="0"/>
                  </a:moveTo>
                  <a:lnTo>
                    <a:pt x="1095375" y="781050"/>
                  </a:lnTo>
                </a:path>
              </a:pathLst>
            </a:custGeom>
            <a:noFill/>
            <a:ln w="28575">
              <a:solidFill>
                <a:srgbClr val="8C6B52"/>
              </a:solidFill>
            </a:ln>
          </p:spPr>
          <p:txBody>
            <a:bodyPr/>
            <a:lstStyle/>
            <a:p>
              <a:endParaRPr/>
            </a:p>
          </p:txBody>
        </p:sp>
        <p:sp>
          <p:nvSpPr>
            <p:cNvPr id="19" name="Line 19"/>
            <p:cNvSpPr/>
            <p:nvPr/>
          </p:nvSpPr>
          <p:spPr>
            <a:xfrm>
              <a:off x="7620000" y="3048000"/>
              <a:ext cx="2286000" cy="1466850"/>
            </a:xfrm>
            <a:custGeom>
              <a:avLst/>
              <a:gdLst/>
              <a:ahLst/>
              <a:cxnLst/>
              <a:rect l="l" t="t" r="r" b="b"/>
              <a:pathLst>
                <a:path w="2286000" h="1466850">
                  <a:moveTo>
                    <a:pt x="0" y="0"/>
                  </a:moveTo>
                  <a:lnTo>
                    <a:pt x="2286000" y="1466850"/>
                  </a:lnTo>
                </a:path>
              </a:pathLst>
            </a:custGeom>
            <a:noFill/>
            <a:ln w="28575">
              <a:solidFill>
                <a:srgbClr val="D97745"/>
              </a:solidFill>
              <a:custDash>
                <a:ds d="333333" sp="266666"/>
              </a:custDash>
            </a:ln>
          </p:spPr>
          <p:txBody>
            <a:bodyPr/>
            <a:lstStyle/>
            <a:p>
              <a:endParaRPr/>
            </a:p>
          </p:txBody>
        </p:sp>
        <p:sp>
          <p:nvSpPr>
            <p:cNvPr id="20" name="Ellipse 20"/>
            <p:cNvSpPr/>
            <p:nvPr/>
          </p:nvSpPr>
          <p:spPr>
            <a:xfrm>
              <a:off x="8286750" y="3209925"/>
              <a:ext cx="1047750" cy="1047750"/>
            </a:xfrm>
            <a:prstGeom prst="ellipse">
              <a:avLst/>
            </a:prstGeom>
            <a:solidFill>
              <a:srgbClr val="D97745"/>
            </a:solidFill>
            <a:ln>
              <a:noFill/>
            </a:ln>
          </p:spPr>
          <p:txBody>
            <a:bodyPr/>
            <a:lstStyle/>
            <a:p>
              <a:endParaRPr/>
            </a:p>
          </p:txBody>
        </p:sp>
        <p:sp>
          <p:nvSpPr>
            <p:cNvPr id="21" name="TextBox 21"/>
            <p:cNvSpPr txBox="1"/>
            <p:nvPr/>
          </p:nvSpPr>
          <p:spPr>
            <a:xfrm>
              <a:off x="8452222" y="3646646"/>
              <a:ext cx="716806" cy="278702"/>
            </a:xfrm>
            <a:prstGeom prst="rect">
              <a:avLst/>
            </a:prstGeom>
            <a:noFill/>
            <a:ln>
              <a:noFill/>
            </a:ln>
          </p:spPr>
          <p:txBody>
            <a:bodyPr wrap="none" lIns="0" tIns="0" rIns="0" bIns="0" anchor="t" anchorCtr="0">
              <a:spAutoFit/>
            </a:bodyPr>
            <a:lstStyle/>
            <a:p>
              <a:pPr algn="ctr"/>
              <a:r>
                <a:rPr lang="en-US" sz="1420" b="1" dirty="0">
                  <a:solidFill>
                    <a:srgbClr val="F7F4EE"/>
                  </a:solidFill>
                  <a:latin typeface="Arial"/>
                  <a:ea typeface="Arial"/>
                  <a:cs typeface="Arial"/>
                </a:rPr>
                <a:t>TARGET</a:t>
              </a:r>
            </a:p>
          </p:txBody>
        </p:sp>
        <p:sp>
          <p:nvSpPr>
            <p:cNvPr id="22" name="Ellipse 22"/>
            <p:cNvSpPr/>
            <p:nvPr/>
          </p:nvSpPr>
          <p:spPr>
            <a:xfrm>
              <a:off x="7286625" y="2714625"/>
              <a:ext cx="666750" cy="666750"/>
            </a:xfrm>
            <a:prstGeom prst="ellipse">
              <a:avLst/>
            </a:prstGeom>
            <a:solidFill>
              <a:srgbClr val="1F1F1C"/>
            </a:solidFill>
            <a:ln>
              <a:noFill/>
            </a:ln>
          </p:spPr>
          <p:txBody>
            <a:bodyPr/>
            <a:lstStyle/>
            <a:p>
              <a:endParaRPr/>
            </a:p>
          </p:txBody>
        </p:sp>
        <p:sp>
          <p:nvSpPr>
            <p:cNvPr id="23" name="Ellipse 23"/>
            <p:cNvSpPr/>
            <p:nvPr/>
          </p:nvSpPr>
          <p:spPr>
            <a:xfrm>
              <a:off x="9667875" y="2771775"/>
              <a:ext cx="666750" cy="666750"/>
            </a:xfrm>
            <a:prstGeom prst="ellipse">
              <a:avLst/>
            </a:prstGeom>
            <a:solidFill>
              <a:srgbClr val="8C6B52"/>
            </a:solidFill>
            <a:ln>
              <a:noFill/>
            </a:ln>
          </p:spPr>
          <p:txBody>
            <a:bodyPr/>
            <a:lstStyle/>
            <a:p>
              <a:endParaRPr/>
            </a:p>
          </p:txBody>
        </p:sp>
        <p:sp>
          <p:nvSpPr>
            <p:cNvPr id="24" name="Ellipse 24"/>
            <p:cNvSpPr/>
            <p:nvPr/>
          </p:nvSpPr>
          <p:spPr>
            <a:xfrm>
              <a:off x="9572625" y="4181475"/>
              <a:ext cx="666750" cy="666750"/>
            </a:xfrm>
            <a:prstGeom prst="ellipse">
              <a:avLst/>
            </a:prstGeom>
            <a:solidFill>
              <a:srgbClr val="B85C4C"/>
            </a:solidFill>
            <a:ln>
              <a:noFill/>
            </a:ln>
          </p:spPr>
          <p:txBody>
            <a:bodyPr/>
            <a:lstStyle/>
            <a:p>
              <a:endParaRPr/>
            </a:p>
          </p:txBody>
        </p:sp>
      </p:grpSp>
      <p:grpSp>
        <p:nvGrpSpPr>
          <p:cNvPr id="30" name="Group 30"/>
          <p:cNvGrpSpPr/>
          <p:nvPr/>
        </p:nvGrpSpPr>
        <p:grpSpPr>
          <a:xfrm>
            <a:off x="679704" y="6248400"/>
            <a:ext cx="10832592" cy="409956"/>
            <a:chOff x="679704" y="6248400"/>
            <a:chExt cx="10832592" cy="409956"/>
          </a:xfrm>
        </p:grpSpPr>
        <p:sp>
          <p:nvSpPr>
            <p:cNvPr id="27" name="Line 27"/>
            <p:cNvSpPr/>
            <p:nvPr/>
          </p:nvSpPr>
          <p:spPr>
            <a:xfrm>
              <a:off x="685800" y="6248400"/>
              <a:ext cx="10820400" cy="9525"/>
            </a:xfrm>
            <a:custGeom>
              <a:avLst/>
              <a:gdLst/>
              <a:ahLst/>
              <a:cxnLst/>
              <a:rect l="l" t="t" r="r" b="b"/>
              <a:pathLst>
                <a:path w="10820400" h="9525">
                  <a:moveTo>
                    <a:pt x="0" y="0"/>
                  </a:moveTo>
                  <a:lnTo>
                    <a:pt x="10820400" y="0"/>
                  </a:lnTo>
                </a:path>
              </a:pathLst>
            </a:custGeom>
            <a:noFill/>
            <a:ln w="19050">
              <a:solidFill>
                <a:srgbClr val="D8D1C6"/>
              </a:solidFill>
            </a:ln>
          </p:spPr>
          <p:txBody>
            <a:bodyPr/>
            <a:lstStyle/>
            <a:p>
              <a:endParaRPr/>
            </a:p>
          </p:txBody>
        </p:sp>
        <p:sp>
          <p:nvSpPr>
            <p:cNvPr id="28" name="TextBox 28"/>
            <p:cNvSpPr txBox="1"/>
            <p:nvPr/>
          </p:nvSpPr>
          <p:spPr>
            <a:xfrm>
              <a:off x="679704" y="6423660"/>
              <a:ext cx="2571408" cy="234696"/>
            </a:xfrm>
            <a:prstGeom prst="rect">
              <a:avLst/>
            </a:prstGeom>
            <a:noFill/>
            <a:ln>
              <a:noFill/>
            </a:ln>
          </p:spPr>
          <p:txBody>
            <a:bodyPr wrap="none" lIns="0" tIns="0" rIns="0" bIns="0" anchor="t" anchorCtr="0">
              <a:spAutoFit/>
            </a:bodyPr>
            <a:lstStyle/>
            <a:p>
              <a:pPr algn="l"/>
              <a:r>
                <a:rPr lang="en-US" sz="1200" dirty="0">
                  <a:solidFill>
                    <a:srgbClr val="6B6861"/>
                  </a:solidFill>
                  <a:latin typeface="Arial"/>
                  <a:ea typeface="Arial"/>
                  <a:cs typeface="Arial"/>
                </a:rPr>
                <a:t>Customer Relationship Discovery</a:t>
              </a:r>
            </a:p>
          </p:txBody>
        </p:sp>
        <p:sp>
          <p:nvSpPr>
            <p:cNvPr id="29" name="TextBox 29"/>
            <p:cNvSpPr txBox="1"/>
            <p:nvPr/>
          </p:nvSpPr>
          <p:spPr>
            <a:xfrm>
              <a:off x="10958932" y="6423660"/>
              <a:ext cx="553364" cy="234696"/>
            </a:xfrm>
            <a:prstGeom prst="rect">
              <a:avLst/>
            </a:prstGeom>
            <a:noFill/>
            <a:ln>
              <a:noFill/>
            </a:ln>
          </p:spPr>
          <p:txBody>
            <a:bodyPr wrap="none" lIns="0" tIns="0" rIns="0" bIns="0" anchor="t" anchorCtr="0">
              <a:spAutoFit/>
            </a:bodyPr>
            <a:lstStyle/>
            <a:p>
              <a:pPr algn="r"/>
              <a:r>
                <a:rPr lang="en-US" sz="1200" dirty="0">
                  <a:solidFill>
                    <a:srgbClr val="6B6861"/>
                  </a:solidFill>
                  <a:latin typeface="Arial"/>
                  <a:ea typeface="Arial"/>
                  <a:cs typeface="Arial"/>
                </a:rPr>
                <a:t>02 / 06</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4EE"/>
          </a:solidFill>
          <a:ln>
            <a:noFill/>
          </a:ln>
        </p:spPr>
        <p:txBody>
          <a:bodyPr/>
          <a:lstStyle/>
          <a:p>
            <a:endParaRPr/>
          </a:p>
        </p:txBody>
      </p:sp>
      <p:sp>
        <p:nvSpPr>
          <p:cNvPr id="3" name="Rectangle 3"/>
          <p:cNvSpPr/>
          <p:nvPr/>
        </p:nvSpPr>
        <p:spPr>
          <a:xfrm>
            <a:off x="0" y="0"/>
            <a:ext cx="152400" cy="6858000"/>
          </a:xfrm>
          <a:prstGeom prst="rect">
            <a:avLst/>
          </a:prstGeom>
          <a:solidFill>
            <a:srgbClr val="D97745"/>
          </a:solidFill>
          <a:ln>
            <a:noFill/>
          </a:ln>
        </p:spPr>
        <p:txBody>
          <a:bodyPr/>
          <a:lstStyle/>
          <a:p>
            <a:endParaRPr/>
          </a:p>
        </p:txBody>
      </p:sp>
      <p:grpSp>
        <p:nvGrpSpPr>
          <p:cNvPr id="7" name="Group 7"/>
          <p:cNvGrpSpPr/>
          <p:nvPr/>
        </p:nvGrpSpPr>
        <p:grpSpPr>
          <a:xfrm>
            <a:off x="677037" y="654368"/>
            <a:ext cx="11519957" cy="1420844"/>
            <a:chOff x="677037" y="654368"/>
            <a:chExt cx="11519957" cy="1420844"/>
          </a:xfrm>
        </p:grpSpPr>
        <p:sp>
          <p:nvSpPr>
            <p:cNvPr id="4" name="TextBox 4"/>
            <p:cNvSpPr txBox="1"/>
            <p:nvPr/>
          </p:nvSpPr>
          <p:spPr>
            <a:xfrm>
              <a:off x="678942" y="654368"/>
              <a:ext cx="6054543" cy="492443"/>
            </a:xfrm>
            <a:prstGeom prst="rect">
              <a:avLst/>
            </a:prstGeom>
            <a:noFill/>
            <a:ln>
              <a:noFill/>
            </a:ln>
          </p:spPr>
          <p:txBody>
            <a:bodyPr wrap="none" lIns="0" tIns="0" rIns="0" bIns="0" anchor="t" anchorCtr="0">
              <a:spAutoFit/>
            </a:bodyPr>
            <a:lstStyle/>
            <a:p>
              <a:pPr algn="l"/>
              <a:r>
                <a:rPr lang="en-US" sz="3200" b="1" spc="150" dirty="0">
                  <a:solidFill>
                    <a:srgbClr val="D97745"/>
                  </a:solidFill>
                  <a:latin typeface="Arial"/>
                  <a:ea typeface="Arial"/>
                  <a:cs typeface="Arial"/>
                </a:rPr>
                <a:t>THE PROPOSED SOLUTION:</a:t>
              </a:r>
            </a:p>
          </p:txBody>
        </p:sp>
        <p:sp>
          <p:nvSpPr>
            <p:cNvPr id="5" name="TextBox 5"/>
            <p:cNvSpPr txBox="1"/>
            <p:nvPr/>
          </p:nvSpPr>
          <p:spPr>
            <a:xfrm>
              <a:off x="717423" y="1227868"/>
              <a:ext cx="6363730" cy="369332"/>
            </a:xfrm>
            <a:prstGeom prst="rect">
              <a:avLst/>
            </a:prstGeom>
            <a:noFill/>
            <a:ln>
              <a:noFill/>
            </a:ln>
          </p:spPr>
          <p:txBody>
            <a:bodyPr wrap="none" lIns="0" tIns="0" rIns="0" bIns="0" anchor="t" anchorCtr="0">
              <a:spAutoFit/>
            </a:bodyPr>
            <a:lstStyle/>
            <a:p>
              <a:r>
                <a:rPr sz="2400" b="1" dirty="0">
                  <a:latin typeface="Arial" panose="020B0604020202020204" pitchFamily="34" charset="0"/>
                  <a:cs typeface="Arial" panose="020B0604020202020204" pitchFamily="34" charset="0"/>
                </a:rPr>
                <a:t>Build a customer-</a:t>
              </a:r>
              <a:r>
                <a:rPr sz="2400" b="1" dirty="0" err="1">
                  <a:latin typeface="Arial" panose="020B0604020202020204" pitchFamily="34" charset="0"/>
                  <a:cs typeface="Arial" panose="020B0604020202020204" pitchFamily="34" charset="0"/>
                </a:rPr>
                <a:t>cent</a:t>
              </a:r>
              <a:r>
                <a:rPr lang="en-US" sz="2400" b="1" dirty="0" err="1">
                  <a:latin typeface="Arial" panose="020B0604020202020204" pitchFamily="34" charset="0"/>
                  <a:cs typeface="Arial" panose="020B0604020202020204" pitchFamily="34" charset="0"/>
                </a:rPr>
                <a:t>er</a:t>
              </a:r>
              <a:r>
                <a:rPr sz="2400" b="1" dirty="0" err="1">
                  <a:latin typeface="Arial" panose="020B0604020202020204" pitchFamily="34" charset="0"/>
                  <a:cs typeface="Arial" panose="020B0604020202020204" pitchFamily="34" charset="0"/>
                </a:rPr>
                <a:t>d</a:t>
              </a:r>
              <a:r>
                <a:rPr sz="2400" b="1" dirty="0">
                  <a:latin typeface="Arial" panose="020B0604020202020204" pitchFamily="34" charset="0"/>
                  <a:cs typeface="Arial" panose="020B0604020202020204" pitchFamily="34" charset="0"/>
                </a:rPr>
                <a:t> relationship view.</a:t>
              </a:r>
            </a:p>
          </p:txBody>
        </p:sp>
        <p:sp>
          <p:nvSpPr>
            <p:cNvPr id="6" name="TextBox 6"/>
            <p:cNvSpPr txBox="1"/>
            <p:nvPr/>
          </p:nvSpPr>
          <p:spPr>
            <a:xfrm>
              <a:off x="677037" y="1737836"/>
              <a:ext cx="11519957" cy="337376"/>
            </a:xfrm>
            <a:prstGeom prst="rect">
              <a:avLst/>
            </a:prstGeom>
            <a:noFill/>
            <a:ln>
              <a:noFill/>
            </a:ln>
          </p:spPr>
          <p:txBody>
            <a:bodyPr wrap="none" lIns="0" tIns="0" rIns="0" bIns="0" anchor="t" anchorCtr="0">
              <a:spAutoFit/>
            </a:bodyPr>
            <a:lstStyle/>
            <a:p>
              <a:pPr algn="l"/>
              <a:r>
                <a:rPr lang="en-US" sz="1720" dirty="0">
                  <a:solidFill>
                    <a:srgbClr val="6B6861"/>
                  </a:solidFill>
                  <a:latin typeface="Arial"/>
                  <a:ea typeface="Arial"/>
                  <a:cs typeface="Arial"/>
                </a:rPr>
                <a:t>Combine internal and external data to surface links that are difficult to see from individual records.</a:t>
              </a:r>
            </a:p>
          </p:txBody>
        </p:sp>
      </p:grpSp>
      <p:grpSp>
        <p:nvGrpSpPr>
          <p:cNvPr id="19" name="Group 19"/>
          <p:cNvGrpSpPr/>
          <p:nvPr/>
        </p:nvGrpSpPr>
        <p:grpSpPr>
          <a:xfrm>
            <a:off x="685800" y="2714625"/>
            <a:ext cx="6836439" cy="1762125"/>
            <a:chOff x="685800" y="2714625"/>
            <a:chExt cx="6836439" cy="1762125"/>
          </a:xfrm>
        </p:grpSpPr>
        <p:sp>
          <p:nvSpPr>
            <p:cNvPr id="8" name="Rectangle 8"/>
            <p:cNvSpPr/>
            <p:nvPr/>
          </p:nvSpPr>
          <p:spPr>
            <a:xfrm>
              <a:off x="685800" y="2714625"/>
              <a:ext cx="3000375" cy="1762125"/>
            </a:xfrm>
            <a:prstGeom prst="roundRect">
              <a:avLst>
                <a:gd name="adj" fmla="val 9730"/>
              </a:avLst>
            </a:prstGeom>
            <a:solidFill>
              <a:srgbClr val="EEEAE2"/>
            </a:solidFill>
            <a:ln>
              <a:noFill/>
            </a:ln>
          </p:spPr>
          <p:txBody>
            <a:bodyPr/>
            <a:lstStyle/>
            <a:p>
              <a:endParaRPr/>
            </a:p>
          </p:txBody>
        </p:sp>
        <p:sp>
          <p:nvSpPr>
            <p:cNvPr id="9" name="TextBox 9"/>
            <p:cNvSpPr txBox="1"/>
            <p:nvPr/>
          </p:nvSpPr>
          <p:spPr>
            <a:xfrm>
              <a:off x="983742" y="2968942"/>
              <a:ext cx="959968" cy="264033"/>
            </a:xfrm>
            <a:prstGeom prst="rect">
              <a:avLst/>
            </a:prstGeom>
            <a:noFill/>
            <a:ln>
              <a:noFill/>
            </a:ln>
          </p:spPr>
          <p:txBody>
            <a:bodyPr wrap="none" lIns="0" tIns="0" rIns="0" bIns="0" anchor="t" anchorCtr="0">
              <a:spAutoFit/>
            </a:bodyPr>
            <a:lstStyle/>
            <a:p>
              <a:pPr algn="l"/>
              <a:r>
                <a:rPr lang="en-US" sz="1350" spc="150" dirty="0">
                  <a:solidFill>
                    <a:srgbClr val="D97745"/>
                  </a:solidFill>
                  <a:latin typeface="Arial"/>
                  <a:ea typeface="Arial"/>
                  <a:cs typeface="Arial"/>
                </a:rPr>
                <a:t>INTERNAL</a:t>
              </a:r>
            </a:p>
          </p:txBody>
        </p:sp>
        <p:sp>
          <p:nvSpPr>
            <p:cNvPr id="10" name="TextBox 10"/>
            <p:cNvSpPr txBox="1"/>
            <p:nvPr/>
          </p:nvSpPr>
          <p:spPr>
            <a:xfrm>
              <a:off x="969223" y="3200400"/>
              <a:ext cx="3019806" cy="600164"/>
            </a:xfrm>
            <a:prstGeom prst="rect">
              <a:avLst/>
            </a:prstGeom>
            <a:noFill/>
            <a:ln>
              <a:noFill/>
            </a:ln>
          </p:spPr>
          <p:txBody>
            <a:bodyPr wrap="square" lIns="0" tIns="0" rIns="0" bIns="0" anchor="t" anchorCtr="0">
              <a:spAutoFit/>
            </a:bodyPr>
            <a:lstStyle/>
            <a:p>
              <a:pPr algn="l"/>
              <a:r>
                <a:rPr lang="en-US" sz="1950" b="1" dirty="0">
                  <a:solidFill>
                    <a:srgbClr val="1F1F1C"/>
                  </a:solidFill>
                  <a:latin typeface="Arial"/>
                  <a:ea typeface="Arial"/>
                  <a:cs typeface="Arial"/>
                </a:rPr>
                <a:t>Customer and </a:t>
              </a:r>
              <a:br>
                <a:rPr lang="en-US" sz="1950" b="1" dirty="0">
                  <a:solidFill>
                    <a:srgbClr val="1F1F1C"/>
                  </a:solidFill>
                  <a:latin typeface="Arial"/>
                  <a:ea typeface="Arial"/>
                  <a:cs typeface="Arial"/>
                </a:rPr>
              </a:br>
              <a:r>
                <a:rPr lang="en-US" sz="1950" b="1" dirty="0">
                  <a:solidFill>
                    <a:srgbClr val="1F1F1C"/>
                  </a:solidFill>
                  <a:latin typeface="Arial"/>
                  <a:ea typeface="Arial"/>
                  <a:cs typeface="Arial"/>
                </a:rPr>
                <a:t>entity data</a:t>
              </a:r>
            </a:p>
          </p:txBody>
        </p:sp>
        <p:sp>
          <p:nvSpPr>
            <p:cNvPr id="11" name="TextBox 11"/>
            <p:cNvSpPr txBox="1"/>
            <p:nvPr/>
          </p:nvSpPr>
          <p:spPr>
            <a:xfrm>
              <a:off x="982980" y="3771900"/>
              <a:ext cx="1756891" cy="230832"/>
            </a:xfrm>
            <a:prstGeom prst="rect">
              <a:avLst/>
            </a:prstGeom>
            <a:noFill/>
            <a:ln>
              <a:noFill/>
            </a:ln>
          </p:spPr>
          <p:txBody>
            <a:bodyPr wrap="none" lIns="0" tIns="0" rIns="0" bIns="0" anchor="t" anchorCtr="0">
              <a:spAutoFit/>
            </a:bodyPr>
            <a:lstStyle/>
            <a:p>
              <a:pPr algn="l"/>
              <a:r>
                <a:rPr lang="en-US" sz="1500" dirty="0">
                  <a:solidFill>
                    <a:srgbClr val="6B6861"/>
                  </a:solidFill>
                  <a:latin typeface="Arial"/>
                  <a:ea typeface="Arial"/>
                  <a:cs typeface="Arial"/>
                </a:rPr>
                <a:t>Registration, owners</a:t>
              </a:r>
            </a:p>
          </p:txBody>
        </p:sp>
        <p:sp>
          <p:nvSpPr>
            <p:cNvPr id="12" name="TextBox 12"/>
            <p:cNvSpPr txBox="1"/>
            <p:nvPr/>
          </p:nvSpPr>
          <p:spPr>
            <a:xfrm>
              <a:off x="982980" y="4048125"/>
              <a:ext cx="2757845" cy="293370"/>
            </a:xfrm>
            <a:prstGeom prst="rect">
              <a:avLst/>
            </a:prstGeom>
            <a:noFill/>
            <a:ln>
              <a:noFill/>
            </a:ln>
          </p:spPr>
          <p:txBody>
            <a:bodyPr wrap="none" lIns="0" tIns="0" rIns="0" bIns="0" anchor="t" anchorCtr="0">
              <a:spAutoFit/>
            </a:bodyPr>
            <a:lstStyle/>
            <a:p>
              <a:pPr algn="l"/>
              <a:r>
                <a:rPr lang="en-US" sz="1500" dirty="0">
                  <a:solidFill>
                    <a:srgbClr val="6B6861"/>
                  </a:solidFill>
                  <a:latin typeface="Arial"/>
                  <a:ea typeface="Arial"/>
                  <a:cs typeface="Arial"/>
                </a:rPr>
                <a:t>Addresses and transactions</a:t>
              </a:r>
            </a:p>
          </p:txBody>
        </p:sp>
        <p:sp>
          <p:nvSpPr>
            <p:cNvPr id="13" name="TextBox 13"/>
            <p:cNvSpPr txBox="1"/>
            <p:nvPr/>
          </p:nvSpPr>
          <p:spPr>
            <a:xfrm>
              <a:off x="3994023" y="3327082"/>
              <a:ext cx="265233" cy="616077"/>
            </a:xfrm>
            <a:prstGeom prst="rect">
              <a:avLst/>
            </a:prstGeom>
            <a:noFill/>
            <a:ln>
              <a:noFill/>
            </a:ln>
          </p:spPr>
          <p:txBody>
            <a:bodyPr wrap="none" lIns="0" tIns="0" rIns="0" bIns="0" anchor="t" anchorCtr="0">
              <a:spAutoFit/>
            </a:bodyPr>
            <a:lstStyle/>
            <a:p>
              <a:pPr algn="l"/>
              <a:r>
                <a:rPr lang="en-US" sz="3150" dirty="0">
                  <a:solidFill>
                    <a:srgbClr val="D97745"/>
                  </a:solidFill>
                  <a:latin typeface="Arial"/>
                  <a:ea typeface="Arial"/>
                  <a:cs typeface="Arial"/>
                </a:rPr>
                <a:t>+</a:t>
              </a:r>
            </a:p>
          </p:txBody>
        </p:sp>
        <p:sp>
          <p:nvSpPr>
            <p:cNvPr id="14" name="Rectangle 14"/>
            <p:cNvSpPr/>
            <p:nvPr/>
          </p:nvSpPr>
          <p:spPr>
            <a:xfrm>
              <a:off x="4476750" y="2714625"/>
              <a:ext cx="3000375" cy="1762125"/>
            </a:xfrm>
            <a:prstGeom prst="roundRect">
              <a:avLst>
                <a:gd name="adj" fmla="val 9730"/>
              </a:avLst>
            </a:prstGeom>
            <a:solidFill>
              <a:srgbClr val="EEEAE2"/>
            </a:solidFill>
            <a:ln>
              <a:noFill/>
            </a:ln>
          </p:spPr>
          <p:txBody>
            <a:bodyPr/>
            <a:lstStyle/>
            <a:p>
              <a:endParaRPr/>
            </a:p>
          </p:txBody>
        </p:sp>
        <p:sp>
          <p:nvSpPr>
            <p:cNvPr id="15" name="TextBox 15"/>
            <p:cNvSpPr txBox="1"/>
            <p:nvPr/>
          </p:nvSpPr>
          <p:spPr>
            <a:xfrm>
              <a:off x="4774692" y="2968942"/>
              <a:ext cx="1007974" cy="264033"/>
            </a:xfrm>
            <a:prstGeom prst="rect">
              <a:avLst/>
            </a:prstGeom>
            <a:noFill/>
            <a:ln>
              <a:noFill/>
            </a:ln>
          </p:spPr>
          <p:txBody>
            <a:bodyPr wrap="none" lIns="0" tIns="0" rIns="0" bIns="0" anchor="t" anchorCtr="0">
              <a:spAutoFit/>
            </a:bodyPr>
            <a:lstStyle/>
            <a:p>
              <a:pPr algn="l"/>
              <a:r>
                <a:rPr lang="en-US" sz="1350" spc="150" dirty="0">
                  <a:solidFill>
                    <a:srgbClr val="D97745"/>
                  </a:solidFill>
                  <a:latin typeface="Arial"/>
                  <a:ea typeface="Arial"/>
                  <a:cs typeface="Arial"/>
                </a:rPr>
                <a:t>EXTERNAL</a:t>
              </a:r>
            </a:p>
          </p:txBody>
        </p:sp>
        <p:sp>
          <p:nvSpPr>
            <p:cNvPr id="16" name="TextBox 16"/>
            <p:cNvSpPr txBox="1"/>
            <p:nvPr/>
          </p:nvSpPr>
          <p:spPr>
            <a:xfrm>
              <a:off x="4771644" y="3212566"/>
              <a:ext cx="1585370" cy="600164"/>
            </a:xfrm>
            <a:prstGeom prst="rect">
              <a:avLst/>
            </a:prstGeom>
            <a:noFill/>
            <a:ln>
              <a:noFill/>
            </a:ln>
          </p:spPr>
          <p:txBody>
            <a:bodyPr wrap="none" lIns="0" tIns="0" rIns="0" bIns="0" anchor="t" anchorCtr="0">
              <a:spAutoFit/>
            </a:bodyPr>
            <a:lstStyle/>
            <a:p>
              <a:pPr algn="l"/>
              <a:r>
                <a:rPr lang="en-US" sz="1950" b="1" dirty="0">
                  <a:solidFill>
                    <a:srgbClr val="1F1F1C"/>
                  </a:solidFill>
                  <a:latin typeface="Arial"/>
                  <a:ea typeface="Arial"/>
                  <a:cs typeface="Arial"/>
                </a:rPr>
                <a:t>Moody's and </a:t>
              </a:r>
              <a:br>
                <a:rPr lang="en-US" sz="1950" b="1" dirty="0">
                  <a:solidFill>
                    <a:srgbClr val="1F1F1C"/>
                  </a:solidFill>
                  <a:latin typeface="Arial"/>
                  <a:ea typeface="Arial"/>
                  <a:cs typeface="Arial"/>
                </a:rPr>
              </a:br>
              <a:r>
                <a:rPr lang="en-US" sz="1950" b="1" dirty="0">
                  <a:solidFill>
                    <a:srgbClr val="1F1F1C"/>
                  </a:solidFill>
                  <a:latin typeface="Arial"/>
                  <a:ea typeface="Arial"/>
                  <a:cs typeface="Arial"/>
                </a:rPr>
                <a:t>public data</a:t>
              </a:r>
            </a:p>
          </p:txBody>
        </p:sp>
        <p:sp>
          <p:nvSpPr>
            <p:cNvPr id="17" name="TextBox 17"/>
            <p:cNvSpPr txBox="1"/>
            <p:nvPr/>
          </p:nvSpPr>
          <p:spPr>
            <a:xfrm>
              <a:off x="4773930" y="3771900"/>
              <a:ext cx="2748309" cy="293370"/>
            </a:xfrm>
            <a:prstGeom prst="rect">
              <a:avLst/>
            </a:prstGeom>
            <a:noFill/>
            <a:ln>
              <a:noFill/>
            </a:ln>
          </p:spPr>
          <p:txBody>
            <a:bodyPr wrap="none" lIns="0" tIns="0" rIns="0" bIns="0" anchor="t" anchorCtr="0">
              <a:spAutoFit/>
            </a:bodyPr>
            <a:lstStyle/>
            <a:p>
              <a:pPr algn="l"/>
              <a:r>
                <a:rPr lang="en-US" sz="1500" dirty="0">
                  <a:solidFill>
                    <a:srgbClr val="6B6861"/>
                  </a:solidFill>
                  <a:latin typeface="Arial"/>
                  <a:ea typeface="Arial"/>
                  <a:cs typeface="Arial"/>
                </a:rPr>
                <a:t>News, reports, disclosures</a:t>
              </a:r>
            </a:p>
          </p:txBody>
        </p:sp>
        <p:sp>
          <p:nvSpPr>
            <p:cNvPr id="18" name="TextBox 18"/>
            <p:cNvSpPr txBox="1"/>
            <p:nvPr/>
          </p:nvSpPr>
          <p:spPr>
            <a:xfrm>
              <a:off x="4773930" y="4048125"/>
              <a:ext cx="2656912" cy="293370"/>
            </a:xfrm>
            <a:prstGeom prst="rect">
              <a:avLst/>
            </a:prstGeom>
            <a:noFill/>
            <a:ln>
              <a:noFill/>
            </a:ln>
          </p:spPr>
          <p:txBody>
            <a:bodyPr wrap="none" lIns="0" tIns="0" rIns="0" bIns="0" anchor="t" anchorCtr="0">
              <a:spAutoFit/>
            </a:bodyPr>
            <a:lstStyle/>
            <a:p>
              <a:pPr algn="l"/>
              <a:r>
                <a:rPr lang="en-US" sz="1500" dirty="0">
                  <a:solidFill>
                    <a:srgbClr val="6B6861"/>
                  </a:solidFill>
                  <a:latin typeface="Arial"/>
                  <a:ea typeface="Arial"/>
                  <a:cs typeface="Arial"/>
                </a:rPr>
                <a:t>Risk and sanctions sources</a:t>
              </a:r>
            </a:p>
          </p:txBody>
        </p:sp>
      </p:grpSp>
      <p:grpSp>
        <p:nvGrpSpPr>
          <p:cNvPr id="27" name="Group 27"/>
          <p:cNvGrpSpPr/>
          <p:nvPr/>
        </p:nvGrpSpPr>
        <p:grpSpPr>
          <a:xfrm>
            <a:off x="7762875" y="2590800"/>
            <a:ext cx="3133725" cy="2000250"/>
            <a:chOff x="7762875" y="2590800"/>
            <a:chExt cx="3133725" cy="2000250"/>
          </a:xfrm>
        </p:grpSpPr>
        <p:sp>
          <p:nvSpPr>
            <p:cNvPr id="20" name="Line 20"/>
            <p:cNvSpPr/>
            <p:nvPr/>
          </p:nvSpPr>
          <p:spPr>
            <a:xfrm>
              <a:off x="7762875" y="3590925"/>
              <a:ext cx="571500" cy="9525"/>
            </a:xfrm>
            <a:custGeom>
              <a:avLst/>
              <a:gdLst/>
              <a:ahLst/>
              <a:cxnLst/>
              <a:rect l="l" t="t" r="r" b="b"/>
              <a:pathLst>
                <a:path w="571500" h="9525">
                  <a:moveTo>
                    <a:pt x="0" y="0"/>
                  </a:moveTo>
                  <a:lnTo>
                    <a:pt x="571500" y="0"/>
                  </a:lnTo>
                </a:path>
              </a:pathLst>
            </a:custGeom>
            <a:noFill/>
            <a:ln w="38100">
              <a:solidFill>
                <a:srgbClr val="D97745"/>
              </a:solidFill>
            </a:ln>
          </p:spPr>
          <p:txBody>
            <a:bodyPr/>
            <a:lstStyle/>
            <a:p>
              <a:endParaRPr/>
            </a:p>
          </p:txBody>
        </p:sp>
        <p:sp>
          <p:nvSpPr>
            <p:cNvPr id="21" name="Ellipse 21"/>
            <p:cNvSpPr/>
            <p:nvPr/>
          </p:nvSpPr>
          <p:spPr>
            <a:xfrm>
              <a:off x="8810625" y="2590800"/>
              <a:ext cx="2000250" cy="2000250"/>
            </a:xfrm>
            <a:prstGeom prst="ellipse">
              <a:avLst/>
            </a:prstGeom>
            <a:solidFill>
              <a:srgbClr val="1F1F1C"/>
            </a:solidFill>
            <a:ln>
              <a:noFill/>
            </a:ln>
          </p:spPr>
          <p:txBody>
            <a:bodyPr/>
            <a:lstStyle/>
            <a:p>
              <a:endParaRPr/>
            </a:p>
          </p:txBody>
        </p:sp>
        <p:sp>
          <p:nvSpPr>
            <p:cNvPr id="22" name="Ellipse 22"/>
            <p:cNvSpPr/>
            <p:nvPr/>
          </p:nvSpPr>
          <p:spPr>
            <a:xfrm>
              <a:off x="9372600" y="3152775"/>
              <a:ext cx="876300" cy="876300"/>
            </a:xfrm>
            <a:prstGeom prst="ellipse">
              <a:avLst/>
            </a:prstGeom>
            <a:solidFill>
              <a:srgbClr val="D97745"/>
            </a:solidFill>
            <a:ln>
              <a:noFill/>
            </a:ln>
          </p:spPr>
          <p:txBody>
            <a:bodyPr/>
            <a:lstStyle/>
            <a:p>
              <a:endParaRPr/>
            </a:p>
          </p:txBody>
        </p:sp>
        <p:sp>
          <p:nvSpPr>
            <p:cNvPr id="23" name="Ellipse 23"/>
            <p:cNvSpPr/>
            <p:nvPr/>
          </p:nvSpPr>
          <p:spPr>
            <a:xfrm>
              <a:off x="8715375" y="2752725"/>
              <a:ext cx="438150" cy="438150"/>
            </a:xfrm>
            <a:prstGeom prst="ellipse">
              <a:avLst/>
            </a:prstGeom>
            <a:solidFill>
              <a:srgbClr val="8C6B52"/>
            </a:solidFill>
            <a:ln>
              <a:noFill/>
            </a:ln>
          </p:spPr>
          <p:txBody>
            <a:bodyPr/>
            <a:lstStyle/>
            <a:p>
              <a:endParaRPr/>
            </a:p>
          </p:txBody>
        </p:sp>
        <p:sp>
          <p:nvSpPr>
            <p:cNvPr id="24" name="Ellipse 24"/>
            <p:cNvSpPr/>
            <p:nvPr/>
          </p:nvSpPr>
          <p:spPr>
            <a:xfrm>
              <a:off x="10458450" y="2847975"/>
              <a:ext cx="438150" cy="438150"/>
            </a:xfrm>
            <a:prstGeom prst="ellipse">
              <a:avLst/>
            </a:prstGeom>
            <a:solidFill>
              <a:srgbClr val="4E8068"/>
            </a:solidFill>
            <a:ln>
              <a:noFill/>
            </a:ln>
          </p:spPr>
          <p:txBody>
            <a:bodyPr/>
            <a:lstStyle/>
            <a:p>
              <a:endParaRPr/>
            </a:p>
          </p:txBody>
        </p:sp>
        <p:sp>
          <p:nvSpPr>
            <p:cNvPr id="25" name="Ellipse 25"/>
            <p:cNvSpPr/>
            <p:nvPr/>
          </p:nvSpPr>
          <p:spPr>
            <a:xfrm>
              <a:off x="10391775" y="4114800"/>
              <a:ext cx="438150" cy="438150"/>
            </a:xfrm>
            <a:prstGeom prst="ellipse">
              <a:avLst/>
            </a:prstGeom>
            <a:solidFill>
              <a:srgbClr val="B85C4C"/>
            </a:solidFill>
            <a:ln>
              <a:noFill/>
            </a:ln>
          </p:spPr>
          <p:txBody>
            <a:bodyPr/>
            <a:lstStyle/>
            <a:p>
              <a:endParaRPr/>
            </a:p>
          </p:txBody>
        </p:sp>
        <p:sp>
          <p:nvSpPr>
            <p:cNvPr id="26" name="TextBox 26"/>
            <p:cNvSpPr txBox="1"/>
            <p:nvPr/>
          </p:nvSpPr>
          <p:spPr>
            <a:xfrm>
              <a:off x="9490074" y="3519964"/>
              <a:ext cx="641353" cy="249364"/>
            </a:xfrm>
            <a:prstGeom prst="rect">
              <a:avLst/>
            </a:prstGeom>
            <a:noFill/>
            <a:ln>
              <a:noFill/>
            </a:ln>
          </p:spPr>
          <p:txBody>
            <a:bodyPr wrap="none" lIns="0" tIns="0" rIns="0" bIns="0" anchor="t" anchorCtr="0">
              <a:spAutoFit/>
            </a:bodyPr>
            <a:lstStyle/>
            <a:p>
              <a:pPr algn="ctr"/>
              <a:r>
                <a:rPr lang="en-US" sz="1280" b="1" dirty="0">
                  <a:solidFill>
                    <a:srgbClr val="F7F4EE"/>
                  </a:solidFill>
                  <a:latin typeface="Arial"/>
                  <a:ea typeface="Arial"/>
                  <a:cs typeface="Arial"/>
                </a:rPr>
                <a:t>TARGET</a:t>
              </a:r>
            </a:p>
          </p:txBody>
        </p:sp>
      </p:grpSp>
      <p:grpSp>
        <p:nvGrpSpPr>
          <p:cNvPr id="32" name="Group 32"/>
          <p:cNvGrpSpPr/>
          <p:nvPr/>
        </p:nvGrpSpPr>
        <p:grpSpPr>
          <a:xfrm>
            <a:off x="677037" y="5188268"/>
            <a:ext cx="10036518" cy="754094"/>
            <a:chOff x="677037" y="5188268"/>
            <a:chExt cx="10036518" cy="754094"/>
          </a:xfrm>
        </p:grpSpPr>
        <p:sp>
          <p:nvSpPr>
            <p:cNvPr id="28" name="TextBox 28"/>
            <p:cNvSpPr txBox="1"/>
            <p:nvPr/>
          </p:nvSpPr>
          <p:spPr>
            <a:xfrm>
              <a:off x="678942" y="5188268"/>
              <a:ext cx="3234027" cy="246221"/>
            </a:xfrm>
            <a:prstGeom prst="rect">
              <a:avLst/>
            </a:prstGeom>
            <a:noFill/>
            <a:ln>
              <a:noFill/>
            </a:ln>
          </p:spPr>
          <p:txBody>
            <a:bodyPr wrap="none" lIns="0" tIns="0" rIns="0" bIns="0" anchor="t" anchorCtr="0">
              <a:spAutoFit/>
            </a:bodyPr>
            <a:lstStyle/>
            <a:p>
              <a:pPr algn="l"/>
              <a:r>
                <a:rPr lang="en-US" sz="1600" spc="150" dirty="0">
                  <a:solidFill>
                    <a:srgbClr val="D97745"/>
                  </a:solidFill>
                  <a:latin typeface="Arial"/>
                  <a:ea typeface="Arial"/>
                  <a:cs typeface="Arial"/>
                </a:rPr>
                <a:t>INVESTIGATION OUTCOMES</a:t>
              </a:r>
            </a:p>
          </p:txBody>
        </p:sp>
        <p:sp>
          <p:nvSpPr>
            <p:cNvPr id="29" name="TextBox 29"/>
            <p:cNvSpPr txBox="1"/>
            <p:nvPr/>
          </p:nvSpPr>
          <p:spPr>
            <a:xfrm>
              <a:off x="677037" y="5604986"/>
              <a:ext cx="4645379" cy="337376"/>
            </a:xfrm>
            <a:prstGeom prst="rect">
              <a:avLst/>
            </a:prstGeom>
            <a:noFill/>
            <a:ln>
              <a:noFill/>
            </a:ln>
          </p:spPr>
          <p:txBody>
            <a:bodyPr wrap="none" lIns="0" tIns="0" rIns="0" bIns="0" anchor="t" anchorCtr="0">
              <a:spAutoFit/>
            </a:bodyPr>
            <a:lstStyle/>
            <a:p>
              <a:pPr algn="l"/>
              <a:r>
                <a:rPr dirty="0"/>
                <a:t>Potential related-party leads</a:t>
              </a:r>
            </a:p>
          </p:txBody>
        </p:sp>
        <p:sp>
          <p:nvSpPr>
            <p:cNvPr id="30" name="TextBox 30"/>
            <p:cNvSpPr txBox="1"/>
            <p:nvPr/>
          </p:nvSpPr>
          <p:spPr>
            <a:xfrm>
              <a:off x="4017942" y="5604986"/>
              <a:ext cx="2865460" cy="337376"/>
            </a:xfrm>
            <a:prstGeom prst="rect">
              <a:avLst/>
            </a:prstGeom>
            <a:noFill/>
            <a:ln>
              <a:noFill/>
            </a:ln>
          </p:spPr>
          <p:txBody>
            <a:bodyPr wrap="none" lIns="0" tIns="0" rIns="0" bIns="0" anchor="t" anchorCtr="0">
              <a:spAutoFit/>
            </a:bodyPr>
            <a:lstStyle/>
            <a:p>
              <a:pPr algn="l"/>
              <a:r>
                <a:rPr dirty="0"/>
                <a:t>Indirect counterparty connections</a:t>
              </a:r>
            </a:p>
          </p:txBody>
        </p:sp>
        <p:sp>
          <p:nvSpPr>
            <p:cNvPr id="31" name="TextBox 31"/>
            <p:cNvSpPr txBox="1"/>
            <p:nvPr/>
          </p:nvSpPr>
          <p:spPr>
            <a:xfrm>
              <a:off x="7896987" y="5604986"/>
              <a:ext cx="2816568" cy="337376"/>
            </a:xfrm>
            <a:prstGeom prst="rect">
              <a:avLst/>
            </a:prstGeom>
            <a:noFill/>
            <a:ln>
              <a:noFill/>
            </a:ln>
          </p:spPr>
          <p:txBody>
            <a:bodyPr wrap="none" lIns="0" tIns="0" rIns="0" bIns="0" anchor="t" anchorCtr="0">
              <a:spAutoFit/>
            </a:bodyPr>
            <a:lstStyle/>
            <a:p>
              <a:pPr algn="l"/>
              <a:r>
                <a:t>Connected risk investigation leads</a:t>
              </a:r>
            </a:p>
          </p:txBody>
        </p:sp>
      </p:grpSp>
      <p:grpSp>
        <p:nvGrpSpPr>
          <p:cNvPr id="36" name="Group 36"/>
          <p:cNvGrpSpPr/>
          <p:nvPr/>
        </p:nvGrpSpPr>
        <p:grpSpPr>
          <a:xfrm>
            <a:off x="679704" y="6248400"/>
            <a:ext cx="10832592" cy="409956"/>
            <a:chOff x="679704" y="6248400"/>
            <a:chExt cx="10832592" cy="409956"/>
          </a:xfrm>
        </p:grpSpPr>
        <p:sp>
          <p:nvSpPr>
            <p:cNvPr id="33" name="Line 33"/>
            <p:cNvSpPr/>
            <p:nvPr/>
          </p:nvSpPr>
          <p:spPr>
            <a:xfrm>
              <a:off x="685800" y="6248400"/>
              <a:ext cx="10820400" cy="9525"/>
            </a:xfrm>
            <a:custGeom>
              <a:avLst/>
              <a:gdLst/>
              <a:ahLst/>
              <a:cxnLst/>
              <a:rect l="l" t="t" r="r" b="b"/>
              <a:pathLst>
                <a:path w="10820400" h="9525">
                  <a:moveTo>
                    <a:pt x="0" y="0"/>
                  </a:moveTo>
                  <a:lnTo>
                    <a:pt x="10820400" y="0"/>
                  </a:lnTo>
                </a:path>
              </a:pathLst>
            </a:custGeom>
            <a:noFill/>
            <a:ln w="19050">
              <a:solidFill>
                <a:srgbClr val="D8D1C6"/>
              </a:solidFill>
            </a:ln>
          </p:spPr>
          <p:txBody>
            <a:bodyPr/>
            <a:lstStyle/>
            <a:p>
              <a:endParaRPr/>
            </a:p>
          </p:txBody>
        </p:sp>
        <p:sp>
          <p:nvSpPr>
            <p:cNvPr id="34" name="TextBox 34"/>
            <p:cNvSpPr txBox="1"/>
            <p:nvPr/>
          </p:nvSpPr>
          <p:spPr>
            <a:xfrm>
              <a:off x="679704" y="6423660"/>
              <a:ext cx="2571408" cy="234696"/>
            </a:xfrm>
            <a:prstGeom prst="rect">
              <a:avLst/>
            </a:prstGeom>
            <a:noFill/>
            <a:ln>
              <a:noFill/>
            </a:ln>
          </p:spPr>
          <p:txBody>
            <a:bodyPr wrap="none" lIns="0" tIns="0" rIns="0" bIns="0" anchor="t" anchorCtr="0">
              <a:spAutoFit/>
            </a:bodyPr>
            <a:lstStyle/>
            <a:p>
              <a:pPr algn="l"/>
              <a:r>
                <a:rPr lang="en-US" sz="1200" dirty="0">
                  <a:solidFill>
                    <a:srgbClr val="6B6861"/>
                  </a:solidFill>
                  <a:latin typeface="Arial"/>
                  <a:ea typeface="Arial"/>
                  <a:cs typeface="Arial"/>
                </a:rPr>
                <a:t>Customer Relationship Discovery</a:t>
              </a:r>
            </a:p>
          </p:txBody>
        </p:sp>
        <p:sp>
          <p:nvSpPr>
            <p:cNvPr id="35" name="TextBox 35"/>
            <p:cNvSpPr txBox="1"/>
            <p:nvPr/>
          </p:nvSpPr>
          <p:spPr>
            <a:xfrm>
              <a:off x="10958932" y="6423660"/>
              <a:ext cx="553364" cy="234696"/>
            </a:xfrm>
            <a:prstGeom prst="rect">
              <a:avLst/>
            </a:prstGeom>
            <a:noFill/>
            <a:ln>
              <a:noFill/>
            </a:ln>
          </p:spPr>
          <p:txBody>
            <a:bodyPr wrap="none" lIns="0" tIns="0" rIns="0" bIns="0" anchor="t" anchorCtr="0">
              <a:spAutoFit/>
            </a:bodyPr>
            <a:lstStyle/>
            <a:p>
              <a:pPr algn="r"/>
              <a:r>
                <a:rPr lang="en-US" sz="1200" dirty="0">
                  <a:solidFill>
                    <a:srgbClr val="6B6861"/>
                  </a:solidFill>
                  <a:latin typeface="Arial"/>
                  <a:ea typeface="Arial"/>
                  <a:cs typeface="Arial"/>
                </a:rPr>
                <a:t>03 / 06</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4EE"/>
          </a:solidFill>
          <a:ln>
            <a:noFill/>
          </a:ln>
        </p:spPr>
        <p:txBody>
          <a:bodyPr/>
          <a:lstStyle/>
          <a:p>
            <a:endParaRPr/>
          </a:p>
        </p:txBody>
      </p:sp>
      <p:sp>
        <p:nvSpPr>
          <p:cNvPr id="3" name="Rectangle 3"/>
          <p:cNvSpPr/>
          <p:nvPr/>
        </p:nvSpPr>
        <p:spPr>
          <a:xfrm>
            <a:off x="0" y="0"/>
            <a:ext cx="152400" cy="6858000"/>
          </a:xfrm>
          <a:prstGeom prst="rect">
            <a:avLst/>
          </a:prstGeom>
          <a:solidFill>
            <a:srgbClr val="D97745"/>
          </a:solidFill>
          <a:ln>
            <a:noFill/>
          </a:ln>
        </p:spPr>
        <p:txBody>
          <a:bodyPr/>
          <a:lstStyle/>
          <a:p>
            <a:endParaRPr/>
          </a:p>
        </p:txBody>
      </p:sp>
      <p:grpSp>
        <p:nvGrpSpPr>
          <p:cNvPr id="8" name="Group 8"/>
          <p:cNvGrpSpPr/>
          <p:nvPr/>
        </p:nvGrpSpPr>
        <p:grpSpPr>
          <a:xfrm>
            <a:off x="584454" y="499110"/>
            <a:ext cx="11874246" cy="1196340"/>
            <a:chOff x="584454" y="499110"/>
            <a:chExt cx="11874246" cy="1196340"/>
          </a:xfrm>
        </p:grpSpPr>
        <p:sp>
          <p:nvSpPr>
            <p:cNvPr id="4" name="TextBox 4"/>
            <p:cNvSpPr txBox="1"/>
            <p:nvPr/>
          </p:nvSpPr>
          <p:spPr>
            <a:xfrm>
              <a:off x="584454" y="499110"/>
              <a:ext cx="7116628" cy="492443"/>
            </a:xfrm>
            <a:prstGeom prst="rect">
              <a:avLst/>
            </a:prstGeom>
            <a:noFill/>
            <a:ln>
              <a:noFill/>
            </a:ln>
          </p:spPr>
          <p:txBody>
            <a:bodyPr wrap="none" lIns="0" tIns="0" rIns="0" bIns="0" anchor="t" anchorCtr="0">
              <a:spAutoFit/>
            </a:bodyPr>
            <a:lstStyle/>
            <a:p>
              <a:pPr algn="l"/>
              <a:r>
                <a:rPr lang="en-US" sz="3200" b="1" spc="150" dirty="0">
                  <a:solidFill>
                    <a:srgbClr val="D97745"/>
                  </a:solidFill>
                  <a:latin typeface="Arial"/>
                  <a:ea typeface="Arial"/>
                  <a:cs typeface="Arial"/>
                </a:rPr>
                <a:t>THE EXPLORATORY PROTOTYPE</a:t>
              </a:r>
            </a:p>
          </p:txBody>
        </p:sp>
        <p:sp>
          <p:nvSpPr>
            <p:cNvPr id="5" name="TextBox 5"/>
            <p:cNvSpPr txBox="1"/>
            <p:nvPr/>
          </p:nvSpPr>
          <p:spPr>
            <a:xfrm>
              <a:off x="640169" y="991553"/>
              <a:ext cx="65" cy="276999"/>
            </a:xfrm>
            <a:prstGeom prst="rect">
              <a:avLst/>
            </a:prstGeom>
            <a:noFill/>
            <a:ln>
              <a:noFill/>
            </a:ln>
          </p:spPr>
          <p:txBody>
            <a:bodyPr wrap="none" lIns="0" tIns="0" rIns="0" bIns="0" anchor="t" anchorCtr="0">
              <a:spAutoFit/>
            </a:bodyPr>
            <a:lstStyle/>
            <a:p>
              <a:endParaRPr dirty="0"/>
            </a:p>
          </p:txBody>
        </p:sp>
        <p:sp>
          <p:nvSpPr>
            <p:cNvPr id="6" name="Rectangle 6"/>
            <p:cNvSpPr/>
            <p:nvPr/>
          </p:nvSpPr>
          <p:spPr>
            <a:xfrm>
              <a:off x="590550" y="1333500"/>
              <a:ext cx="11029950" cy="361950"/>
            </a:xfrm>
            <a:prstGeom prst="roundRect">
              <a:avLst>
                <a:gd name="adj" fmla="val 26316"/>
              </a:avLst>
            </a:prstGeom>
            <a:solidFill>
              <a:srgbClr val="EEEAE2"/>
            </a:solidFill>
            <a:ln>
              <a:noFill/>
            </a:ln>
          </p:spPr>
          <p:txBody>
            <a:bodyPr/>
            <a:lstStyle/>
            <a:p>
              <a:endParaRPr/>
            </a:p>
          </p:txBody>
        </p:sp>
        <p:sp>
          <p:nvSpPr>
            <p:cNvPr id="7" name="TextBox 7"/>
            <p:cNvSpPr txBox="1"/>
            <p:nvPr/>
          </p:nvSpPr>
          <p:spPr>
            <a:xfrm>
              <a:off x="774954" y="1340484"/>
              <a:ext cx="11683746" cy="276999"/>
            </a:xfrm>
            <a:prstGeom prst="rect">
              <a:avLst/>
            </a:prstGeom>
            <a:noFill/>
            <a:ln>
              <a:noFill/>
            </a:ln>
          </p:spPr>
          <p:txBody>
            <a:bodyPr wrap="square" lIns="0" tIns="0" rIns="0" bIns="0" anchor="t" anchorCtr="0">
              <a:spAutoFit/>
            </a:bodyPr>
            <a:lstStyle/>
            <a:p>
              <a:r>
                <a:rPr lang="en-US" altLang="zh-CN" dirty="0"/>
                <a:t>Public sources are connected into an evidence-backed relationship view</a:t>
              </a:r>
              <a:r>
                <a:rPr dirty="0"/>
                <a:t>; no internal or licensed data is used.</a:t>
              </a:r>
            </a:p>
          </p:txBody>
        </p:sp>
      </p:grpSp>
      <p:grpSp>
        <p:nvGrpSpPr>
          <p:cNvPr id="23" name="Group 23"/>
          <p:cNvGrpSpPr/>
          <p:nvPr/>
        </p:nvGrpSpPr>
        <p:grpSpPr>
          <a:xfrm>
            <a:off x="565494" y="2019300"/>
            <a:ext cx="2179149" cy="3333750"/>
            <a:chOff x="590550" y="2019300"/>
            <a:chExt cx="2179149" cy="3333750"/>
          </a:xfrm>
        </p:grpSpPr>
        <p:sp>
          <p:nvSpPr>
            <p:cNvPr id="9" name="Rectangle 9"/>
            <p:cNvSpPr/>
            <p:nvPr/>
          </p:nvSpPr>
          <p:spPr>
            <a:xfrm>
              <a:off x="590550" y="2019300"/>
              <a:ext cx="1971675" cy="3333750"/>
            </a:xfrm>
            <a:prstGeom prst="roundRect">
              <a:avLst>
                <a:gd name="adj" fmla="val 8696"/>
              </a:avLst>
            </a:prstGeom>
            <a:solidFill>
              <a:srgbClr val="EEEAE2"/>
            </a:solidFill>
            <a:ln>
              <a:noFill/>
            </a:ln>
          </p:spPr>
          <p:txBody>
            <a:bodyPr/>
            <a:lstStyle/>
            <a:p>
              <a:endParaRPr dirty="0"/>
            </a:p>
          </p:txBody>
        </p:sp>
        <p:sp>
          <p:nvSpPr>
            <p:cNvPr id="10" name="Ellipse 10"/>
            <p:cNvSpPr/>
            <p:nvPr/>
          </p:nvSpPr>
          <p:spPr>
            <a:xfrm>
              <a:off x="1335253" y="2181225"/>
              <a:ext cx="304800" cy="304800"/>
            </a:xfrm>
            <a:prstGeom prst="ellipse">
              <a:avLst/>
            </a:prstGeom>
            <a:solidFill>
              <a:srgbClr val="D97745"/>
            </a:solidFill>
            <a:ln>
              <a:noFill/>
            </a:ln>
          </p:spPr>
          <p:txBody>
            <a:bodyPr/>
            <a:lstStyle/>
            <a:p>
              <a:endParaRPr/>
            </a:p>
          </p:txBody>
        </p:sp>
        <p:sp>
          <p:nvSpPr>
            <p:cNvPr id="11" name="Ellipse 11"/>
            <p:cNvSpPr/>
            <p:nvPr/>
          </p:nvSpPr>
          <p:spPr>
            <a:xfrm>
              <a:off x="1421503" y="2257002"/>
              <a:ext cx="133350" cy="133350"/>
            </a:xfrm>
            <a:prstGeom prst="ellipse">
              <a:avLst/>
            </a:prstGeom>
            <a:noFill/>
            <a:ln w="19050">
              <a:solidFill>
                <a:srgbClr val="F7F4EE"/>
              </a:solidFill>
            </a:ln>
          </p:spPr>
          <p:txBody>
            <a:bodyPr/>
            <a:lstStyle/>
            <a:p>
              <a:endParaRPr/>
            </a:p>
          </p:txBody>
        </p:sp>
        <p:sp>
          <p:nvSpPr>
            <p:cNvPr id="12" name="TextBox 12"/>
            <p:cNvSpPr txBox="1"/>
            <p:nvPr/>
          </p:nvSpPr>
          <p:spPr>
            <a:xfrm>
              <a:off x="640169" y="2602706"/>
              <a:ext cx="186352" cy="220028"/>
            </a:xfrm>
            <a:prstGeom prst="rect">
              <a:avLst/>
            </a:prstGeom>
            <a:noFill/>
            <a:ln>
              <a:noFill/>
            </a:ln>
          </p:spPr>
          <p:txBody>
            <a:bodyPr wrap="none" lIns="0" tIns="0" rIns="0" bIns="0" anchor="t" anchorCtr="0">
              <a:spAutoFit/>
            </a:bodyPr>
            <a:lstStyle/>
            <a:p>
              <a:pPr algn="l"/>
              <a:r>
                <a:rPr lang="en-US" sz="1120" b="1" dirty="0">
                  <a:solidFill>
                    <a:srgbClr val="D97745"/>
                  </a:solidFill>
                  <a:latin typeface="Arial"/>
                  <a:ea typeface="Arial"/>
                  <a:cs typeface="Arial"/>
                </a:rPr>
                <a:t>01</a:t>
              </a:r>
            </a:p>
          </p:txBody>
        </p:sp>
        <p:sp>
          <p:nvSpPr>
            <p:cNvPr id="13" name="TextBox 13"/>
            <p:cNvSpPr txBox="1"/>
            <p:nvPr/>
          </p:nvSpPr>
          <p:spPr>
            <a:xfrm>
              <a:off x="905256" y="2529840"/>
              <a:ext cx="992947" cy="352044"/>
            </a:xfrm>
            <a:prstGeom prst="rect">
              <a:avLst/>
            </a:prstGeom>
            <a:noFill/>
            <a:ln>
              <a:noFill/>
            </a:ln>
          </p:spPr>
          <p:txBody>
            <a:bodyPr wrap="none" lIns="0" tIns="0" rIns="0" bIns="0" anchor="t" anchorCtr="0">
              <a:spAutoFit/>
            </a:bodyPr>
            <a:lstStyle/>
            <a:p>
              <a:pPr algn="l"/>
              <a:r>
                <a:rPr lang="en-US" sz="1800" b="1" dirty="0">
                  <a:solidFill>
                    <a:srgbClr val="1F1F1C"/>
                  </a:solidFill>
                  <a:latin typeface="Arial"/>
                  <a:ea typeface="Arial"/>
                  <a:cs typeface="Arial"/>
                </a:rPr>
                <a:t>Confirm</a:t>
              </a:r>
            </a:p>
          </p:txBody>
        </p:sp>
        <p:sp>
          <p:nvSpPr>
            <p:cNvPr id="14" name="TextBox 14"/>
            <p:cNvSpPr txBox="1"/>
            <p:nvPr/>
          </p:nvSpPr>
          <p:spPr>
            <a:xfrm>
              <a:off x="774954" y="2937510"/>
              <a:ext cx="1632712" cy="234696"/>
            </a:xfrm>
            <a:prstGeom prst="rect">
              <a:avLst/>
            </a:prstGeom>
            <a:noFill/>
            <a:ln>
              <a:noFill/>
            </a:ln>
          </p:spPr>
          <p:txBody>
            <a:bodyPr wrap="none" lIns="0" tIns="0" rIns="0" bIns="0" anchor="t" anchorCtr="0">
              <a:spAutoFit/>
            </a:bodyPr>
            <a:lstStyle/>
            <a:p>
              <a:pPr algn="l"/>
              <a:r>
                <a:rPr lang="en-US" sz="1200" dirty="0">
                  <a:solidFill>
                    <a:srgbClr val="292824"/>
                  </a:solidFill>
                  <a:latin typeface="Arial"/>
                  <a:ea typeface="Arial"/>
                  <a:cs typeface="Arial"/>
                </a:rPr>
                <a:t>Identify the correct</a:t>
              </a:r>
            </a:p>
          </p:txBody>
        </p:sp>
        <p:sp>
          <p:nvSpPr>
            <p:cNvPr id="15" name="TextBox 15"/>
            <p:cNvSpPr txBox="1"/>
            <p:nvPr/>
          </p:nvSpPr>
          <p:spPr>
            <a:xfrm>
              <a:off x="774954" y="3147060"/>
              <a:ext cx="1005688" cy="234696"/>
            </a:xfrm>
            <a:prstGeom prst="rect">
              <a:avLst/>
            </a:prstGeom>
            <a:noFill/>
            <a:ln>
              <a:noFill/>
            </a:ln>
          </p:spPr>
          <p:txBody>
            <a:bodyPr wrap="none" lIns="0" tIns="0" rIns="0" bIns="0" anchor="t" anchorCtr="0">
              <a:spAutoFit/>
            </a:bodyPr>
            <a:lstStyle/>
            <a:p>
              <a:pPr algn="l"/>
              <a:r>
                <a:rPr lang="en-US" sz="1200" dirty="0">
                  <a:solidFill>
                    <a:srgbClr val="292824"/>
                  </a:solidFill>
                  <a:latin typeface="Arial"/>
                  <a:ea typeface="Arial"/>
                  <a:cs typeface="Arial"/>
                </a:rPr>
                <a:t>legal entity.</a:t>
              </a:r>
            </a:p>
          </p:txBody>
        </p:sp>
        <p:sp>
          <p:nvSpPr>
            <p:cNvPr id="16" name="Line 16"/>
            <p:cNvSpPr/>
            <p:nvPr/>
          </p:nvSpPr>
          <p:spPr>
            <a:xfrm>
              <a:off x="781050" y="3524250"/>
              <a:ext cx="1590675" cy="9525"/>
            </a:xfrm>
            <a:custGeom>
              <a:avLst/>
              <a:gdLst/>
              <a:ahLst/>
              <a:cxnLst/>
              <a:rect l="l" t="t" r="r" b="b"/>
              <a:pathLst>
                <a:path w="1590675" h="9525">
                  <a:moveTo>
                    <a:pt x="0" y="0"/>
                  </a:moveTo>
                  <a:lnTo>
                    <a:pt x="1590675" y="0"/>
                  </a:lnTo>
                </a:path>
              </a:pathLst>
            </a:custGeom>
            <a:noFill/>
            <a:ln w="9525">
              <a:solidFill>
                <a:srgbClr val="D8D1C6"/>
              </a:solidFill>
            </a:ln>
          </p:spPr>
          <p:txBody>
            <a:bodyPr/>
            <a:lstStyle/>
            <a:p>
              <a:endParaRPr/>
            </a:p>
          </p:txBody>
        </p:sp>
        <p:sp>
          <p:nvSpPr>
            <p:cNvPr id="17" name="TextBox 17"/>
            <p:cNvSpPr txBox="1"/>
            <p:nvPr/>
          </p:nvSpPr>
          <p:spPr>
            <a:xfrm>
              <a:off x="775716" y="3668078"/>
              <a:ext cx="645787" cy="205359"/>
            </a:xfrm>
            <a:prstGeom prst="rect">
              <a:avLst/>
            </a:prstGeom>
            <a:noFill/>
            <a:ln>
              <a:noFill/>
            </a:ln>
          </p:spPr>
          <p:txBody>
            <a:bodyPr wrap="none" lIns="0" tIns="0" rIns="0" bIns="0" anchor="t" anchorCtr="0">
              <a:spAutoFit/>
            </a:bodyPr>
            <a:lstStyle/>
            <a:p>
              <a:pPr algn="l"/>
              <a:r>
                <a:rPr lang="en-US" sz="1050" b="1" dirty="0">
                  <a:solidFill>
                    <a:srgbClr val="D97745"/>
                  </a:solidFill>
                  <a:latin typeface="Arial"/>
                  <a:ea typeface="Arial"/>
                  <a:cs typeface="Arial"/>
                </a:rPr>
                <a:t>SOURCES</a:t>
              </a:r>
            </a:p>
          </p:txBody>
        </p:sp>
        <p:sp>
          <p:nvSpPr>
            <p:cNvPr id="18" name="TextBox 18"/>
            <p:cNvSpPr txBox="1"/>
            <p:nvPr/>
          </p:nvSpPr>
          <p:spPr>
            <a:xfrm>
              <a:off x="775716" y="3925252"/>
              <a:ext cx="1603003" cy="161583"/>
            </a:xfrm>
            <a:prstGeom prst="rect">
              <a:avLst/>
            </a:prstGeom>
            <a:noFill/>
            <a:ln>
              <a:noFill/>
            </a:ln>
          </p:spPr>
          <p:txBody>
            <a:bodyPr wrap="none" lIns="0" tIns="0" rIns="0" bIns="0" anchor="t" anchorCtr="0">
              <a:spAutoFit/>
            </a:bodyPr>
            <a:lstStyle/>
            <a:p>
              <a:pPr algn="l"/>
              <a:r>
                <a:rPr lang="en-US" sz="1050" dirty="0">
                  <a:solidFill>
                    <a:srgbClr val="6B6861"/>
                  </a:solidFill>
                  <a:latin typeface="Arial"/>
                  <a:ea typeface="Arial"/>
                  <a:cs typeface="Arial"/>
                </a:rPr>
                <a:t>GLEIF:</a:t>
              </a:r>
              <a:r>
                <a:rPr lang="zh-CN" altLang="en-US" sz="1050" dirty="0">
                  <a:solidFill>
                    <a:srgbClr val="6B6861"/>
                  </a:solidFill>
                  <a:latin typeface="Arial"/>
                  <a:ea typeface="Arial"/>
                  <a:cs typeface="Arial"/>
                </a:rPr>
                <a:t> </a:t>
              </a:r>
              <a:r>
                <a:rPr lang="en-US" sz="1050" dirty="0">
                  <a:solidFill>
                    <a:srgbClr val="6B6861"/>
                  </a:solidFill>
                  <a:latin typeface="Arial"/>
                  <a:ea typeface="Arial"/>
                  <a:cs typeface="Arial"/>
                </a:rPr>
                <a:t>legal-entity records</a:t>
              </a:r>
            </a:p>
          </p:txBody>
        </p:sp>
        <p:sp>
          <p:nvSpPr>
            <p:cNvPr id="19" name="TextBox 19"/>
            <p:cNvSpPr txBox="1"/>
            <p:nvPr/>
          </p:nvSpPr>
          <p:spPr>
            <a:xfrm>
              <a:off x="775716" y="4153852"/>
              <a:ext cx="1514838" cy="161583"/>
            </a:xfrm>
            <a:prstGeom prst="rect">
              <a:avLst/>
            </a:prstGeom>
            <a:noFill/>
            <a:ln>
              <a:noFill/>
            </a:ln>
          </p:spPr>
          <p:txBody>
            <a:bodyPr wrap="none" lIns="0" tIns="0" rIns="0" bIns="0" anchor="t" anchorCtr="0">
              <a:spAutoFit/>
            </a:bodyPr>
            <a:lstStyle/>
            <a:p>
              <a:pPr algn="l"/>
              <a:r>
                <a:rPr lang="en-US" sz="1050" dirty="0" err="1">
                  <a:solidFill>
                    <a:srgbClr val="6B6861"/>
                  </a:solidFill>
                  <a:latin typeface="Arial"/>
                  <a:ea typeface="Arial"/>
                  <a:cs typeface="Arial"/>
                </a:rPr>
                <a:t>Wikidata</a:t>
              </a:r>
              <a:r>
                <a:rPr lang="en-US" sz="1050" dirty="0">
                  <a:solidFill>
                    <a:srgbClr val="6B6861"/>
                  </a:solidFill>
                  <a:latin typeface="Arial"/>
                  <a:ea typeface="Arial"/>
                  <a:cs typeface="Arial"/>
                </a:rPr>
                <a:t>: aliases and IDs</a:t>
              </a:r>
            </a:p>
          </p:txBody>
        </p:sp>
        <p:sp>
          <p:nvSpPr>
            <p:cNvPr id="20" name="TextBox 20"/>
            <p:cNvSpPr txBox="1"/>
            <p:nvPr/>
          </p:nvSpPr>
          <p:spPr>
            <a:xfrm>
              <a:off x="775716" y="4506278"/>
              <a:ext cx="559537" cy="205359"/>
            </a:xfrm>
            <a:prstGeom prst="rect">
              <a:avLst/>
            </a:prstGeom>
            <a:noFill/>
            <a:ln>
              <a:noFill/>
            </a:ln>
          </p:spPr>
          <p:txBody>
            <a:bodyPr wrap="none" lIns="0" tIns="0" rIns="0" bIns="0" anchor="t" anchorCtr="0">
              <a:spAutoFit/>
            </a:bodyPr>
            <a:lstStyle/>
            <a:p>
              <a:pPr algn="l"/>
              <a:r>
                <a:rPr lang="en-US" sz="1050" b="1" dirty="0">
                  <a:solidFill>
                    <a:srgbClr val="D97745"/>
                  </a:solidFill>
                  <a:latin typeface="Arial"/>
                  <a:ea typeface="Arial"/>
                  <a:cs typeface="Arial"/>
                </a:rPr>
                <a:t>OUTPUT</a:t>
              </a:r>
            </a:p>
          </p:txBody>
        </p:sp>
        <p:sp>
          <p:nvSpPr>
            <p:cNvPr id="21" name="TextBox 21"/>
            <p:cNvSpPr txBox="1"/>
            <p:nvPr/>
          </p:nvSpPr>
          <p:spPr>
            <a:xfrm>
              <a:off x="775716" y="4763452"/>
              <a:ext cx="1993983" cy="205359"/>
            </a:xfrm>
            <a:prstGeom prst="rect">
              <a:avLst/>
            </a:prstGeom>
            <a:noFill/>
            <a:ln>
              <a:noFill/>
            </a:ln>
          </p:spPr>
          <p:txBody>
            <a:bodyPr wrap="none" lIns="0" tIns="0" rIns="0" bIns="0" anchor="t" anchorCtr="0">
              <a:spAutoFit/>
            </a:bodyPr>
            <a:lstStyle/>
            <a:p>
              <a:pPr algn="l"/>
              <a:r>
                <a:rPr lang="en-US" sz="1050" dirty="0">
                  <a:solidFill>
                    <a:srgbClr val="6B6861"/>
                  </a:solidFill>
                  <a:latin typeface="Arial"/>
                  <a:ea typeface="Arial"/>
                  <a:cs typeface="Arial"/>
                </a:rPr>
                <a:t>Legal name, LEI, jurisdiction</a:t>
              </a:r>
            </a:p>
          </p:txBody>
        </p:sp>
        <p:sp>
          <p:nvSpPr>
            <p:cNvPr id="22" name="TextBox 22"/>
            <p:cNvSpPr txBox="1"/>
            <p:nvPr/>
          </p:nvSpPr>
          <p:spPr>
            <a:xfrm>
              <a:off x="775716" y="4992052"/>
              <a:ext cx="1810444" cy="205359"/>
            </a:xfrm>
            <a:prstGeom prst="rect">
              <a:avLst/>
            </a:prstGeom>
            <a:noFill/>
            <a:ln>
              <a:noFill/>
            </a:ln>
          </p:spPr>
          <p:txBody>
            <a:bodyPr wrap="none" lIns="0" tIns="0" rIns="0" bIns="0" anchor="t" anchorCtr="0">
              <a:spAutoFit/>
            </a:bodyPr>
            <a:lstStyle/>
            <a:p>
              <a:pPr algn="l"/>
              <a:r>
                <a:rPr lang="en-US" sz="1050" dirty="0">
                  <a:solidFill>
                    <a:srgbClr val="6B6861"/>
                  </a:solidFill>
                  <a:latin typeface="Arial"/>
                  <a:ea typeface="Arial"/>
                  <a:cs typeface="Arial"/>
                </a:rPr>
                <a:t>Address and known aliases</a:t>
              </a:r>
            </a:p>
          </p:txBody>
        </p:sp>
      </p:grpSp>
      <p:grpSp>
        <p:nvGrpSpPr>
          <p:cNvPr id="25" name="Group 25"/>
          <p:cNvGrpSpPr/>
          <p:nvPr/>
        </p:nvGrpSpPr>
        <p:grpSpPr>
          <a:xfrm>
            <a:off x="2638806" y="3587115"/>
            <a:ext cx="284836" cy="352044"/>
            <a:chOff x="2638806" y="3587115"/>
            <a:chExt cx="284836" cy="352044"/>
          </a:xfrm>
        </p:grpSpPr>
        <p:sp>
          <p:nvSpPr>
            <p:cNvPr id="24" name="TextBox 24"/>
            <p:cNvSpPr txBox="1"/>
            <p:nvPr/>
          </p:nvSpPr>
          <p:spPr>
            <a:xfrm>
              <a:off x="2638806" y="3587115"/>
              <a:ext cx="284836" cy="352044"/>
            </a:xfrm>
            <a:prstGeom prst="rect">
              <a:avLst/>
            </a:prstGeom>
            <a:noFill/>
            <a:ln>
              <a:noFill/>
            </a:ln>
          </p:spPr>
          <p:txBody>
            <a:bodyPr wrap="none" lIns="0" tIns="0" rIns="0" bIns="0" anchor="t" anchorCtr="0">
              <a:spAutoFit/>
            </a:bodyPr>
            <a:lstStyle/>
            <a:p>
              <a:pPr algn="l"/>
              <a:r>
                <a:rPr lang="en-US" sz="1800" dirty="0">
                  <a:solidFill>
                    <a:srgbClr val="D97745"/>
                  </a:solidFill>
                  <a:latin typeface="Arial"/>
                  <a:ea typeface="Arial"/>
                  <a:cs typeface="Arial"/>
                </a:rPr>
                <a:t>-&gt;</a:t>
              </a:r>
            </a:p>
          </p:txBody>
        </p:sp>
      </p:grpSp>
      <p:grpSp>
        <p:nvGrpSpPr>
          <p:cNvPr id="40" name="Group 40"/>
          <p:cNvGrpSpPr/>
          <p:nvPr/>
        </p:nvGrpSpPr>
        <p:grpSpPr>
          <a:xfrm>
            <a:off x="2857500" y="2019300"/>
            <a:ext cx="2212768" cy="3333750"/>
            <a:chOff x="2857500" y="2019300"/>
            <a:chExt cx="2212768" cy="3333750"/>
          </a:xfrm>
        </p:grpSpPr>
        <p:sp>
          <p:nvSpPr>
            <p:cNvPr id="26" name="Rectangle 26"/>
            <p:cNvSpPr/>
            <p:nvPr/>
          </p:nvSpPr>
          <p:spPr>
            <a:xfrm>
              <a:off x="2857500" y="2019300"/>
              <a:ext cx="1971675" cy="3333750"/>
            </a:xfrm>
            <a:prstGeom prst="roundRect">
              <a:avLst>
                <a:gd name="adj" fmla="val 8696"/>
              </a:avLst>
            </a:prstGeom>
            <a:solidFill>
              <a:srgbClr val="EEEAE2"/>
            </a:solidFill>
            <a:ln>
              <a:noFill/>
            </a:ln>
          </p:spPr>
          <p:txBody>
            <a:bodyPr/>
            <a:lstStyle/>
            <a:p>
              <a:endParaRPr/>
            </a:p>
          </p:txBody>
        </p:sp>
        <p:sp>
          <p:nvSpPr>
            <p:cNvPr id="27" name="Rectangle 27"/>
            <p:cNvSpPr/>
            <p:nvPr/>
          </p:nvSpPr>
          <p:spPr>
            <a:xfrm>
              <a:off x="3552825" y="2171700"/>
              <a:ext cx="285750" cy="304800"/>
            </a:xfrm>
            <a:prstGeom prst="roundRect">
              <a:avLst>
                <a:gd name="adj" fmla="val 10000"/>
              </a:avLst>
            </a:prstGeom>
            <a:solidFill>
              <a:srgbClr val="D97745"/>
            </a:solidFill>
            <a:ln>
              <a:noFill/>
            </a:ln>
          </p:spPr>
          <p:txBody>
            <a:bodyPr/>
            <a:lstStyle/>
            <a:p>
              <a:endParaRPr/>
            </a:p>
          </p:txBody>
        </p:sp>
        <p:sp>
          <p:nvSpPr>
            <p:cNvPr id="28" name="Line 28"/>
            <p:cNvSpPr/>
            <p:nvPr/>
          </p:nvSpPr>
          <p:spPr>
            <a:xfrm>
              <a:off x="3619500" y="2266950"/>
              <a:ext cx="161925" cy="9525"/>
            </a:xfrm>
            <a:custGeom>
              <a:avLst/>
              <a:gdLst/>
              <a:ahLst/>
              <a:cxnLst/>
              <a:rect l="l" t="t" r="r" b="b"/>
              <a:pathLst>
                <a:path w="161925" h="9525">
                  <a:moveTo>
                    <a:pt x="0" y="0"/>
                  </a:moveTo>
                  <a:lnTo>
                    <a:pt x="161925" y="0"/>
                  </a:lnTo>
                </a:path>
              </a:pathLst>
            </a:custGeom>
            <a:noFill/>
            <a:ln w="19050">
              <a:solidFill>
                <a:srgbClr val="F7F4EE"/>
              </a:solidFill>
            </a:ln>
          </p:spPr>
          <p:txBody>
            <a:bodyPr/>
            <a:lstStyle/>
            <a:p>
              <a:endParaRPr/>
            </a:p>
          </p:txBody>
        </p:sp>
        <p:sp>
          <p:nvSpPr>
            <p:cNvPr id="29" name="Line 29"/>
            <p:cNvSpPr/>
            <p:nvPr/>
          </p:nvSpPr>
          <p:spPr>
            <a:xfrm>
              <a:off x="3619500" y="2333625"/>
              <a:ext cx="161925" cy="9525"/>
            </a:xfrm>
            <a:custGeom>
              <a:avLst/>
              <a:gdLst/>
              <a:ahLst/>
              <a:cxnLst/>
              <a:rect l="l" t="t" r="r" b="b"/>
              <a:pathLst>
                <a:path w="161925" h="9525">
                  <a:moveTo>
                    <a:pt x="0" y="0"/>
                  </a:moveTo>
                  <a:lnTo>
                    <a:pt x="161925" y="0"/>
                  </a:lnTo>
                </a:path>
              </a:pathLst>
            </a:custGeom>
            <a:noFill/>
            <a:ln w="19050">
              <a:solidFill>
                <a:srgbClr val="F7F4EE"/>
              </a:solidFill>
            </a:ln>
          </p:spPr>
          <p:txBody>
            <a:bodyPr/>
            <a:lstStyle/>
            <a:p>
              <a:endParaRPr/>
            </a:p>
          </p:txBody>
        </p:sp>
        <p:sp>
          <p:nvSpPr>
            <p:cNvPr id="30" name="TextBox 30"/>
            <p:cNvSpPr txBox="1"/>
            <p:nvPr/>
          </p:nvSpPr>
          <p:spPr>
            <a:xfrm>
              <a:off x="3042285" y="2602706"/>
              <a:ext cx="186352" cy="220028"/>
            </a:xfrm>
            <a:prstGeom prst="rect">
              <a:avLst/>
            </a:prstGeom>
            <a:noFill/>
            <a:ln>
              <a:noFill/>
            </a:ln>
          </p:spPr>
          <p:txBody>
            <a:bodyPr wrap="none" lIns="0" tIns="0" rIns="0" bIns="0" anchor="t" anchorCtr="0">
              <a:spAutoFit/>
            </a:bodyPr>
            <a:lstStyle/>
            <a:p>
              <a:pPr algn="l"/>
              <a:r>
                <a:rPr lang="en-US" sz="1120" b="1" dirty="0">
                  <a:solidFill>
                    <a:srgbClr val="D97745"/>
                  </a:solidFill>
                  <a:latin typeface="Arial"/>
                  <a:ea typeface="Arial"/>
                  <a:cs typeface="Arial"/>
                </a:rPr>
                <a:t>02</a:t>
              </a:r>
            </a:p>
          </p:txBody>
        </p:sp>
        <p:sp>
          <p:nvSpPr>
            <p:cNvPr id="31" name="TextBox 31"/>
            <p:cNvSpPr txBox="1"/>
            <p:nvPr/>
          </p:nvSpPr>
          <p:spPr>
            <a:xfrm>
              <a:off x="3362706" y="2529840"/>
              <a:ext cx="877527" cy="352044"/>
            </a:xfrm>
            <a:prstGeom prst="rect">
              <a:avLst/>
            </a:prstGeom>
            <a:noFill/>
            <a:ln>
              <a:noFill/>
            </a:ln>
          </p:spPr>
          <p:txBody>
            <a:bodyPr wrap="none" lIns="0" tIns="0" rIns="0" bIns="0" anchor="t" anchorCtr="0">
              <a:spAutoFit/>
            </a:bodyPr>
            <a:lstStyle/>
            <a:p>
              <a:pPr algn="l"/>
              <a:r>
                <a:rPr lang="en-US" sz="1800" b="1" dirty="0">
                  <a:solidFill>
                    <a:srgbClr val="1F1F1C"/>
                  </a:solidFill>
                  <a:latin typeface="Arial"/>
                  <a:ea typeface="Arial"/>
                  <a:cs typeface="Arial"/>
                </a:rPr>
                <a:t>Collect</a:t>
              </a:r>
            </a:p>
          </p:txBody>
        </p:sp>
        <p:sp>
          <p:nvSpPr>
            <p:cNvPr id="32" name="TextBox 32"/>
            <p:cNvSpPr txBox="1"/>
            <p:nvPr/>
          </p:nvSpPr>
          <p:spPr>
            <a:xfrm>
              <a:off x="3041904" y="2937510"/>
              <a:ext cx="2028364" cy="234696"/>
            </a:xfrm>
            <a:prstGeom prst="rect">
              <a:avLst/>
            </a:prstGeom>
            <a:noFill/>
            <a:ln>
              <a:noFill/>
            </a:ln>
          </p:spPr>
          <p:txBody>
            <a:bodyPr wrap="none" lIns="0" tIns="0" rIns="0" bIns="0" anchor="t" anchorCtr="0">
              <a:spAutoFit/>
            </a:bodyPr>
            <a:lstStyle/>
            <a:p>
              <a:pPr algn="l"/>
              <a:r>
                <a:rPr lang="en-US" sz="1200" dirty="0">
                  <a:solidFill>
                    <a:srgbClr val="292824"/>
                  </a:solidFill>
                  <a:latin typeface="Arial"/>
                  <a:ea typeface="Arial"/>
                  <a:cs typeface="Arial"/>
                </a:rPr>
                <a:t>Gather public information</a:t>
              </a:r>
            </a:p>
          </p:txBody>
        </p:sp>
        <p:sp>
          <p:nvSpPr>
            <p:cNvPr id="33" name="TextBox 33"/>
            <p:cNvSpPr txBox="1"/>
            <p:nvPr/>
          </p:nvSpPr>
          <p:spPr>
            <a:xfrm>
              <a:off x="3041904" y="3147060"/>
              <a:ext cx="1651864" cy="234696"/>
            </a:xfrm>
            <a:prstGeom prst="rect">
              <a:avLst/>
            </a:prstGeom>
            <a:noFill/>
            <a:ln>
              <a:noFill/>
            </a:ln>
          </p:spPr>
          <p:txBody>
            <a:bodyPr wrap="none" lIns="0" tIns="0" rIns="0" bIns="0" anchor="t" anchorCtr="0">
              <a:spAutoFit/>
            </a:bodyPr>
            <a:lstStyle/>
            <a:p>
              <a:pPr algn="l"/>
              <a:r>
                <a:rPr lang="en-US" sz="1200" dirty="0">
                  <a:solidFill>
                    <a:srgbClr val="292824"/>
                  </a:solidFill>
                  <a:latin typeface="Arial"/>
                  <a:ea typeface="Arial"/>
                  <a:cs typeface="Arial"/>
                </a:rPr>
                <a:t>around the company.</a:t>
              </a:r>
            </a:p>
          </p:txBody>
        </p:sp>
        <p:sp>
          <p:nvSpPr>
            <p:cNvPr id="34" name="Line 34"/>
            <p:cNvSpPr/>
            <p:nvPr/>
          </p:nvSpPr>
          <p:spPr>
            <a:xfrm>
              <a:off x="3048000" y="3524250"/>
              <a:ext cx="1590675" cy="9525"/>
            </a:xfrm>
            <a:custGeom>
              <a:avLst/>
              <a:gdLst/>
              <a:ahLst/>
              <a:cxnLst/>
              <a:rect l="l" t="t" r="r" b="b"/>
              <a:pathLst>
                <a:path w="1590675" h="9525">
                  <a:moveTo>
                    <a:pt x="0" y="0"/>
                  </a:moveTo>
                  <a:lnTo>
                    <a:pt x="1590675" y="0"/>
                  </a:lnTo>
                </a:path>
              </a:pathLst>
            </a:custGeom>
            <a:noFill/>
            <a:ln w="9525">
              <a:solidFill>
                <a:srgbClr val="D8D1C6"/>
              </a:solidFill>
            </a:ln>
          </p:spPr>
          <p:txBody>
            <a:bodyPr/>
            <a:lstStyle/>
            <a:p>
              <a:endParaRPr/>
            </a:p>
          </p:txBody>
        </p:sp>
        <p:sp>
          <p:nvSpPr>
            <p:cNvPr id="35" name="TextBox 35"/>
            <p:cNvSpPr txBox="1"/>
            <p:nvPr/>
          </p:nvSpPr>
          <p:spPr>
            <a:xfrm>
              <a:off x="3042666" y="3668078"/>
              <a:ext cx="645787" cy="205359"/>
            </a:xfrm>
            <a:prstGeom prst="rect">
              <a:avLst/>
            </a:prstGeom>
            <a:noFill/>
            <a:ln>
              <a:noFill/>
            </a:ln>
          </p:spPr>
          <p:txBody>
            <a:bodyPr wrap="none" lIns="0" tIns="0" rIns="0" bIns="0" anchor="t" anchorCtr="0">
              <a:spAutoFit/>
            </a:bodyPr>
            <a:lstStyle/>
            <a:p>
              <a:pPr algn="l"/>
              <a:r>
                <a:rPr lang="en-US" sz="1050" b="1" dirty="0">
                  <a:solidFill>
                    <a:srgbClr val="D97745"/>
                  </a:solidFill>
                  <a:latin typeface="Arial"/>
                  <a:ea typeface="Arial"/>
                  <a:cs typeface="Arial"/>
                </a:rPr>
                <a:t>SOURCES</a:t>
              </a:r>
            </a:p>
          </p:txBody>
        </p:sp>
        <p:sp>
          <p:nvSpPr>
            <p:cNvPr id="36" name="TextBox 36"/>
            <p:cNvSpPr txBox="1"/>
            <p:nvPr/>
          </p:nvSpPr>
          <p:spPr>
            <a:xfrm>
              <a:off x="3042666" y="3925252"/>
              <a:ext cx="2010785" cy="205359"/>
            </a:xfrm>
            <a:prstGeom prst="rect">
              <a:avLst/>
            </a:prstGeom>
            <a:noFill/>
            <a:ln>
              <a:noFill/>
            </a:ln>
          </p:spPr>
          <p:txBody>
            <a:bodyPr wrap="none" lIns="0" tIns="0" rIns="0" bIns="0" anchor="t" anchorCtr="0">
              <a:spAutoFit/>
            </a:bodyPr>
            <a:lstStyle/>
            <a:p>
              <a:pPr algn="l"/>
              <a:r>
                <a:rPr lang="en-US" sz="1050" dirty="0">
                  <a:solidFill>
                    <a:srgbClr val="6B6861"/>
                  </a:solidFill>
                  <a:latin typeface="Arial"/>
                  <a:ea typeface="Arial"/>
                  <a:cs typeface="Arial"/>
                </a:rPr>
                <a:t>2024 and 2025 annual reports</a:t>
              </a:r>
            </a:p>
          </p:txBody>
        </p:sp>
        <p:sp>
          <p:nvSpPr>
            <p:cNvPr id="37" name="TextBox 37"/>
            <p:cNvSpPr txBox="1"/>
            <p:nvPr/>
          </p:nvSpPr>
          <p:spPr>
            <a:xfrm>
              <a:off x="3042666" y="4153852"/>
              <a:ext cx="1605367" cy="205359"/>
            </a:xfrm>
            <a:prstGeom prst="rect">
              <a:avLst/>
            </a:prstGeom>
            <a:noFill/>
            <a:ln>
              <a:noFill/>
            </a:ln>
          </p:spPr>
          <p:txBody>
            <a:bodyPr wrap="none" lIns="0" tIns="0" rIns="0" bIns="0" anchor="t" anchorCtr="0">
              <a:spAutoFit/>
            </a:bodyPr>
            <a:lstStyle/>
            <a:p>
              <a:pPr algn="l"/>
              <a:r>
                <a:rPr lang="en-US" sz="1050" dirty="0">
                  <a:solidFill>
                    <a:srgbClr val="6B6861"/>
                  </a:solidFill>
                  <a:latin typeface="Arial"/>
                  <a:ea typeface="Arial"/>
                  <a:cs typeface="Arial"/>
                </a:rPr>
                <a:t>Official company pages</a:t>
              </a:r>
            </a:p>
          </p:txBody>
        </p:sp>
        <p:sp>
          <p:nvSpPr>
            <p:cNvPr id="38" name="TextBox 38"/>
            <p:cNvSpPr txBox="1"/>
            <p:nvPr/>
          </p:nvSpPr>
          <p:spPr>
            <a:xfrm>
              <a:off x="3042666" y="4382452"/>
              <a:ext cx="1923227" cy="205359"/>
            </a:xfrm>
            <a:prstGeom prst="rect">
              <a:avLst/>
            </a:prstGeom>
            <a:noFill/>
            <a:ln>
              <a:noFill/>
            </a:ln>
          </p:spPr>
          <p:txBody>
            <a:bodyPr wrap="none" lIns="0" tIns="0" rIns="0" bIns="0" anchor="t" anchorCtr="0">
              <a:spAutoFit/>
            </a:bodyPr>
            <a:lstStyle/>
            <a:p>
              <a:pPr algn="l"/>
              <a:r>
                <a:rPr lang="en-US" sz="1050" dirty="0">
                  <a:solidFill>
                    <a:srgbClr val="6B6861"/>
                  </a:solidFill>
                  <a:latin typeface="Arial"/>
                  <a:ea typeface="Arial"/>
                  <a:cs typeface="Arial"/>
                </a:rPr>
                <a:t>Relationship announcements</a:t>
              </a:r>
            </a:p>
          </p:txBody>
        </p:sp>
        <p:sp>
          <p:nvSpPr>
            <p:cNvPr id="39" name="TextBox 39"/>
            <p:cNvSpPr txBox="1"/>
            <p:nvPr/>
          </p:nvSpPr>
          <p:spPr>
            <a:xfrm>
              <a:off x="3042666" y="4611052"/>
              <a:ext cx="1654980" cy="205359"/>
            </a:xfrm>
            <a:prstGeom prst="rect">
              <a:avLst/>
            </a:prstGeom>
            <a:noFill/>
            <a:ln>
              <a:noFill/>
            </a:ln>
          </p:spPr>
          <p:txBody>
            <a:bodyPr wrap="none" lIns="0" tIns="0" rIns="0" bIns="0" anchor="t" anchorCtr="0">
              <a:spAutoFit/>
            </a:bodyPr>
            <a:lstStyle/>
            <a:p>
              <a:pPr algn="l"/>
              <a:r>
                <a:rPr lang="en-US" sz="1050" dirty="0">
                  <a:solidFill>
                    <a:srgbClr val="6B6861"/>
                  </a:solidFill>
                  <a:latin typeface="Arial"/>
                  <a:ea typeface="Arial"/>
                  <a:cs typeface="Arial"/>
                </a:rPr>
                <a:t>Public news and reports</a:t>
              </a:r>
            </a:p>
          </p:txBody>
        </p:sp>
      </p:grpSp>
      <p:grpSp>
        <p:nvGrpSpPr>
          <p:cNvPr id="42" name="Group 42"/>
          <p:cNvGrpSpPr/>
          <p:nvPr/>
        </p:nvGrpSpPr>
        <p:grpSpPr>
          <a:xfrm>
            <a:off x="4905756" y="3587115"/>
            <a:ext cx="284836" cy="352044"/>
            <a:chOff x="4905756" y="3587115"/>
            <a:chExt cx="284836" cy="352044"/>
          </a:xfrm>
        </p:grpSpPr>
        <p:sp>
          <p:nvSpPr>
            <p:cNvPr id="41" name="TextBox 41"/>
            <p:cNvSpPr txBox="1"/>
            <p:nvPr/>
          </p:nvSpPr>
          <p:spPr>
            <a:xfrm>
              <a:off x="4905756" y="3587115"/>
              <a:ext cx="284836" cy="352044"/>
            </a:xfrm>
            <a:prstGeom prst="rect">
              <a:avLst/>
            </a:prstGeom>
            <a:noFill/>
            <a:ln>
              <a:noFill/>
            </a:ln>
          </p:spPr>
          <p:txBody>
            <a:bodyPr wrap="none" lIns="0" tIns="0" rIns="0" bIns="0" anchor="t" anchorCtr="0">
              <a:spAutoFit/>
            </a:bodyPr>
            <a:lstStyle/>
            <a:p>
              <a:pPr algn="l"/>
              <a:r>
                <a:rPr lang="en-US" sz="1800" dirty="0">
                  <a:solidFill>
                    <a:srgbClr val="D97745"/>
                  </a:solidFill>
                  <a:latin typeface="Arial"/>
                  <a:ea typeface="Arial"/>
                  <a:cs typeface="Arial"/>
                </a:rPr>
                <a:t>-&gt;</a:t>
              </a:r>
            </a:p>
          </p:txBody>
        </p:sp>
      </p:grpSp>
      <p:grpSp>
        <p:nvGrpSpPr>
          <p:cNvPr id="58" name="Group 58"/>
          <p:cNvGrpSpPr/>
          <p:nvPr/>
        </p:nvGrpSpPr>
        <p:grpSpPr>
          <a:xfrm>
            <a:off x="5124450" y="2019300"/>
            <a:ext cx="2221730" cy="3333750"/>
            <a:chOff x="5124450" y="2019300"/>
            <a:chExt cx="2221730" cy="3333750"/>
          </a:xfrm>
        </p:grpSpPr>
        <p:sp>
          <p:nvSpPr>
            <p:cNvPr id="43" name="Rectangle 43"/>
            <p:cNvSpPr/>
            <p:nvPr/>
          </p:nvSpPr>
          <p:spPr>
            <a:xfrm>
              <a:off x="5124450" y="2019300"/>
              <a:ext cx="1971675" cy="3333750"/>
            </a:xfrm>
            <a:prstGeom prst="roundRect">
              <a:avLst>
                <a:gd name="adj" fmla="val 8696"/>
              </a:avLst>
            </a:prstGeom>
            <a:solidFill>
              <a:srgbClr val="EEEAE2"/>
            </a:solidFill>
            <a:ln>
              <a:noFill/>
            </a:ln>
          </p:spPr>
          <p:txBody>
            <a:bodyPr/>
            <a:lstStyle/>
            <a:p>
              <a:endParaRPr/>
            </a:p>
          </p:txBody>
        </p:sp>
        <p:sp>
          <p:nvSpPr>
            <p:cNvPr id="44" name="Ellipse 44"/>
            <p:cNvSpPr/>
            <p:nvPr/>
          </p:nvSpPr>
          <p:spPr>
            <a:xfrm>
              <a:off x="5876925" y="2209800"/>
              <a:ext cx="152400" cy="152400"/>
            </a:xfrm>
            <a:prstGeom prst="ellipse">
              <a:avLst/>
            </a:prstGeom>
            <a:solidFill>
              <a:srgbClr val="D97745"/>
            </a:solidFill>
            <a:ln>
              <a:noFill/>
            </a:ln>
          </p:spPr>
          <p:txBody>
            <a:bodyPr/>
            <a:lstStyle/>
            <a:p>
              <a:endParaRPr/>
            </a:p>
          </p:txBody>
        </p:sp>
        <p:sp>
          <p:nvSpPr>
            <p:cNvPr id="45" name="Ellipse 45"/>
            <p:cNvSpPr/>
            <p:nvPr/>
          </p:nvSpPr>
          <p:spPr>
            <a:xfrm>
              <a:off x="6086475" y="2343150"/>
              <a:ext cx="152400" cy="152400"/>
            </a:xfrm>
            <a:prstGeom prst="ellipse">
              <a:avLst/>
            </a:prstGeom>
            <a:solidFill>
              <a:srgbClr val="8C6B52"/>
            </a:solidFill>
            <a:ln>
              <a:noFill/>
            </a:ln>
          </p:spPr>
          <p:txBody>
            <a:bodyPr/>
            <a:lstStyle/>
            <a:p>
              <a:endParaRPr/>
            </a:p>
          </p:txBody>
        </p:sp>
        <p:sp>
          <p:nvSpPr>
            <p:cNvPr id="46" name="Ellipse 46"/>
            <p:cNvSpPr/>
            <p:nvPr/>
          </p:nvSpPr>
          <p:spPr>
            <a:xfrm>
              <a:off x="5667375" y="2343150"/>
              <a:ext cx="152400" cy="152400"/>
            </a:xfrm>
            <a:prstGeom prst="ellipse">
              <a:avLst/>
            </a:prstGeom>
            <a:solidFill>
              <a:srgbClr val="4E8068"/>
            </a:solidFill>
            <a:ln>
              <a:noFill/>
            </a:ln>
          </p:spPr>
          <p:txBody>
            <a:bodyPr/>
            <a:lstStyle/>
            <a:p>
              <a:endParaRPr/>
            </a:p>
          </p:txBody>
        </p:sp>
        <p:sp>
          <p:nvSpPr>
            <p:cNvPr id="47" name="Line 47"/>
            <p:cNvSpPr/>
            <p:nvPr/>
          </p:nvSpPr>
          <p:spPr>
            <a:xfrm>
              <a:off x="5953125" y="2286000"/>
              <a:ext cx="209550" cy="133350"/>
            </a:xfrm>
            <a:custGeom>
              <a:avLst/>
              <a:gdLst/>
              <a:ahLst/>
              <a:cxnLst/>
              <a:rect l="l" t="t" r="r" b="b"/>
              <a:pathLst>
                <a:path w="209550" h="133350">
                  <a:moveTo>
                    <a:pt x="0" y="0"/>
                  </a:moveTo>
                  <a:lnTo>
                    <a:pt x="209550" y="133350"/>
                  </a:lnTo>
                </a:path>
              </a:pathLst>
            </a:custGeom>
            <a:noFill/>
            <a:ln w="19050">
              <a:solidFill>
                <a:srgbClr val="1F1F1C"/>
              </a:solidFill>
            </a:ln>
          </p:spPr>
          <p:txBody>
            <a:bodyPr/>
            <a:lstStyle/>
            <a:p>
              <a:endParaRPr/>
            </a:p>
          </p:txBody>
        </p:sp>
        <p:sp>
          <p:nvSpPr>
            <p:cNvPr id="48" name="Line 48"/>
            <p:cNvSpPr/>
            <p:nvPr/>
          </p:nvSpPr>
          <p:spPr>
            <a:xfrm>
              <a:off x="5743575" y="2286000"/>
              <a:ext cx="209550" cy="133350"/>
            </a:xfrm>
            <a:custGeom>
              <a:avLst/>
              <a:gdLst/>
              <a:ahLst/>
              <a:cxnLst/>
              <a:rect l="l" t="t" r="r" b="b"/>
              <a:pathLst>
                <a:path w="209550" h="133350">
                  <a:moveTo>
                    <a:pt x="209550" y="0"/>
                  </a:moveTo>
                  <a:lnTo>
                    <a:pt x="0" y="133350"/>
                  </a:lnTo>
                </a:path>
              </a:pathLst>
            </a:custGeom>
            <a:noFill/>
            <a:ln w="19050">
              <a:solidFill>
                <a:srgbClr val="1F1F1C"/>
              </a:solidFill>
            </a:ln>
          </p:spPr>
          <p:txBody>
            <a:bodyPr/>
            <a:lstStyle/>
            <a:p>
              <a:endParaRPr/>
            </a:p>
          </p:txBody>
        </p:sp>
        <p:sp>
          <p:nvSpPr>
            <p:cNvPr id="49" name="TextBox 49"/>
            <p:cNvSpPr txBox="1"/>
            <p:nvPr/>
          </p:nvSpPr>
          <p:spPr>
            <a:xfrm>
              <a:off x="5309235" y="2602706"/>
              <a:ext cx="186352" cy="220028"/>
            </a:xfrm>
            <a:prstGeom prst="rect">
              <a:avLst/>
            </a:prstGeom>
            <a:noFill/>
            <a:ln>
              <a:noFill/>
            </a:ln>
          </p:spPr>
          <p:txBody>
            <a:bodyPr wrap="none" lIns="0" tIns="0" rIns="0" bIns="0" anchor="t" anchorCtr="0">
              <a:spAutoFit/>
            </a:bodyPr>
            <a:lstStyle/>
            <a:p>
              <a:pPr algn="l"/>
              <a:r>
                <a:rPr lang="en-US" sz="1120" b="1" dirty="0">
                  <a:solidFill>
                    <a:srgbClr val="D97745"/>
                  </a:solidFill>
                  <a:latin typeface="Arial"/>
                  <a:ea typeface="Arial"/>
                  <a:cs typeface="Arial"/>
                </a:rPr>
                <a:t>03</a:t>
              </a:r>
            </a:p>
          </p:txBody>
        </p:sp>
        <p:sp>
          <p:nvSpPr>
            <p:cNvPr id="50" name="TextBox 50"/>
            <p:cNvSpPr txBox="1"/>
            <p:nvPr/>
          </p:nvSpPr>
          <p:spPr>
            <a:xfrm>
              <a:off x="5629656" y="2529840"/>
              <a:ext cx="1005771" cy="352044"/>
            </a:xfrm>
            <a:prstGeom prst="rect">
              <a:avLst/>
            </a:prstGeom>
            <a:noFill/>
            <a:ln>
              <a:noFill/>
            </a:ln>
          </p:spPr>
          <p:txBody>
            <a:bodyPr wrap="none" lIns="0" tIns="0" rIns="0" bIns="0" anchor="t" anchorCtr="0">
              <a:spAutoFit/>
            </a:bodyPr>
            <a:lstStyle/>
            <a:p>
              <a:pPr algn="l"/>
              <a:r>
                <a:rPr lang="en-US" sz="1800" b="1" dirty="0">
                  <a:solidFill>
                    <a:srgbClr val="1F1F1C"/>
                  </a:solidFill>
                  <a:latin typeface="Arial"/>
                  <a:ea typeface="Arial"/>
                  <a:cs typeface="Arial"/>
                </a:rPr>
                <a:t>Extract</a:t>
              </a:r>
            </a:p>
          </p:txBody>
        </p:sp>
        <p:sp>
          <p:nvSpPr>
            <p:cNvPr id="51" name="TextBox 51"/>
            <p:cNvSpPr txBox="1"/>
            <p:nvPr/>
          </p:nvSpPr>
          <p:spPr>
            <a:xfrm>
              <a:off x="5308854" y="2937510"/>
              <a:ext cx="1826362" cy="234696"/>
            </a:xfrm>
            <a:prstGeom prst="rect">
              <a:avLst/>
            </a:prstGeom>
            <a:noFill/>
            <a:ln>
              <a:noFill/>
            </a:ln>
          </p:spPr>
          <p:txBody>
            <a:bodyPr wrap="none" lIns="0" tIns="0" rIns="0" bIns="0" anchor="t" anchorCtr="0">
              <a:spAutoFit/>
            </a:bodyPr>
            <a:lstStyle/>
            <a:p>
              <a:pPr algn="l"/>
              <a:r>
                <a:rPr lang="en-US" sz="1200" dirty="0">
                  <a:solidFill>
                    <a:srgbClr val="292824"/>
                  </a:solidFill>
                  <a:latin typeface="Arial"/>
                  <a:ea typeface="Arial"/>
                  <a:cs typeface="Arial"/>
                </a:rPr>
                <a:t>Identify entities, links</a:t>
              </a:r>
            </a:p>
          </p:txBody>
        </p:sp>
        <p:sp>
          <p:nvSpPr>
            <p:cNvPr id="52" name="TextBox 52"/>
            <p:cNvSpPr txBox="1"/>
            <p:nvPr/>
          </p:nvSpPr>
          <p:spPr>
            <a:xfrm>
              <a:off x="5308854" y="3147060"/>
              <a:ext cx="1312621" cy="234696"/>
            </a:xfrm>
            <a:prstGeom prst="rect">
              <a:avLst/>
            </a:prstGeom>
            <a:noFill/>
            <a:ln>
              <a:noFill/>
            </a:ln>
          </p:spPr>
          <p:txBody>
            <a:bodyPr wrap="none" lIns="0" tIns="0" rIns="0" bIns="0" anchor="t" anchorCtr="0">
              <a:spAutoFit/>
            </a:bodyPr>
            <a:lstStyle/>
            <a:p>
              <a:pPr algn="l"/>
              <a:r>
                <a:rPr lang="en-US" sz="1200" dirty="0">
                  <a:solidFill>
                    <a:srgbClr val="292824"/>
                  </a:solidFill>
                  <a:latin typeface="Arial"/>
                  <a:ea typeface="Arial"/>
                  <a:cs typeface="Arial"/>
                </a:rPr>
                <a:t>and risk events.</a:t>
              </a:r>
            </a:p>
          </p:txBody>
        </p:sp>
        <p:sp>
          <p:nvSpPr>
            <p:cNvPr id="53" name="Line 53"/>
            <p:cNvSpPr/>
            <p:nvPr/>
          </p:nvSpPr>
          <p:spPr>
            <a:xfrm>
              <a:off x="5314950" y="3524250"/>
              <a:ext cx="1590675" cy="9525"/>
            </a:xfrm>
            <a:custGeom>
              <a:avLst/>
              <a:gdLst/>
              <a:ahLst/>
              <a:cxnLst/>
              <a:rect l="l" t="t" r="r" b="b"/>
              <a:pathLst>
                <a:path w="1590675" h="9525">
                  <a:moveTo>
                    <a:pt x="0" y="0"/>
                  </a:moveTo>
                  <a:lnTo>
                    <a:pt x="1590675" y="0"/>
                  </a:lnTo>
                </a:path>
              </a:pathLst>
            </a:custGeom>
            <a:noFill/>
            <a:ln w="9525">
              <a:solidFill>
                <a:srgbClr val="D8D1C6"/>
              </a:solidFill>
            </a:ln>
          </p:spPr>
          <p:txBody>
            <a:bodyPr/>
            <a:lstStyle/>
            <a:p>
              <a:endParaRPr/>
            </a:p>
          </p:txBody>
        </p:sp>
        <p:sp>
          <p:nvSpPr>
            <p:cNvPr id="54" name="TextBox 54"/>
            <p:cNvSpPr txBox="1"/>
            <p:nvPr/>
          </p:nvSpPr>
          <p:spPr>
            <a:xfrm>
              <a:off x="5309616" y="3668078"/>
              <a:ext cx="622264" cy="205359"/>
            </a:xfrm>
            <a:prstGeom prst="rect">
              <a:avLst/>
            </a:prstGeom>
            <a:noFill/>
            <a:ln>
              <a:noFill/>
            </a:ln>
          </p:spPr>
          <p:txBody>
            <a:bodyPr wrap="none" lIns="0" tIns="0" rIns="0" bIns="0" anchor="t" anchorCtr="0">
              <a:spAutoFit/>
            </a:bodyPr>
            <a:lstStyle/>
            <a:p>
              <a:pPr algn="l"/>
              <a:r>
                <a:rPr lang="en-US" sz="1050" b="1" dirty="0">
                  <a:solidFill>
                    <a:srgbClr val="D97745"/>
                  </a:solidFill>
                  <a:latin typeface="Arial"/>
                  <a:ea typeface="Arial"/>
                  <a:cs typeface="Arial"/>
                </a:rPr>
                <a:t>FINDINGS</a:t>
              </a:r>
            </a:p>
          </p:txBody>
        </p:sp>
        <p:sp>
          <p:nvSpPr>
            <p:cNvPr id="55" name="TextBox 55"/>
            <p:cNvSpPr txBox="1"/>
            <p:nvPr/>
          </p:nvSpPr>
          <p:spPr>
            <a:xfrm>
              <a:off x="5309616" y="3925252"/>
              <a:ext cx="2036564" cy="205359"/>
            </a:xfrm>
            <a:prstGeom prst="rect">
              <a:avLst/>
            </a:prstGeom>
            <a:noFill/>
            <a:ln>
              <a:noFill/>
            </a:ln>
          </p:spPr>
          <p:txBody>
            <a:bodyPr wrap="none" lIns="0" tIns="0" rIns="0" bIns="0" anchor="t" anchorCtr="0">
              <a:spAutoFit/>
            </a:bodyPr>
            <a:lstStyle/>
            <a:p>
              <a:pPr algn="l"/>
              <a:r>
                <a:rPr lang="en-US" sz="1050" dirty="0">
                  <a:solidFill>
                    <a:srgbClr val="6B6861"/>
                  </a:solidFill>
                  <a:latin typeface="Arial"/>
                  <a:ea typeface="Arial"/>
                  <a:cs typeface="Arial"/>
                </a:rPr>
                <a:t>Ownership and joint ventures</a:t>
              </a:r>
            </a:p>
          </p:txBody>
        </p:sp>
        <p:sp>
          <p:nvSpPr>
            <p:cNvPr id="56" name="TextBox 56"/>
            <p:cNvSpPr txBox="1"/>
            <p:nvPr/>
          </p:nvSpPr>
          <p:spPr>
            <a:xfrm>
              <a:off x="5309616" y="4153852"/>
              <a:ext cx="1966112" cy="205359"/>
            </a:xfrm>
            <a:prstGeom prst="rect">
              <a:avLst/>
            </a:prstGeom>
            <a:noFill/>
            <a:ln>
              <a:noFill/>
            </a:ln>
          </p:spPr>
          <p:txBody>
            <a:bodyPr wrap="none" lIns="0" tIns="0" rIns="0" bIns="0" anchor="t" anchorCtr="0">
              <a:spAutoFit/>
            </a:bodyPr>
            <a:lstStyle/>
            <a:p>
              <a:pPr algn="l"/>
              <a:r>
                <a:rPr lang="en-US" sz="1050" dirty="0">
                  <a:solidFill>
                    <a:srgbClr val="6B6861"/>
                  </a:solidFill>
                  <a:latin typeface="Arial"/>
                  <a:ea typeface="Arial"/>
                  <a:cs typeface="Arial"/>
                </a:rPr>
                <a:t>Companies, people, projects</a:t>
              </a:r>
            </a:p>
          </p:txBody>
        </p:sp>
      </p:grpSp>
      <p:grpSp>
        <p:nvGrpSpPr>
          <p:cNvPr id="60" name="Group 60"/>
          <p:cNvGrpSpPr/>
          <p:nvPr/>
        </p:nvGrpSpPr>
        <p:grpSpPr>
          <a:xfrm>
            <a:off x="7172706" y="3587115"/>
            <a:ext cx="284836" cy="352044"/>
            <a:chOff x="7172706" y="3587115"/>
            <a:chExt cx="284836" cy="352044"/>
          </a:xfrm>
        </p:grpSpPr>
        <p:sp>
          <p:nvSpPr>
            <p:cNvPr id="59" name="TextBox 59"/>
            <p:cNvSpPr txBox="1"/>
            <p:nvPr/>
          </p:nvSpPr>
          <p:spPr>
            <a:xfrm>
              <a:off x="7172706" y="3587115"/>
              <a:ext cx="284836" cy="352044"/>
            </a:xfrm>
            <a:prstGeom prst="rect">
              <a:avLst/>
            </a:prstGeom>
            <a:noFill/>
            <a:ln>
              <a:noFill/>
            </a:ln>
          </p:spPr>
          <p:txBody>
            <a:bodyPr wrap="none" lIns="0" tIns="0" rIns="0" bIns="0" anchor="t" anchorCtr="0">
              <a:spAutoFit/>
            </a:bodyPr>
            <a:lstStyle/>
            <a:p>
              <a:pPr algn="l"/>
              <a:r>
                <a:rPr lang="en-US" sz="1800" dirty="0">
                  <a:solidFill>
                    <a:srgbClr val="D97745"/>
                  </a:solidFill>
                  <a:latin typeface="Arial"/>
                  <a:ea typeface="Arial"/>
                  <a:cs typeface="Arial"/>
                </a:rPr>
                <a:t>-&gt;</a:t>
              </a:r>
            </a:p>
          </p:txBody>
        </p:sp>
      </p:grpSp>
      <p:grpSp>
        <p:nvGrpSpPr>
          <p:cNvPr id="75" name="Group 75"/>
          <p:cNvGrpSpPr/>
          <p:nvPr/>
        </p:nvGrpSpPr>
        <p:grpSpPr>
          <a:xfrm>
            <a:off x="7391400" y="2019300"/>
            <a:ext cx="2201280" cy="3333750"/>
            <a:chOff x="7391400" y="2019300"/>
            <a:chExt cx="2201280" cy="3333750"/>
          </a:xfrm>
        </p:grpSpPr>
        <p:sp>
          <p:nvSpPr>
            <p:cNvPr id="61" name="Rectangle 61"/>
            <p:cNvSpPr/>
            <p:nvPr/>
          </p:nvSpPr>
          <p:spPr>
            <a:xfrm>
              <a:off x="7391400" y="2019300"/>
              <a:ext cx="1971675" cy="3333750"/>
            </a:xfrm>
            <a:prstGeom prst="roundRect">
              <a:avLst>
                <a:gd name="adj" fmla="val 8696"/>
              </a:avLst>
            </a:prstGeom>
            <a:solidFill>
              <a:srgbClr val="EEEAE2"/>
            </a:solidFill>
            <a:ln>
              <a:noFill/>
            </a:ln>
          </p:spPr>
          <p:txBody>
            <a:bodyPr/>
            <a:lstStyle/>
            <a:p>
              <a:endParaRPr/>
            </a:p>
          </p:txBody>
        </p:sp>
        <p:sp>
          <p:nvSpPr>
            <p:cNvPr id="62" name="Freeform 62"/>
            <p:cNvSpPr/>
            <p:nvPr/>
          </p:nvSpPr>
          <p:spPr>
            <a:xfrm>
              <a:off x="8048625" y="2152650"/>
              <a:ext cx="342900" cy="371475"/>
            </a:xfrm>
            <a:custGeom>
              <a:avLst/>
              <a:gdLst/>
              <a:ahLst/>
              <a:cxnLst/>
              <a:rect l="l" t="t" r="r" b="b"/>
              <a:pathLst>
                <a:path w="342900" h="371475">
                  <a:moveTo>
                    <a:pt x="171450" y="0"/>
                  </a:moveTo>
                  <a:lnTo>
                    <a:pt x="342900" y="76200"/>
                  </a:lnTo>
                  <a:lnTo>
                    <a:pt x="314325" y="257175"/>
                  </a:lnTo>
                  <a:cubicBezTo>
                    <a:pt x="276225" y="314325"/>
                    <a:pt x="228600" y="352425"/>
                    <a:pt x="171450" y="371475"/>
                  </a:cubicBezTo>
                  <a:cubicBezTo>
                    <a:pt x="114300" y="352425"/>
                    <a:pt x="66675" y="314325"/>
                    <a:pt x="28575" y="257175"/>
                  </a:cubicBezTo>
                  <a:lnTo>
                    <a:pt x="0" y="76200"/>
                  </a:lnTo>
                  <a:close/>
                </a:path>
              </a:pathLst>
            </a:custGeom>
            <a:solidFill>
              <a:srgbClr val="D97745"/>
            </a:solidFill>
            <a:ln>
              <a:noFill/>
            </a:ln>
          </p:spPr>
          <p:txBody>
            <a:bodyPr/>
            <a:lstStyle/>
            <a:p>
              <a:endParaRPr/>
            </a:p>
          </p:txBody>
        </p:sp>
        <p:sp>
          <p:nvSpPr>
            <p:cNvPr id="63" name="TextBox 63"/>
            <p:cNvSpPr txBox="1"/>
            <p:nvPr/>
          </p:nvSpPr>
          <p:spPr>
            <a:xfrm>
              <a:off x="8167333" y="2261235"/>
              <a:ext cx="105484" cy="234696"/>
            </a:xfrm>
            <a:prstGeom prst="rect">
              <a:avLst/>
            </a:prstGeom>
            <a:noFill/>
            <a:ln>
              <a:noFill/>
            </a:ln>
          </p:spPr>
          <p:txBody>
            <a:bodyPr wrap="none" lIns="0" tIns="0" rIns="0" bIns="0" anchor="t" anchorCtr="0">
              <a:spAutoFit/>
            </a:bodyPr>
            <a:lstStyle/>
            <a:p>
              <a:pPr algn="ctr"/>
              <a:r>
                <a:rPr lang="en-US" sz="1200" b="1" dirty="0">
                  <a:solidFill>
                    <a:srgbClr val="F7F4EE"/>
                  </a:solidFill>
                  <a:latin typeface="Arial"/>
                  <a:ea typeface="Arial"/>
                  <a:cs typeface="Arial"/>
                </a:rPr>
                <a:t>+</a:t>
              </a:r>
            </a:p>
          </p:txBody>
        </p:sp>
        <p:sp>
          <p:nvSpPr>
            <p:cNvPr id="64" name="TextBox 64"/>
            <p:cNvSpPr txBox="1"/>
            <p:nvPr/>
          </p:nvSpPr>
          <p:spPr>
            <a:xfrm>
              <a:off x="7576185" y="2602706"/>
              <a:ext cx="186352" cy="220028"/>
            </a:xfrm>
            <a:prstGeom prst="rect">
              <a:avLst/>
            </a:prstGeom>
            <a:noFill/>
            <a:ln>
              <a:noFill/>
            </a:ln>
          </p:spPr>
          <p:txBody>
            <a:bodyPr wrap="none" lIns="0" tIns="0" rIns="0" bIns="0" anchor="t" anchorCtr="0">
              <a:spAutoFit/>
            </a:bodyPr>
            <a:lstStyle/>
            <a:p>
              <a:pPr algn="l"/>
              <a:r>
                <a:rPr lang="en-US" sz="1120" b="1" dirty="0">
                  <a:solidFill>
                    <a:srgbClr val="D97745"/>
                  </a:solidFill>
                  <a:latin typeface="Arial"/>
                  <a:ea typeface="Arial"/>
                  <a:cs typeface="Arial"/>
                </a:rPr>
                <a:t>04</a:t>
              </a:r>
            </a:p>
          </p:txBody>
        </p:sp>
        <p:sp>
          <p:nvSpPr>
            <p:cNvPr id="65" name="TextBox 65"/>
            <p:cNvSpPr txBox="1"/>
            <p:nvPr/>
          </p:nvSpPr>
          <p:spPr>
            <a:xfrm>
              <a:off x="7896606" y="2529840"/>
              <a:ext cx="725896" cy="352044"/>
            </a:xfrm>
            <a:prstGeom prst="rect">
              <a:avLst/>
            </a:prstGeom>
            <a:noFill/>
            <a:ln>
              <a:noFill/>
            </a:ln>
          </p:spPr>
          <p:txBody>
            <a:bodyPr wrap="none" lIns="0" tIns="0" rIns="0" bIns="0" anchor="t" anchorCtr="0">
              <a:spAutoFit/>
            </a:bodyPr>
            <a:lstStyle/>
            <a:p>
              <a:pPr algn="l"/>
              <a:r>
                <a:rPr lang="en-US" sz="1800" b="1" dirty="0">
                  <a:solidFill>
                    <a:srgbClr val="1F1F1C"/>
                  </a:solidFill>
                  <a:latin typeface="Arial"/>
                  <a:ea typeface="Arial"/>
                  <a:cs typeface="Arial"/>
                </a:rPr>
                <a:t>Check</a:t>
              </a:r>
            </a:p>
          </p:txBody>
        </p:sp>
        <p:sp>
          <p:nvSpPr>
            <p:cNvPr id="66" name="TextBox 66"/>
            <p:cNvSpPr txBox="1"/>
            <p:nvPr/>
          </p:nvSpPr>
          <p:spPr>
            <a:xfrm>
              <a:off x="7575804" y="2937510"/>
              <a:ext cx="1802305" cy="234696"/>
            </a:xfrm>
            <a:prstGeom prst="rect">
              <a:avLst/>
            </a:prstGeom>
            <a:noFill/>
            <a:ln>
              <a:noFill/>
            </a:ln>
          </p:spPr>
          <p:txBody>
            <a:bodyPr wrap="none" lIns="0" tIns="0" rIns="0" bIns="0" anchor="t" anchorCtr="0">
              <a:spAutoFit/>
            </a:bodyPr>
            <a:lstStyle/>
            <a:p>
              <a:pPr algn="l"/>
              <a:r>
                <a:rPr lang="en-US" sz="1200" dirty="0">
                  <a:solidFill>
                    <a:srgbClr val="292824"/>
                  </a:solidFill>
                  <a:latin typeface="Arial"/>
                  <a:ea typeface="Arial"/>
                  <a:cs typeface="Arial"/>
                </a:rPr>
                <a:t>Compare against public</a:t>
              </a:r>
            </a:p>
          </p:txBody>
        </p:sp>
        <p:sp>
          <p:nvSpPr>
            <p:cNvPr id="67" name="TextBox 67"/>
            <p:cNvSpPr txBox="1"/>
            <p:nvPr/>
          </p:nvSpPr>
          <p:spPr>
            <a:xfrm>
              <a:off x="7575804" y="3147060"/>
              <a:ext cx="1086460" cy="234696"/>
            </a:xfrm>
            <a:prstGeom prst="rect">
              <a:avLst/>
            </a:prstGeom>
            <a:noFill/>
            <a:ln>
              <a:noFill/>
            </a:ln>
          </p:spPr>
          <p:txBody>
            <a:bodyPr wrap="none" lIns="0" tIns="0" rIns="0" bIns="0" anchor="t" anchorCtr="0">
              <a:spAutoFit/>
            </a:bodyPr>
            <a:lstStyle/>
            <a:p>
              <a:pPr algn="l"/>
              <a:r>
                <a:rPr lang="en-US" sz="1200" dirty="0">
                  <a:solidFill>
                    <a:srgbClr val="292824"/>
                  </a:solidFill>
                  <a:latin typeface="Arial"/>
                  <a:ea typeface="Arial"/>
                  <a:cs typeface="Arial"/>
                </a:rPr>
                <a:t>risk sources.</a:t>
              </a:r>
            </a:p>
          </p:txBody>
        </p:sp>
        <p:sp>
          <p:nvSpPr>
            <p:cNvPr id="68" name="Line 68"/>
            <p:cNvSpPr/>
            <p:nvPr/>
          </p:nvSpPr>
          <p:spPr>
            <a:xfrm>
              <a:off x="7581900" y="3524250"/>
              <a:ext cx="1590675" cy="9525"/>
            </a:xfrm>
            <a:custGeom>
              <a:avLst/>
              <a:gdLst/>
              <a:ahLst/>
              <a:cxnLst/>
              <a:rect l="l" t="t" r="r" b="b"/>
              <a:pathLst>
                <a:path w="1590675" h="9525">
                  <a:moveTo>
                    <a:pt x="0" y="0"/>
                  </a:moveTo>
                  <a:lnTo>
                    <a:pt x="1590675" y="0"/>
                  </a:lnTo>
                </a:path>
              </a:pathLst>
            </a:custGeom>
            <a:noFill/>
            <a:ln w="9525">
              <a:solidFill>
                <a:srgbClr val="D8D1C6"/>
              </a:solidFill>
            </a:ln>
          </p:spPr>
          <p:txBody>
            <a:bodyPr/>
            <a:lstStyle/>
            <a:p>
              <a:endParaRPr/>
            </a:p>
          </p:txBody>
        </p:sp>
        <p:sp>
          <p:nvSpPr>
            <p:cNvPr id="69" name="TextBox 69"/>
            <p:cNvSpPr txBox="1"/>
            <p:nvPr/>
          </p:nvSpPr>
          <p:spPr>
            <a:xfrm>
              <a:off x="7576566" y="3668078"/>
              <a:ext cx="645787" cy="205359"/>
            </a:xfrm>
            <a:prstGeom prst="rect">
              <a:avLst/>
            </a:prstGeom>
            <a:noFill/>
            <a:ln>
              <a:noFill/>
            </a:ln>
          </p:spPr>
          <p:txBody>
            <a:bodyPr wrap="none" lIns="0" tIns="0" rIns="0" bIns="0" anchor="t" anchorCtr="0">
              <a:spAutoFit/>
            </a:bodyPr>
            <a:lstStyle/>
            <a:p>
              <a:pPr algn="l"/>
              <a:r>
                <a:rPr lang="en-US" sz="1050" b="1" dirty="0">
                  <a:solidFill>
                    <a:srgbClr val="D97745"/>
                  </a:solidFill>
                  <a:latin typeface="Arial"/>
                  <a:ea typeface="Arial"/>
                  <a:cs typeface="Arial"/>
                </a:rPr>
                <a:t>SOURCES</a:t>
              </a:r>
            </a:p>
          </p:txBody>
        </p:sp>
        <p:sp>
          <p:nvSpPr>
            <p:cNvPr id="70" name="TextBox 70"/>
            <p:cNvSpPr txBox="1"/>
            <p:nvPr/>
          </p:nvSpPr>
          <p:spPr>
            <a:xfrm>
              <a:off x="7576566" y="3925252"/>
              <a:ext cx="1357064" cy="205359"/>
            </a:xfrm>
            <a:prstGeom prst="rect">
              <a:avLst/>
            </a:prstGeom>
            <a:noFill/>
            <a:ln>
              <a:noFill/>
            </a:ln>
          </p:spPr>
          <p:txBody>
            <a:bodyPr wrap="none" lIns="0" tIns="0" rIns="0" bIns="0" anchor="t" anchorCtr="0">
              <a:spAutoFit/>
            </a:bodyPr>
            <a:lstStyle/>
            <a:p>
              <a:pPr algn="l"/>
              <a:r>
                <a:rPr lang="en-US" sz="1050" dirty="0">
                  <a:solidFill>
                    <a:srgbClr val="6B6861"/>
                  </a:solidFill>
                  <a:latin typeface="Arial"/>
                  <a:ea typeface="Arial"/>
                  <a:cs typeface="Arial"/>
                </a:rPr>
                <a:t>OFAC sanctions list</a:t>
              </a:r>
            </a:p>
          </p:txBody>
        </p:sp>
        <p:sp>
          <p:nvSpPr>
            <p:cNvPr id="71" name="TextBox 71"/>
            <p:cNvSpPr txBox="1"/>
            <p:nvPr/>
          </p:nvSpPr>
          <p:spPr>
            <a:xfrm>
              <a:off x="7576566" y="4153852"/>
              <a:ext cx="1164252" cy="205359"/>
            </a:xfrm>
            <a:prstGeom prst="rect">
              <a:avLst/>
            </a:prstGeom>
            <a:noFill/>
            <a:ln>
              <a:noFill/>
            </a:ln>
          </p:spPr>
          <p:txBody>
            <a:bodyPr wrap="none" lIns="0" tIns="0" rIns="0" bIns="0" anchor="t" anchorCtr="0">
              <a:spAutoFit/>
            </a:bodyPr>
            <a:lstStyle/>
            <a:p>
              <a:pPr algn="l"/>
              <a:r>
                <a:rPr lang="en-US" sz="1050" dirty="0">
                  <a:solidFill>
                    <a:srgbClr val="6B6861"/>
                  </a:solidFill>
                  <a:latin typeface="Arial"/>
                  <a:ea typeface="Arial"/>
                  <a:cs typeface="Arial"/>
                </a:rPr>
                <a:t>UK sanctions list</a:t>
              </a:r>
            </a:p>
          </p:txBody>
        </p:sp>
        <p:sp>
          <p:nvSpPr>
            <p:cNvPr id="72" name="TextBox 72"/>
            <p:cNvSpPr txBox="1"/>
            <p:nvPr/>
          </p:nvSpPr>
          <p:spPr>
            <a:xfrm>
              <a:off x="7576566" y="4382452"/>
              <a:ext cx="1525524" cy="205359"/>
            </a:xfrm>
            <a:prstGeom prst="rect">
              <a:avLst/>
            </a:prstGeom>
            <a:noFill/>
            <a:ln>
              <a:noFill/>
            </a:ln>
          </p:spPr>
          <p:txBody>
            <a:bodyPr wrap="none" lIns="0" tIns="0" rIns="0" bIns="0" anchor="t" anchorCtr="0">
              <a:spAutoFit/>
            </a:bodyPr>
            <a:lstStyle/>
            <a:p>
              <a:pPr algn="l"/>
              <a:r>
                <a:rPr lang="en-US" sz="1050" dirty="0">
                  <a:solidFill>
                    <a:srgbClr val="6B6861"/>
                  </a:solidFill>
                  <a:latin typeface="Arial"/>
                  <a:ea typeface="Arial"/>
                  <a:cs typeface="Arial"/>
                </a:rPr>
                <a:t>World Bank debarment</a:t>
              </a:r>
            </a:p>
          </p:txBody>
        </p:sp>
        <p:sp>
          <p:nvSpPr>
            <p:cNvPr id="73" name="TextBox 73"/>
            <p:cNvSpPr txBox="1"/>
            <p:nvPr/>
          </p:nvSpPr>
          <p:spPr>
            <a:xfrm>
              <a:off x="7576947" y="4809649"/>
              <a:ext cx="2015733" cy="190690"/>
            </a:xfrm>
            <a:prstGeom prst="rect">
              <a:avLst/>
            </a:prstGeom>
            <a:noFill/>
            <a:ln>
              <a:noFill/>
            </a:ln>
          </p:spPr>
          <p:txBody>
            <a:bodyPr wrap="none" lIns="0" tIns="0" rIns="0" bIns="0" anchor="t" anchorCtr="0">
              <a:spAutoFit/>
            </a:bodyPr>
            <a:lstStyle/>
            <a:p>
              <a:pPr algn="l"/>
              <a:r>
                <a:rPr lang="en-US" sz="980" dirty="0">
                  <a:solidFill>
                    <a:srgbClr val="B85C4C"/>
                  </a:solidFill>
                  <a:latin typeface="Arial"/>
                  <a:ea typeface="Arial"/>
                  <a:cs typeface="Arial"/>
                </a:rPr>
                <a:t>Potential match = investigation</a:t>
              </a:r>
            </a:p>
          </p:txBody>
        </p:sp>
        <p:sp>
          <p:nvSpPr>
            <p:cNvPr id="74" name="TextBox 74"/>
            <p:cNvSpPr txBox="1"/>
            <p:nvPr/>
          </p:nvSpPr>
          <p:spPr>
            <a:xfrm>
              <a:off x="7576947" y="4990624"/>
              <a:ext cx="2011537" cy="190690"/>
            </a:xfrm>
            <a:prstGeom prst="rect">
              <a:avLst/>
            </a:prstGeom>
            <a:noFill/>
            <a:ln>
              <a:noFill/>
            </a:ln>
          </p:spPr>
          <p:txBody>
            <a:bodyPr wrap="none" lIns="0" tIns="0" rIns="0" bIns="0" anchor="t" anchorCtr="0">
              <a:spAutoFit/>
            </a:bodyPr>
            <a:lstStyle/>
            <a:p>
              <a:pPr algn="l"/>
              <a:r>
                <a:rPr lang="en-US" sz="980" dirty="0">
                  <a:solidFill>
                    <a:srgbClr val="B85C4C"/>
                  </a:solidFill>
                  <a:latin typeface="Arial"/>
                  <a:ea typeface="Arial"/>
                  <a:cs typeface="Arial"/>
                </a:rPr>
                <a:t>lead, not a risk determination.</a:t>
              </a:r>
            </a:p>
          </p:txBody>
        </p:sp>
      </p:grpSp>
      <p:grpSp>
        <p:nvGrpSpPr>
          <p:cNvPr id="77" name="Group 77"/>
          <p:cNvGrpSpPr/>
          <p:nvPr/>
        </p:nvGrpSpPr>
        <p:grpSpPr>
          <a:xfrm>
            <a:off x="9439656" y="3587115"/>
            <a:ext cx="284836" cy="352044"/>
            <a:chOff x="9439656" y="3587115"/>
            <a:chExt cx="284836" cy="352044"/>
          </a:xfrm>
        </p:grpSpPr>
        <p:sp>
          <p:nvSpPr>
            <p:cNvPr id="76" name="TextBox 76"/>
            <p:cNvSpPr txBox="1"/>
            <p:nvPr/>
          </p:nvSpPr>
          <p:spPr>
            <a:xfrm>
              <a:off x="9439656" y="3587115"/>
              <a:ext cx="284836" cy="352044"/>
            </a:xfrm>
            <a:prstGeom prst="rect">
              <a:avLst/>
            </a:prstGeom>
            <a:noFill/>
            <a:ln>
              <a:noFill/>
            </a:ln>
          </p:spPr>
          <p:txBody>
            <a:bodyPr wrap="none" lIns="0" tIns="0" rIns="0" bIns="0" anchor="t" anchorCtr="0">
              <a:spAutoFit/>
            </a:bodyPr>
            <a:lstStyle/>
            <a:p>
              <a:pPr algn="l"/>
              <a:r>
                <a:rPr lang="en-US" sz="1800" dirty="0">
                  <a:solidFill>
                    <a:srgbClr val="D97745"/>
                  </a:solidFill>
                  <a:latin typeface="Arial"/>
                  <a:ea typeface="Arial"/>
                  <a:cs typeface="Arial"/>
                </a:rPr>
                <a:t>-&gt;</a:t>
              </a:r>
            </a:p>
          </p:txBody>
        </p:sp>
      </p:grpSp>
      <p:grpSp>
        <p:nvGrpSpPr>
          <p:cNvPr id="91" name="Group 91"/>
          <p:cNvGrpSpPr/>
          <p:nvPr/>
        </p:nvGrpSpPr>
        <p:grpSpPr>
          <a:xfrm>
            <a:off x="9658350" y="2019300"/>
            <a:ext cx="2116310" cy="3333750"/>
            <a:chOff x="9658350" y="2019300"/>
            <a:chExt cx="2116310" cy="3333750"/>
          </a:xfrm>
        </p:grpSpPr>
        <p:sp>
          <p:nvSpPr>
            <p:cNvPr id="78" name="Rectangle 78"/>
            <p:cNvSpPr/>
            <p:nvPr/>
          </p:nvSpPr>
          <p:spPr>
            <a:xfrm>
              <a:off x="9658350" y="2019300"/>
              <a:ext cx="1962150" cy="3333750"/>
            </a:xfrm>
            <a:prstGeom prst="roundRect">
              <a:avLst>
                <a:gd name="adj" fmla="val 8738"/>
              </a:avLst>
            </a:prstGeom>
            <a:solidFill>
              <a:srgbClr val="1F1F1C"/>
            </a:solidFill>
            <a:ln>
              <a:noFill/>
            </a:ln>
          </p:spPr>
          <p:txBody>
            <a:bodyPr/>
            <a:lstStyle/>
            <a:p>
              <a:endParaRPr/>
            </a:p>
          </p:txBody>
        </p:sp>
        <p:sp>
          <p:nvSpPr>
            <p:cNvPr id="79" name="Rectangle 79"/>
            <p:cNvSpPr/>
            <p:nvPr/>
          </p:nvSpPr>
          <p:spPr>
            <a:xfrm>
              <a:off x="10363200" y="2171700"/>
              <a:ext cx="285750" cy="285750"/>
            </a:xfrm>
            <a:prstGeom prst="roundRect">
              <a:avLst>
                <a:gd name="adj" fmla="val 16667"/>
              </a:avLst>
            </a:prstGeom>
            <a:solidFill>
              <a:srgbClr val="D97745"/>
            </a:solidFill>
            <a:ln>
              <a:noFill/>
            </a:ln>
          </p:spPr>
          <p:txBody>
            <a:bodyPr/>
            <a:lstStyle/>
            <a:p>
              <a:endParaRPr/>
            </a:p>
          </p:txBody>
        </p:sp>
        <p:sp>
          <p:nvSpPr>
            <p:cNvPr id="80" name="Freeform 80"/>
            <p:cNvSpPr/>
            <p:nvPr/>
          </p:nvSpPr>
          <p:spPr>
            <a:xfrm>
              <a:off x="10429875" y="2286000"/>
              <a:ext cx="123825" cy="66675"/>
            </a:xfrm>
            <a:custGeom>
              <a:avLst/>
              <a:gdLst/>
              <a:ahLst/>
              <a:cxnLst/>
              <a:rect l="l" t="t" r="r" b="b"/>
              <a:pathLst>
                <a:path w="123825" h="66675">
                  <a:moveTo>
                    <a:pt x="0" y="66675"/>
                  </a:moveTo>
                  <a:lnTo>
                    <a:pt x="66675" y="0"/>
                  </a:lnTo>
                  <a:lnTo>
                    <a:pt x="123825" y="0"/>
                  </a:lnTo>
                </a:path>
              </a:pathLst>
            </a:custGeom>
            <a:noFill/>
            <a:ln w="19050">
              <a:solidFill>
                <a:srgbClr val="F7F4EE"/>
              </a:solidFill>
            </a:ln>
          </p:spPr>
          <p:txBody>
            <a:bodyPr/>
            <a:lstStyle/>
            <a:p>
              <a:endParaRPr/>
            </a:p>
          </p:txBody>
        </p:sp>
        <p:sp>
          <p:nvSpPr>
            <p:cNvPr id="81" name="TextBox 81"/>
            <p:cNvSpPr txBox="1"/>
            <p:nvPr/>
          </p:nvSpPr>
          <p:spPr>
            <a:xfrm>
              <a:off x="9843135" y="2602706"/>
              <a:ext cx="186352" cy="220028"/>
            </a:xfrm>
            <a:prstGeom prst="rect">
              <a:avLst/>
            </a:prstGeom>
            <a:noFill/>
            <a:ln>
              <a:noFill/>
            </a:ln>
          </p:spPr>
          <p:txBody>
            <a:bodyPr wrap="none" lIns="0" tIns="0" rIns="0" bIns="0" anchor="t" anchorCtr="0">
              <a:spAutoFit/>
            </a:bodyPr>
            <a:lstStyle/>
            <a:p>
              <a:pPr algn="l"/>
              <a:r>
                <a:rPr lang="en-US" sz="1120" b="1" dirty="0">
                  <a:solidFill>
                    <a:srgbClr val="D97745"/>
                  </a:solidFill>
                  <a:latin typeface="Arial"/>
                  <a:ea typeface="Arial"/>
                  <a:cs typeface="Arial"/>
                </a:rPr>
                <a:t>05</a:t>
              </a:r>
            </a:p>
          </p:txBody>
        </p:sp>
        <p:sp>
          <p:nvSpPr>
            <p:cNvPr id="82" name="TextBox 82"/>
            <p:cNvSpPr txBox="1"/>
            <p:nvPr/>
          </p:nvSpPr>
          <p:spPr>
            <a:xfrm>
              <a:off x="10163556" y="2529840"/>
              <a:ext cx="1437651" cy="352044"/>
            </a:xfrm>
            <a:prstGeom prst="rect">
              <a:avLst/>
            </a:prstGeom>
            <a:noFill/>
            <a:ln>
              <a:noFill/>
            </a:ln>
          </p:spPr>
          <p:txBody>
            <a:bodyPr wrap="none" lIns="0" tIns="0" rIns="0" bIns="0" anchor="t" anchorCtr="0">
              <a:spAutoFit/>
            </a:bodyPr>
            <a:lstStyle/>
            <a:p>
              <a:pPr algn="l"/>
              <a:r>
                <a:rPr lang="en-US" sz="1800" b="1" dirty="0">
                  <a:solidFill>
                    <a:srgbClr val="F7F4EE"/>
                  </a:solidFill>
                  <a:latin typeface="Arial"/>
                  <a:ea typeface="Arial"/>
                  <a:cs typeface="Arial"/>
                </a:rPr>
                <a:t>Investigate</a:t>
              </a:r>
            </a:p>
          </p:txBody>
        </p:sp>
        <p:sp>
          <p:nvSpPr>
            <p:cNvPr id="83" name="TextBox 83"/>
            <p:cNvSpPr txBox="1"/>
            <p:nvPr/>
          </p:nvSpPr>
          <p:spPr>
            <a:xfrm>
              <a:off x="9842754" y="2937510"/>
              <a:ext cx="1931906" cy="234696"/>
            </a:xfrm>
            <a:prstGeom prst="rect">
              <a:avLst/>
            </a:prstGeom>
            <a:noFill/>
            <a:ln>
              <a:noFill/>
            </a:ln>
          </p:spPr>
          <p:txBody>
            <a:bodyPr wrap="none" lIns="0" tIns="0" rIns="0" bIns="0" anchor="t" anchorCtr="0">
              <a:spAutoFit/>
            </a:bodyPr>
            <a:lstStyle/>
            <a:p>
              <a:pPr algn="l"/>
              <a:r>
                <a:rPr lang="en-US" sz="1200" dirty="0">
                  <a:solidFill>
                    <a:srgbClr val="F7F4EE"/>
                  </a:solidFill>
                  <a:latin typeface="Arial"/>
                  <a:ea typeface="Arial"/>
                  <a:cs typeface="Arial"/>
                </a:rPr>
                <a:t>Explore the network and</a:t>
              </a:r>
            </a:p>
          </p:txBody>
        </p:sp>
        <p:sp>
          <p:nvSpPr>
            <p:cNvPr id="84" name="TextBox 84"/>
            <p:cNvSpPr txBox="1"/>
            <p:nvPr/>
          </p:nvSpPr>
          <p:spPr>
            <a:xfrm>
              <a:off x="9842754" y="3147060"/>
              <a:ext cx="1627632" cy="234696"/>
            </a:xfrm>
            <a:prstGeom prst="rect">
              <a:avLst/>
            </a:prstGeom>
            <a:noFill/>
            <a:ln>
              <a:noFill/>
            </a:ln>
          </p:spPr>
          <p:txBody>
            <a:bodyPr wrap="none" lIns="0" tIns="0" rIns="0" bIns="0" anchor="t" anchorCtr="0">
              <a:spAutoFit/>
            </a:bodyPr>
            <a:lstStyle/>
            <a:p>
              <a:pPr algn="l"/>
              <a:r>
                <a:rPr lang="en-US" sz="1200" dirty="0">
                  <a:solidFill>
                    <a:srgbClr val="F7F4EE"/>
                  </a:solidFill>
                  <a:latin typeface="Arial"/>
                  <a:ea typeface="Arial"/>
                  <a:cs typeface="Arial"/>
                </a:rPr>
                <a:t>verify the evidence.</a:t>
              </a:r>
            </a:p>
          </p:txBody>
        </p:sp>
        <p:sp>
          <p:nvSpPr>
            <p:cNvPr id="85" name="Line 85"/>
            <p:cNvSpPr/>
            <p:nvPr/>
          </p:nvSpPr>
          <p:spPr>
            <a:xfrm>
              <a:off x="9848850" y="3524250"/>
              <a:ext cx="1581150" cy="9525"/>
            </a:xfrm>
            <a:custGeom>
              <a:avLst/>
              <a:gdLst/>
              <a:ahLst/>
              <a:cxnLst/>
              <a:rect l="l" t="t" r="r" b="b"/>
              <a:pathLst>
                <a:path w="1581150" h="9525">
                  <a:moveTo>
                    <a:pt x="0" y="0"/>
                  </a:moveTo>
                  <a:lnTo>
                    <a:pt x="1581150" y="0"/>
                  </a:lnTo>
                </a:path>
              </a:pathLst>
            </a:custGeom>
            <a:noFill/>
            <a:ln w="9525">
              <a:solidFill>
                <a:srgbClr val="6B6861"/>
              </a:solidFill>
            </a:ln>
          </p:spPr>
          <p:txBody>
            <a:bodyPr/>
            <a:lstStyle/>
            <a:p>
              <a:endParaRPr/>
            </a:p>
          </p:txBody>
        </p:sp>
        <p:sp>
          <p:nvSpPr>
            <p:cNvPr id="86" name="TextBox 86"/>
            <p:cNvSpPr txBox="1"/>
            <p:nvPr/>
          </p:nvSpPr>
          <p:spPr>
            <a:xfrm>
              <a:off x="9843516" y="3668078"/>
              <a:ext cx="645787" cy="205359"/>
            </a:xfrm>
            <a:prstGeom prst="rect">
              <a:avLst/>
            </a:prstGeom>
            <a:noFill/>
            <a:ln>
              <a:noFill/>
            </a:ln>
          </p:spPr>
          <p:txBody>
            <a:bodyPr wrap="none" lIns="0" tIns="0" rIns="0" bIns="0" anchor="t" anchorCtr="0">
              <a:spAutoFit/>
            </a:bodyPr>
            <a:lstStyle/>
            <a:p>
              <a:pPr algn="l"/>
              <a:r>
                <a:rPr lang="en-US" sz="1050" b="1" dirty="0">
                  <a:solidFill>
                    <a:srgbClr val="D97745"/>
                  </a:solidFill>
                  <a:latin typeface="Arial"/>
                  <a:ea typeface="Arial"/>
                  <a:cs typeface="Arial"/>
                </a:rPr>
                <a:t>OUTPUTS</a:t>
              </a:r>
            </a:p>
          </p:txBody>
        </p:sp>
        <p:sp>
          <p:nvSpPr>
            <p:cNvPr id="87" name="TextBox 87"/>
            <p:cNvSpPr txBox="1"/>
            <p:nvPr/>
          </p:nvSpPr>
          <p:spPr>
            <a:xfrm>
              <a:off x="9843516" y="3925252"/>
              <a:ext cx="1659109" cy="161583"/>
            </a:xfrm>
            <a:prstGeom prst="rect">
              <a:avLst/>
            </a:prstGeom>
            <a:noFill/>
            <a:ln>
              <a:noFill/>
            </a:ln>
          </p:spPr>
          <p:txBody>
            <a:bodyPr wrap="none" lIns="0" tIns="0" rIns="0" bIns="0" anchor="t" anchorCtr="0">
              <a:spAutoFit/>
            </a:bodyPr>
            <a:lstStyle/>
            <a:p>
              <a:r>
                <a:rPr sz="1050" dirty="0">
                  <a:solidFill>
                    <a:schemeClr val="bg1"/>
                  </a:solidFill>
                  <a:latin typeface="Arial" panose="020B0604020202020204" pitchFamily="34" charset="0"/>
                  <a:cs typeface="Arial" panose="020B0604020202020204" pitchFamily="34" charset="0"/>
                </a:rPr>
                <a:t>Interactive relationship view</a:t>
              </a:r>
            </a:p>
          </p:txBody>
        </p:sp>
        <p:sp>
          <p:nvSpPr>
            <p:cNvPr id="88" name="TextBox 88"/>
            <p:cNvSpPr txBox="1"/>
            <p:nvPr/>
          </p:nvSpPr>
          <p:spPr>
            <a:xfrm>
              <a:off x="9843516" y="4153852"/>
              <a:ext cx="1698105" cy="323165"/>
            </a:xfrm>
            <a:prstGeom prst="rect">
              <a:avLst/>
            </a:prstGeom>
            <a:noFill/>
            <a:ln>
              <a:noFill/>
            </a:ln>
          </p:spPr>
          <p:txBody>
            <a:bodyPr wrap="square" lIns="0" tIns="0" rIns="0" bIns="0" anchor="t" anchorCtr="0">
              <a:spAutoFit/>
            </a:bodyPr>
            <a:lstStyle/>
            <a:p>
              <a:pPr algn="l"/>
              <a:r>
                <a:rPr sz="1050" dirty="0">
                  <a:solidFill>
                    <a:schemeClr val="bg1"/>
                  </a:solidFill>
                  <a:latin typeface="Arial" panose="020B0604020202020204" pitchFamily="34" charset="0"/>
                  <a:cs typeface="Arial" panose="020B0604020202020204" pitchFamily="34" charset="0"/>
                </a:rPr>
                <a:t>Relationship and counterparty leads</a:t>
              </a:r>
            </a:p>
          </p:txBody>
        </p:sp>
        <p:sp>
          <p:nvSpPr>
            <p:cNvPr id="89" name="TextBox 89"/>
            <p:cNvSpPr txBox="1"/>
            <p:nvPr/>
          </p:nvSpPr>
          <p:spPr>
            <a:xfrm>
              <a:off x="9842754" y="4574036"/>
              <a:ext cx="1487587" cy="161583"/>
            </a:xfrm>
            <a:prstGeom prst="rect">
              <a:avLst/>
            </a:prstGeom>
            <a:noFill/>
            <a:ln>
              <a:noFill/>
            </a:ln>
          </p:spPr>
          <p:txBody>
            <a:bodyPr wrap="none" lIns="0" tIns="0" rIns="0" bIns="0" anchor="t" anchorCtr="0">
              <a:spAutoFit/>
            </a:bodyPr>
            <a:lstStyle/>
            <a:p>
              <a:pPr algn="l"/>
              <a:r>
                <a:rPr sz="1050" dirty="0">
                  <a:solidFill>
                    <a:schemeClr val="bg1"/>
                  </a:solidFill>
                  <a:latin typeface="Arial" panose="020B0604020202020204" pitchFamily="34" charset="0"/>
                  <a:cs typeface="Arial" panose="020B0604020202020204" pitchFamily="34" charset="0"/>
                </a:rPr>
                <a:t>Risk signals and timeline</a:t>
              </a:r>
            </a:p>
          </p:txBody>
        </p:sp>
        <p:sp>
          <p:nvSpPr>
            <p:cNvPr id="90" name="TextBox 90"/>
            <p:cNvSpPr txBox="1"/>
            <p:nvPr/>
          </p:nvSpPr>
          <p:spPr>
            <a:xfrm>
              <a:off x="9842754" y="4802636"/>
              <a:ext cx="1746673" cy="205359"/>
            </a:xfrm>
            <a:prstGeom prst="rect">
              <a:avLst/>
            </a:prstGeom>
            <a:noFill/>
            <a:ln>
              <a:noFill/>
            </a:ln>
          </p:spPr>
          <p:txBody>
            <a:bodyPr wrap="none" lIns="0" tIns="0" rIns="0" bIns="0" anchor="t" anchorCtr="0">
              <a:spAutoFit/>
            </a:bodyPr>
            <a:lstStyle/>
            <a:p>
              <a:pPr algn="l"/>
              <a:r>
                <a:rPr lang="en-US" sz="1050" dirty="0">
                  <a:solidFill>
                    <a:srgbClr val="F7F4EE"/>
                  </a:solidFill>
                  <a:latin typeface="Arial"/>
                  <a:ea typeface="Arial"/>
                  <a:cs typeface="Arial"/>
                </a:rPr>
                <a:t>Evidence and source links</a:t>
              </a:r>
            </a:p>
          </p:txBody>
        </p:sp>
      </p:grpSp>
      <p:grpSp>
        <p:nvGrpSpPr>
          <p:cNvPr id="95" name="Group 95"/>
          <p:cNvGrpSpPr/>
          <p:nvPr/>
        </p:nvGrpSpPr>
        <p:grpSpPr>
          <a:xfrm>
            <a:off x="590550" y="5572125"/>
            <a:ext cx="11029950" cy="361950"/>
            <a:chOff x="590550" y="5572125"/>
            <a:chExt cx="11029950" cy="361950"/>
          </a:xfrm>
        </p:grpSpPr>
        <p:sp>
          <p:nvSpPr>
            <p:cNvPr id="92" name="Rectangle 92"/>
            <p:cNvSpPr/>
            <p:nvPr/>
          </p:nvSpPr>
          <p:spPr>
            <a:xfrm>
              <a:off x="590550" y="5572125"/>
              <a:ext cx="11029950" cy="361950"/>
            </a:xfrm>
            <a:prstGeom prst="roundRect">
              <a:avLst>
                <a:gd name="adj" fmla="val 26316"/>
              </a:avLst>
            </a:prstGeom>
            <a:solidFill>
              <a:srgbClr val="EEEAE2"/>
            </a:solidFill>
            <a:ln>
              <a:noFill/>
            </a:ln>
          </p:spPr>
          <p:txBody>
            <a:bodyPr/>
            <a:lstStyle/>
            <a:p>
              <a:endParaRPr/>
            </a:p>
          </p:txBody>
        </p:sp>
        <p:sp>
          <p:nvSpPr>
            <p:cNvPr id="93" name="TextBox 93"/>
            <p:cNvSpPr txBox="1"/>
            <p:nvPr/>
          </p:nvSpPr>
          <p:spPr>
            <a:xfrm>
              <a:off x="775716" y="5696902"/>
              <a:ext cx="732038" cy="205359"/>
            </a:xfrm>
            <a:prstGeom prst="rect">
              <a:avLst/>
            </a:prstGeom>
            <a:noFill/>
            <a:ln>
              <a:noFill/>
            </a:ln>
          </p:spPr>
          <p:txBody>
            <a:bodyPr wrap="none" lIns="0" tIns="0" rIns="0" bIns="0" anchor="t" anchorCtr="0">
              <a:spAutoFit/>
            </a:bodyPr>
            <a:lstStyle/>
            <a:p>
              <a:pPr algn="l"/>
              <a:r>
                <a:rPr lang="en-US" sz="1050" b="1" dirty="0">
                  <a:solidFill>
                    <a:srgbClr val="D97745"/>
                  </a:solidFill>
                  <a:latin typeface="Arial"/>
                  <a:ea typeface="Arial"/>
                  <a:cs typeface="Arial"/>
                </a:rPr>
                <a:t>BOUNDARY</a:t>
              </a:r>
            </a:p>
          </p:txBody>
        </p:sp>
        <p:sp>
          <p:nvSpPr>
            <p:cNvPr id="94" name="TextBox 94"/>
            <p:cNvSpPr txBox="1"/>
            <p:nvPr/>
          </p:nvSpPr>
          <p:spPr>
            <a:xfrm>
              <a:off x="1708785" y="5688806"/>
              <a:ext cx="1683153" cy="172355"/>
            </a:xfrm>
            <a:prstGeom prst="rect">
              <a:avLst/>
            </a:prstGeom>
            <a:noFill/>
            <a:ln>
              <a:noFill/>
            </a:ln>
          </p:spPr>
          <p:txBody>
            <a:bodyPr wrap="none" lIns="0" tIns="0" rIns="0" bIns="0" anchor="t" anchorCtr="0">
              <a:spAutoFit/>
            </a:bodyPr>
            <a:lstStyle/>
            <a:p>
              <a:pPr algn="l"/>
              <a:r>
                <a:rPr lang="en-US" sz="1120" dirty="0">
                  <a:solidFill>
                    <a:srgbClr val="292824"/>
                  </a:solidFill>
                  <a:latin typeface="Arial"/>
                  <a:ea typeface="Arial"/>
                  <a:cs typeface="Arial"/>
                </a:rPr>
                <a:t>Only public-data prototype</a:t>
              </a:r>
            </a:p>
          </p:txBody>
        </p:sp>
      </p:grpSp>
      <p:grpSp>
        <p:nvGrpSpPr>
          <p:cNvPr id="99" name="Group 99"/>
          <p:cNvGrpSpPr/>
          <p:nvPr/>
        </p:nvGrpSpPr>
        <p:grpSpPr>
          <a:xfrm>
            <a:off x="584454" y="6248400"/>
            <a:ext cx="11042142" cy="409956"/>
            <a:chOff x="584454" y="6248400"/>
            <a:chExt cx="11042142" cy="409956"/>
          </a:xfrm>
        </p:grpSpPr>
        <p:sp>
          <p:nvSpPr>
            <p:cNvPr id="96" name="Line 96"/>
            <p:cNvSpPr/>
            <p:nvPr/>
          </p:nvSpPr>
          <p:spPr>
            <a:xfrm>
              <a:off x="590550" y="6248400"/>
              <a:ext cx="11029950" cy="9525"/>
            </a:xfrm>
            <a:custGeom>
              <a:avLst/>
              <a:gdLst/>
              <a:ahLst/>
              <a:cxnLst/>
              <a:rect l="l" t="t" r="r" b="b"/>
              <a:pathLst>
                <a:path w="11029950" h="9525">
                  <a:moveTo>
                    <a:pt x="0" y="0"/>
                  </a:moveTo>
                  <a:lnTo>
                    <a:pt x="11029950" y="0"/>
                  </a:lnTo>
                </a:path>
              </a:pathLst>
            </a:custGeom>
            <a:noFill/>
            <a:ln w="19050">
              <a:solidFill>
                <a:srgbClr val="D8D1C6"/>
              </a:solidFill>
            </a:ln>
          </p:spPr>
          <p:txBody>
            <a:bodyPr/>
            <a:lstStyle/>
            <a:p>
              <a:endParaRPr/>
            </a:p>
          </p:txBody>
        </p:sp>
        <p:sp>
          <p:nvSpPr>
            <p:cNvPr id="97" name="TextBox 97"/>
            <p:cNvSpPr txBox="1"/>
            <p:nvPr/>
          </p:nvSpPr>
          <p:spPr>
            <a:xfrm>
              <a:off x="584454" y="6423660"/>
              <a:ext cx="1729943" cy="234696"/>
            </a:xfrm>
            <a:prstGeom prst="rect">
              <a:avLst/>
            </a:prstGeom>
            <a:noFill/>
            <a:ln>
              <a:noFill/>
            </a:ln>
          </p:spPr>
          <p:txBody>
            <a:bodyPr wrap="none" lIns="0" tIns="0" rIns="0" bIns="0" anchor="t" anchorCtr="0">
              <a:spAutoFit/>
            </a:bodyPr>
            <a:lstStyle/>
            <a:p>
              <a:pPr algn="l"/>
              <a:r>
                <a:rPr lang="en-US" sz="1200" dirty="0">
                  <a:solidFill>
                    <a:srgbClr val="6B6861"/>
                  </a:solidFill>
                  <a:latin typeface="Arial"/>
                  <a:ea typeface="Arial"/>
                  <a:cs typeface="Arial"/>
                </a:rPr>
                <a:t>Prototype framework</a:t>
              </a:r>
            </a:p>
          </p:txBody>
        </p:sp>
        <p:sp>
          <p:nvSpPr>
            <p:cNvPr id="98" name="TextBox 98"/>
            <p:cNvSpPr txBox="1"/>
            <p:nvPr/>
          </p:nvSpPr>
          <p:spPr>
            <a:xfrm>
              <a:off x="11073232" y="6423660"/>
              <a:ext cx="553364" cy="234696"/>
            </a:xfrm>
            <a:prstGeom prst="rect">
              <a:avLst/>
            </a:prstGeom>
            <a:noFill/>
            <a:ln>
              <a:noFill/>
            </a:ln>
          </p:spPr>
          <p:txBody>
            <a:bodyPr wrap="none" lIns="0" tIns="0" rIns="0" bIns="0" anchor="t" anchorCtr="0">
              <a:spAutoFit/>
            </a:bodyPr>
            <a:lstStyle/>
            <a:p>
              <a:pPr algn="r"/>
              <a:r>
                <a:rPr lang="en-US" sz="1200" dirty="0">
                  <a:solidFill>
                    <a:srgbClr val="6B6861"/>
                  </a:solidFill>
                  <a:latin typeface="Arial"/>
                  <a:ea typeface="Arial"/>
                  <a:cs typeface="Arial"/>
                </a:rPr>
                <a:t>04 / 06</a:t>
              </a:r>
            </a:p>
          </p:txBody>
        </p:sp>
      </p:grpSp>
      <p:sp>
        <p:nvSpPr>
          <p:cNvPr id="105" name="TextBox 56">
            <a:extLst>
              <a:ext uri="{FF2B5EF4-FFF2-40B4-BE49-F238E27FC236}">
                <a16:creationId xmlns:a16="http://schemas.microsoft.com/office/drawing/2014/main" id="{0F178B9B-3488-8BE3-ADF8-E3B16C69BEFF}"/>
              </a:ext>
            </a:extLst>
          </p:cNvPr>
          <p:cNvSpPr txBox="1"/>
          <p:nvPr/>
        </p:nvSpPr>
        <p:spPr>
          <a:xfrm>
            <a:off x="5318125" y="4389754"/>
            <a:ext cx="1698105" cy="484748"/>
          </a:xfrm>
          <a:prstGeom prst="rect">
            <a:avLst/>
          </a:prstGeom>
          <a:noFill/>
          <a:ln>
            <a:noFill/>
          </a:ln>
        </p:spPr>
        <p:txBody>
          <a:bodyPr wrap="square" lIns="0" tIns="0" rIns="0" bIns="0" anchor="t" anchorCtr="0">
            <a:spAutoFit/>
          </a:bodyPr>
          <a:lstStyle/>
          <a:p>
            <a:pPr algn="l"/>
            <a:r>
              <a:rPr lang="en-US" sz="1050" dirty="0">
                <a:solidFill>
                  <a:srgbClr val="6B6861"/>
                </a:solidFill>
                <a:latin typeface="Arial"/>
                <a:ea typeface="Arial"/>
                <a:cs typeface="Arial"/>
              </a:rPr>
              <a:t>Evidence-backed relationship candidates</a:t>
            </a:r>
          </a:p>
          <a:p>
            <a:pPr algn="l"/>
            <a:endParaRPr lang="en-US" sz="1050" dirty="0">
              <a:solidFill>
                <a:srgbClr val="6B6861"/>
              </a:solidFill>
              <a:latin typeface="Arial"/>
              <a:ea typeface="Arial"/>
              <a:cs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1F1F1C"/>
          </a:solidFill>
          <a:ln>
            <a:noFill/>
          </a:ln>
        </p:spPr>
        <p:txBody>
          <a:bodyPr/>
          <a:lstStyle/>
          <a:p>
            <a:endParaRPr/>
          </a:p>
        </p:txBody>
      </p:sp>
      <p:sp>
        <p:nvSpPr>
          <p:cNvPr id="3" name="Rectangle 3"/>
          <p:cNvSpPr/>
          <p:nvPr/>
        </p:nvSpPr>
        <p:spPr>
          <a:xfrm>
            <a:off x="0" y="0"/>
            <a:ext cx="152400" cy="6858000"/>
          </a:xfrm>
          <a:prstGeom prst="rect">
            <a:avLst/>
          </a:prstGeom>
          <a:solidFill>
            <a:srgbClr val="D97745"/>
          </a:solidFill>
          <a:ln>
            <a:noFill/>
          </a:ln>
        </p:spPr>
        <p:txBody>
          <a:bodyPr/>
          <a:lstStyle/>
          <a:p>
            <a:endParaRPr/>
          </a:p>
        </p:txBody>
      </p:sp>
      <p:grpSp>
        <p:nvGrpSpPr>
          <p:cNvPr id="6" name="Group 6"/>
          <p:cNvGrpSpPr/>
          <p:nvPr/>
        </p:nvGrpSpPr>
        <p:grpSpPr>
          <a:xfrm>
            <a:off x="666750" y="759142"/>
            <a:ext cx="5860579" cy="1010004"/>
            <a:chOff x="666750" y="759142"/>
            <a:chExt cx="5860579" cy="1010004"/>
          </a:xfrm>
        </p:grpSpPr>
        <p:sp>
          <p:nvSpPr>
            <p:cNvPr id="4" name="TextBox 4"/>
            <p:cNvSpPr txBox="1"/>
            <p:nvPr/>
          </p:nvSpPr>
          <p:spPr>
            <a:xfrm>
              <a:off x="678942" y="759142"/>
              <a:ext cx="2407710" cy="492443"/>
            </a:xfrm>
            <a:prstGeom prst="rect">
              <a:avLst/>
            </a:prstGeom>
            <a:noFill/>
            <a:ln>
              <a:noFill/>
            </a:ln>
          </p:spPr>
          <p:txBody>
            <a:bodyPr wrap="none" lIns="0" tIns="0" rIns="0" bIns="0" anchor="t" anchorCtr="0">
              <a:spAutoFit/>
            </a:bodyPr>
            <a:lstStyle/>
            <a:p>
              <a:pPr algn="l"/>
              <a:r>
                <a:rPr lang="en-US" sz="3200" b="1" spc="150" dirty="0">
                  <a:solidFill>
                    <a:srgbClr val="D97745"/>
                  </a:solidFill>
                  <a:latin typeface="Arial"/>
                  <a:ea typeface="Arial"/>
                  <a:cs typeface="Arial"/>
                </a:rPr>
                <a:t>LIVE DEMO</a:t>
              </a:r>
            </a:p>
          </p:txBody>
        </p:sp>
        <p:sp>
          <p:nvSpPr>
            <p:cNvPr id="5" name="TextBox 5"/>
            <p:cNvSpPr txBox="1"/>
            <p:nvPr/>
          </p:nvSpPr>
          <p:spPr>
            <a:xfrm>
              <a:off x="666750" y="1399814"/>
              <a:ext cx="5860579" cy="369332"/>
            </a:xfrm>
            <a:prstGeom prst="rect">
              <a:avLst/>
            </a:prstGeom>
            <a:noFill/>
            <a:ln>
              <a:noFill/>
            </a:ln>
          </p:spPr>
          <p:txBody>
            <a:bodyPr wrap="none" lIns="0" tIns="0" rIns="0" bIns="0" anchor="t" anchorCtr="0">
              <a:spAutoFit/>
            </a:bodyPr>
            <a:lstStyle/>
            <a:p>
              <a:pPr algn="l"/>
              <a:r>
                <a:rPr lang="en-US" sz="2400" b="1" dirty="0">
                  <a:solidFill>
                    <a:srgbClr val="F7F4EE"/>
                  </a:solidFill>
                  <a:latin typeface="Arial"/>
                  <a:ea typeface="Arial"/>
                  <a:cs typeface="Arial"/>
                </a:rPr>
                <a:t>What can we learn about one company?</a:t>
              </a:r>
            </a:p>
          </p:txBody>
        </p:sp>
      </p:grpSp>
      <p:grpSp>
        <p:nvGrpSpPr>
          <p:cNvPr id="16" name="Group 16"/>
          <p:cNvGrpSpPr/>
          <p:nvPr/>
        </p:nvGrpSpPr>
        <p:grpSpPr>
          <a:xfrm>
            <a:off x="675894" y="2381250"/>
            <a:ext cx="10830306" cy="2555748"/>
            <a:chOff x="675894" y="2381250"/>
            <a:chExt cx="10830306" cy="2555748"/>
          </a:xfrm>
        </p:grpSpPr>
        <p:sp>
          <p:nvSpPr>
            <p:cNvPr id="7" name="Line 7"/>
            <p:cNvSpPr/>
            <p:nvPr/>
          </p:nvSpPr>
          <p:spPr>
            <a:xfrm>
              <a:off x="685800" y="2381250"/>
              <a:ext cx="10820400" cy="9525"/>
            </a:xfrm>
            <a:custGeom>
              <a:avLst/>
              <a:gdLst/>
              <a:ahLst/>
              <a:cxnLst/>
              <a:rect l="l" t="t" r="r" b="b"/>
              <a:pathLst>
                <a:path w="10820400" h="9525">
                  <a:moveTo>
                    <a:pt x="0" y="0"/>
                  </a:moveTo>
                  <a:lnTo>
                    <a:pt x="10820400" y="0"/>
                  </a:lnTo>
                </a:path>
              </a:pathLst>
            </a:custGeom>
            <a:noFill/>
            <a:ln w="19050">
              <a:solidFill>
                <a:srgbClr val="6B6861"/>
              </a:solidFill>
            </a:ln>
          </p:spPr>
          <p:txBody>
            <a:bodyPr/>
            <a:lstStyle/>
            <a:p>
              <a:endParaRPr/>
            </a:p>
          </p:txBody>
        </p:sp>
        <p:sp>
          <p:nvSpPr>
            <p:cNvPr id="8" name="TextBox 8"/>
            <p:cNvSpPr txBox="1"/>
            <p:nvPr/>
          </p:nvSpPr>
          <p:spPr>
            <a:xfrm>
              <a:off x="675894" y="2713672"/>
              <a:ext cx="323010" cy="381381"/>
            </a:xfrm>
            <a:prstGeom prst="rect">
              <a:avLst/>
            </a:prstGeom>
            <a:noFill/>
            <a:ln>
              <a:noFill/>
            </a:ln>
          </p:spPr>
          <p:txBody>
            <a:bodyPr wrap="none" lIns="0" tIns="0" rIns="0" bIns="0" anchor="t" anchorCtr="0">
              <a:spAutoFit/>
            </a:bodyPr>
            <a:lstStyle/>
            <a:p>
              <a:pPr algn="l"/>
              <a:r>
                <a:rPr lang="en-US" sz="1950" b="1" dirty="0">
                  <a:solidFill>
                    <a:srgbClr val="D97745"/>
                  </a:solidFill>
                  <a:latin typeface="Arial"/>
                  <a:ea typeface="Arial"/>
                  <a:cs typeface="Arial"/>
                </a:rPr>
                <a:t>01</a:t>
              </a:r>
            </a:p>
          </p:txBody>
        </p:sp>
        <p:sp>
          <p:nvSpPr>
            <p:cNvPr id="9" name="TextBox 9"/>
            <p:cNvSpPr txBox="1"/>
            <p:nvPr/>
          </p:nvSpPr>
          <p:spPr>
            <a:xfrm>
              <a:off x="1370457" y="2697480"/>
              <a:ext cx="9331981" cy="410718"/>
            </a:xfrm>
            <a:prstGeom prst="rect">
              <a:avLst/>
            </a:prstGeom>
            <a:noFill/>
            <a:ln>
              <a:noFill/>
            </a:ln>
          </p:spPr>
          <p:txBody>
            <a:bodyPr wrap="none" lIns="0" tIns="0" rIns="0" bIns="0" anchor="t" anchorCtr="0">
              <a:spAutoFit/>
            </a:bodyPr>
            <a:lstStyle/>
            <a:p>
              <a:pPr algn="l"/>
              <a:r>
                <a:rPr lang="en-US" sz="2100" dirty="0">
                  <a:solidFill>
                    <a:srgbClr val="F7F4EE"/>
                  </a:solidFill>
                  <a:latin typeface="Arial"/>
                  <a:ea typeface="Arial"/>
                  <a:cs typeface="Arial"/>
                </a:rPr>
                <a:t>Which companies, people and projects are connected to the target?</a:t>
              </a:r>
            </a:p>
          </p:txBody>
        </p:sp>
        <p:sp>
          <p:nvSpPr>
            <p:cNvPr id="10" name="Line 10"/>
            <p:cNvSpPr/>
            <p:nvPr/>
          </p:nvSpPr>
          <p:spPr>
            <a:xfrm>
              <a:off x="685800" y="3295650"/>
              <a:ext cx="10820400" cy="9525"/>
            </a:xfrm>
            <a:custGeom>
              <a:avLst/>
              <a:gdLst/>
              <a:ahLst/>
              <a:cxnLst/>
              <a:rect l="l" t="t" r="r" b="b"/>
              <a:pathLst>
                <a:path w="10820400" h="9525">
                  <a:moveTo>
                    <a:pt x="0" y="0"/>
                  </a:moveTo>
                  <a:lnTo>
                    <a:pt x="10820400" y="0"/>
                  </a:lnTo>
                </a:path>
              </a:pathLst>
            </a:custGeom>
            <a:noFill/>
            <a:ln w="19050">
              <a:solidFill>
                <a:srgbClr val="6B6861"/>
              </a:solidFill>
            </a:ln>
          </p:spPr>
          <p:txBody>
            <a:bodyPr/>
            <a:lstStyle/>
            <a:p>
              <a:endParaRPr/>
            </a:p>
          </p:txBody>
        </p:sp>
        <p:sp>
          <p:nvSpPr>
            <p:cNvPr id="11" name="TextBox 11"/>
            <p:cNvSpPr txBox="1"/>
            <p:nvPr/>
          </p:nvSpPr>
          <p:spPr>
            <a:xfrm>
              <a:off x="675894" y="3628072"/>
              <a:ext cx="323010" cy="381381"/>
            </a:xfrm>
            <a:prstGeom prst="rect">
              <a:avLst/>
            </a:prstGeom>
            <a:noFill/>
            <a:ln>
              <a:noFill/>
            </a:ln>
          </p:spPr>
          <p:txBody>
            <a:bodyPr wrap="none" lIns="0" tIns="0" rIns="0" bIns="0" anchor="t" anchorCtr="0">
              <a:spAutoFit/>
            </a:bodyPr>
            <a:lstStyle/>
            <a:p>
              <a:pPr algn="l"/>
              <a:r>
                <a:rPr lang="en-US" sz="1950" b="1" dirty="0">
                  <a:solidFill>
                    <a:srgbClr val="D97745"/>
                  </a:solidFill>
                  <a:latin typeface="Arial"/>
                  <a:ea typeface="Arial"/>
                  <a:cs typeface="Arial"/>
                </a:rPr>
                <a:t>02</a:t>
              </a:r>
            </a:p>
          </p:txBody>
        </p:sp>
        <p:sp>
          <p:nvSpPr>
            <p:cNvPr id="12" name="TextBox 12"/>
            <p:cNvSpPr txBox="1"/>
            <p:nvPr/>
          </p:nvSpPr>
          <p:spPr>
            <a:xfrm>
              <a:off x="1370457" y="3611880"/>
              <a:ext cx="7804809" cy="410718"/>
            </a:xfrm>
            <a:prstGeom prst="rect">
              <a:avLst/>
            </a:prstGeom>
            <a:noFill/>
            <a:ln>
              <a:noFill/>
            </a:ln>
          </p:spPr>
          <p:txBody>
            <a:bodyPr wrap="none" lIns="0" tIns="0" rIns="0" bIns="0" anchor="t" anchorCtr="0">
              <a:spAutoFit/>
            </a:bodyPr>
            <a:lstStyle/>
            <a:p>
              <a:pPr algn="l"/>
              <a:r>
                <a:rPr lang="en-US" sz="2100" dirty="0">
                  <a:solidFill>
                    <a:srgbClr val="F7F4EE"/>
                  </a:solidFill>
                  <a:latin typeface="Arial"/>
                  <a:ea typeface="Arial"/>
                  <a:cs typeface="Arial"/>
                </a:rPr>
                <a:t>Are risk signals associated with any connected entities?</a:t>
              </a:r>
            </a:p>
          </p:txBody>
        </p:sp>
        <p:sp>
          <p:nvSpPr>
            <p:cNvPr id="13" name="Line 13"/>
            <p:cNvSpPr/>
            <p:nvPr/>
          </p:nvSpPr>
          <p:spPr>
            <a:xfrm>
              <a:off x="685800" y="4210050"/>
              <a:ext cx="10820400" cy="9525"/>
            </a:xfrm>
            <a:custGeom>
              <a:avLst/>
              <a:gdLst/>
              <a:ahLst/>
              <a:cxnLst/>
              <a:rect l="l" t="t" r="r" b="b"/>
              <a:pathLst>
                <a:path w="10820400" h="9525">
                  <a:moveTo>
                    <a:pt x="0" y="0"/>
                  </a:moveTo>
                  <a:lnTo>
                    <a:pt x="10820400" y="0"/>
                  </a:lnTo>
                </a:path>
              </a:pathLst>
            </a:custGeom>
            <a:noFill/>
            <a:ln w="19050">
              <a:solidFill>
                <a:srgbClr val="6B6861"/>
              </a:solidFill>
            </a:ln>
          </p:spPr>
          <p:txBody>
            <a:bodyPr/>
            <a:lstStyle/>
            <a:p>
              <a:endParaRPr/>
            </a:p>
          </p:txBody>
        </p:sp>
        <p:sp>
          <p:nvSpPr>
            <p:cNvPr id="14" name="TextBox 14"/>
            <p:cNvSpPr txBox="1"/>
            <p:nvPr/>
          </p:nvSpPr>
          <p:spPr>
            <a:xfrm>
              <a:off x="675894" y="4542472"/>
              <a:ext cx="323010" cy="381381"/>
            </a:xfrm>
            <a:prstGeom prst="rect">
              <a:avLst/>
            </a:prstGeom>
            <a:noFill/>
            <a:ln>
              <a:noFill/>
            </a:ln>
          </p:spPr>
          <p:txBody>
            <a:bodyPr wrap="none" lIns="0" tIns="0" rIns="0" bIns="0" anchor="t" anchorCtr="0">
              <a:spAutoFit/>
            </a:bodyPr>
            <a:lstStyle/>
            <a:p>
              <a:pPr algn="l"/>
              <a:r>
                <a:rPr lang="en-US" sz="1950" b="1" dirty="0">
                  <a:solidFill>
                    <a:srgbClr val="D97745"/>
                  </a:solidFill>
                  <a:latin typeface="Arial"/>
                  <a:ea typeface="Arial"/>
                  <a:cs typeface="Arial"/>
                </a:rPr>
                <a:t>03</a:t>
              </a:r>
            </a:p>
          </p:txBody>
        </p:sp>
        <p:sp>
          <p:nvSpPr>
            <p:cNvPr id="15" name="TextBox 15"/>
            <p:cNvSpPr txBox="1"/>
            <p:nvPr/>
          </p:nvSpPr>
          <p:spPr>
            <a:xfrm>
              <a:off x="1370457" y="4526280"/>
              <a:ext cx="5896626" cy="410718"/>
            </a:xfrm>
            <a:prstGeom prst="rect">
              <a:avLst/>
            </a:prstGeom>
            <a:noFill/>
            <a:ln>
              <a:noFill/>
            </a:ln>
          </p:spPr>
          <p:txBody>
            <a:bodyPr wrap="none" lIns="0" tIns="0" rIns="0" bIns="0" anchor="t" anchorCtr="0">
              <a:spAutoFit/>
            </a:bodyPr>
            <a:lstStyle/>
            <a:p>
              <a:pPr algn="l"/>
              <a:r>
                <a:rPr lang="en-US" sz="2100" dirty="0">
                  <a:solidFill>
                    <a:srgbClr val="F7F4EE"/>
                  </a:solidFill>
                  <a:latin typeface="Arial"/>
                  <a:ea typeface="Arial"/>
                  <a:cs typeface="Arial"/>
                </a:rPr>
                <a:t>What evidence supports each relationship?</a:t>
              </a:r>
            </a:p>
          </p:txBody>
        </p:sp>
      </p:grpSp>
      <p:grpSp>
        <p:nvGrpSpPr>
          <p:cNvPr id="23" name="Group 23"/>
          <p:cNvGrpSpPr/>
          <p:nvPr/>
        </p:nvGrpSpPr>
        <p:grpSpPr>
          <a:xfrm>
            <a:off x="627312" y="5286375"/>
            <a:ext cx="10878888" cy="542925"/>
            <a:chOff x="627312" y="5286375"/>
            <a:chExt cx="10878888" cy="542925"/>
          </a:xfrm>
        </p:grpSpPr>
        <p:sp>
          <p:nvSpPr>
            <p:cNvPr id="17" name="Rectangle 17"/>
            <p:cNvSpPr/>
            <p:nvPr/>
          </p:nvSpPr>
          <p:spPr>
            <a:xfrm>
              <a:off x="685800" y="5286375"/>
              <a:ext cx="10820400" cy="542925"/>
            </a:xfrm>
            <a:prstGeom prst="roundRect">
              <a:avLst>
                <a:gd name="adj" fmla="val 24561"/>
              </a:avLst>
            </a:prstGeom>
            <a:solidFill>
              <a:srgbClr val="302F2B"/>
            </a:solidFill>
            <a:ln>
              <a:noFill/>
            </a:ln>
          </p:spPr>
          <p:txBody>
            <a:bodyPr/>
            <a:lstStyle/>
            <a:p>
              <a:endParaRPr/>
            </a:p>
          </p:txBody>
        </p:sp>
        <p:sp>
          <p:nvSpPr>
            <p:cNvPr id="18" name="TextBox 18"/>
            <p:cNvSpPr txBox="1"/>
            <p:nvPr/>
          </p:nvSpPr>
          <p:spPr>
            <a:xfrm>
              <a:off x="627312" y="5459254"/>
              <a:ext cx="2079127" cy="308039"/>
            </a:xfrm>
            <a:prstGeom prst="rect">
              <a:avLst/>
            </a:prstGeom>
            <a:noFill/>
            <a:ln>
              <a:noFill/>
            </a:ln>
          </p:spPr>
          <p:txBody>
            <a:bodyPr wrap="none" lIns="0" tIns="0" rIns="0" bIns="0" anchor="t" anchorCtr="0">
              <a:spAutoFit/>
            </a:bodyPr>
            <a:lstStyle/>
            <a:p>
              <a:pPr algn="ctr"/>
              <a:r>
                <a:rPr lang="en-US" sz="1580" dirty="0">
                  <a:solidFill>
                    <a:srgbClr val="F7F4EE"/>
                  </a:solidFill>
                  <a:latin typeface="Arial"/>
                  <a:ea typeface="Arial"/>
                  <a:cs typeface="Arial"/>
                </a:rPr>
                <a:t>Confirm legal entity</a:t>
              </a:r>
            </a:p>
          </p:txBody>
        </p:sp>
        <p:sp>
          <p:nvSpPr>
            <p:cNvPr id="19" name="TextBox 19"/>
            <p:cNvSpPr txBox="1"/>
            <p:nvPr/>
          </p:nvSpPr>
          <p:spPr>
            <a:xfrm>
              <a:off x="3881971" y="5402580"/>
              <a:ext cx="332308" cy="410718"/>
            </a:xfrm>
            <a:prstGeom prst="rect">
              <a:avLst/>
            </a:prstGeom>
            <a:noFill/>
            <a:ln>
              <a:noFill/>
            </a:ln>
          </p:spPr>
          <p:txBody>
            <a:bodyPr wrap="none" lIns="0" tIns="0" rIns="0" bIns="0" anchor="t" anchorCtr="0">
              <a:spAutoFit/>
            </a:bodyPr>
            <a:lstStyle/>
            <a:p>
              <a:pPr algn="ctr"/>
              <a:r>
                <a:rPr lang="en-US" sz="2100" dirty="0">
                  <a:solidFill>
                    <a:srgbClr val="D97745"/>
                  </a:solidFill>
                  <a:latin typeface="Arial"/>
                  <a:ea typeface="Arial"/>
                  <a:cs typeface="Arial"/>
                </a:rPr>
                <a:t>-&gt;</a:t>
              </a:r>
            </a:p>
          </p:txBody>
        </p:sp>
        <p:sp>
          <p:nvSpPr>
            <p:cNvPr id="20" name="TextBox 20"/>
            <p:cNvSpPr txBox="1"/>
            <p:nvPr/>
          </p:nvSpPr>
          <p:spPr>
            <a:xfrm>
              <a:off x="5241786" y="5459254"/>
              <a:ext cx="1708428" cy="308039"/>
            </a:xfrm>
            <a:prstGeom prst="rect">
              <a:avLst/>
            </a:prstGeom>
            <a:noFill/>
            <a:ln>
              <a:noFill/>
            </a:ln>
          </p:spPr>
          <p:txBody>
            <a:bodyPr wrap="none" lIns="0" tIns="0" rIns="0" bIns="0" anchor="t" anchorCtr="0">
              <a:spAutoFit/>
            </a:bodyPr>
            <a:lstStyle/>
            <a:p>
              <a:pPr algn="ctr"/>
              <a:r>
                <a:rPr lang="en-US" sz="1580" dirty="0">
                  <a:solidFill>
                    <a:srgbClr val="F7F4EE"/>
                  </a:solidFill>
                  <a:latin typeface="Arial"/>
                  <a:ea typeface="Arial"/>
                  <a:cs typeface="Arial"/>
                </a:rPr>
                <a:t>Explore network</a:t>
              </a:r>
            </a:p>
          </p:txBody>
        </p:sp>
        <p:sp>
          <p:nvSpPr>
            <p:cNvPr id="21" name="TextBox 21"/>
            <p:cNvSpPr txBox="1"/>
            <p:nvPr/>
          </p:nvSpPr>
          <p:spPr>
            <a:xfrm>
              <a:off x="8168221" y="5402580"/>
              <a:ext cx="332308" cy="410718"/>
            </a:xfrm>
            <a:prstGeom prst="rect">
              <a:avLst/>
            </a:prstGeom>
            <a:noFill/>
            <a:ln>
              <a:noFill/>
            </a:ln>
          </p:spPr>
          <p:txBody>
            <a:bodyPr wrap="none" lIns="0" tIns="0" rIns="0" bIns="0" anchor="t" anchorCtr="0">
              <a:spAutoFit/>
            </a:bodyPr>
            <a:lstStyle/>
            <a:p>
              <a:pPr algn="ctr"/>
              <a:r>
                <a:rPr lang="en-US" sz="2100" dirty="0">
                  <a:solidFill>
                    <a:srgbClr val="D97745"/>
                  </a:solidFill>
                  <a:latin typeface="Arial"/>
                  <a:ea typeface="Arial"/>
                  <a:cs typeface="Arial"/>
                </a:rPr>
                <a:t>-&gt;</a:t>
              </a:r>
            </a:p>
          </p:txBody>
        </p:sp>
        <p:sp>
          <p:nvSpPr>
            <p:cNvPr id="22" name="TextBox 22"/>
            <p:cNvSpPr txBox="1"/>
            <p:nvPr/>
          </p:nvSpPr>
          <p:spPr>
            <a:xfrm>
              <a:off x="9302830" y="5459254"/>
              <a:ext cx="1549240" cy="308039"/>
            </a:xfrm>
            <a:prstGeom prst="rect">
              <a:avLst/>
            </a:prstGeom>
            <a:noFill/>
            <a:ln>
              <a:noFill/>
            </a:ln>
          </p:spPr>
          <p:txBody>
            <a:bodyPr wrap="none" lIns="0" tIns="0" rIns="0" bIns="0" anchor="t" anchorCtr="0">
              <a:spAutoFit/>
            </a:bodyPr>
            <a:lstStyle/>
            <a:p>
              <a:pPr algn="ctr"/>
              <a:r>
                <a:rPr lang="en-US" sz="1580" dirty="0">
                  <a:solidFill>
                    <a:srgbClr val="F7F4EE"/>
                  </a:solidFill>
                  <a:latin typeface="Arial"/>
                  <a:ea typeface="Arial"/>
                  <a:cs typeface="Arial"/>
                </a:rPr>
                <a:t>Trace evidence</a:t>
              </a:r>
            </a:p>
          </p:txBody>
        </p:sp>
      </p:grpSp>
      <p:grpSp>
        <p:nvGrpSpPr>
          <p:cNvPr id="26" name="Group 26"/>
          <p:cNvGrpSpPr/>
          <p:nvPr/>
        </p:nvGrpSpPr>
        <p:grpSpPr>
          <a:xfrm>
            <a:off x="679704" y="6423660"/>
            <a:ext cx="10832592" cy="234696"/>
            <a:chOff x="679704" y="6423660"/>
            <a:chExt cx="10832592" cy="234696"/>
          </a:xfrm>
        </p:grpSpPr>
        <p:sp>
          <p:nvSpPr>
            <p:cNvPr id="24" name="TextBox 24"/>
            <p:cNvSpPr txBox="1"/>
            <p:nvPr/>
          </p:nvSpPr>
          <p:spPr>
            <a:xfrm>
              <a:off x="679704" y="6423660"/>
              <a:ext cx="2571408" cy="234696"/>
            </a:xfrm>
            <a:prstGeom prst="rect">
              <a:avLst/>
            </a:prstGeom>
            <a:noFill/>
            <a:ln>
              <a:noFill/>
            </a:ln>
          </p:spPr>
          <p:txBody>
            <a:bodyPr wrap="none" lIns="0" tIns="0" rIns="0" bIns="0" anchor="t" anchorCtr="0">
              <a:spAutoFit/>
            </a:bodyPr>
            <a:lstStyle/>
            <a:p>
              <a:pPr algn="l"/>
              <a:r>
                <a:rPr lang="en-US" sz="1200" dirty="0">
                  <a:solidFill>
                    <a:srgbClr val="9B978E"/>
                  </a:solidFill>
                  <a:latin typeface="Arial"/>
                  <a:ea typeface="Arial"/>
                  <a:cs typeface="Arial"/>
                </a:rPr>
                <a:t>Customer Relationship Discovery</a:t>
              </a:r>
            </a:p>
          </p:txBody>
        </p:sp>
        <p:sp>
          <p:nvSpPr>
            <p:cNvPr id="25" name="TextBox 25"/>
            <p:cNvSpPr txBox="1"/>
            <p:nvPr/>
          </p:nvSpPr>
          <p:spPr>
            <a:xfrm>
              <a:off x="10958932" y="6423660"/>
              <a:ext cx="553364" cy="234696"/>
            </a:xfrm>
            <a:prstGeom prst="rect">
              <a:avLst/>
            </a:prstGeom>
            <a:noFill/>
            <a:ln>
              <a:noFill/>
            </a:ln>
          </p:spPr>
          <p:txBody>
            <a:bodyPr wrap="none" lIns="0" tIns="0" rIns="0" bIns="0" anchor="t" anchorCtr="0">
              <a:spAutoFit/>
            </a:bodyPr>
            <a:lstStyle/>
            <a:p>
              <a:pPr algn="r"/>
              <a:r>
                <a:rPr lang="en-US" sz="1200" dirty="0">
                  <a:solidFill>
                    <a:srgbClr val="9B978E"/>
                  </a:solidFill>
                  <a:latin typeface="Arial"/>
                  <a:ea typeface="Arial"/>
                  <a:cs typeface="Arial"/>
                </a:rPr>
                <a:t>05 / 06</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4EE"/>
          </a:solidFill>
          <a:ln>
            <a:noFill/>
          </a:ln>
        </p:spPr>
        <p:txBody>
          <a:bodyPr/>
          <a:lstStyle/>
          <a:p>
            <a:endParaRPr/>
          </a:p>
        </p:txBody>
      </p:sp>
      <p:sp>
        <p:nvSpPr>
          <p:cNvPr id="3" name="Rectangle 3"/>
          <p:cNvSpPr/>
          <p:nvPr/>
        </p:nvSpPr>
        <p:spPr>
          <a:xfrm>
            <a:off x="0" y="0"/>
            <a:ext cx="152400" cy="6858000"/>
          </a:xfrm>
          <a:prstGeom prst="rect">
            <a:avLst/>
          </a:prstGeom>
          <a:solidFill>
            <a:srgbClr val="D97745"/>
          </a:solidFill>
          <a:ln>
            <a:noFill/>
          </a:ln>
        </p:spPr>
        <p:txBody>
          <a:bodyPr/>
          <a:lstStyle/>
          <a:p>
            <a:endParaRPr/>
          </a:p>
        </p:txBody>
      </p:sp>
      <p:grpSp>
        <p:nvGrpSpPr>
          <p:cNvPr id="7" name="Group 7"/>
          <p:cNvGrpSpPr/>
          <p:nvPr/>
        </p:nvGrpSpPr>
        <p:grpSpPr>
          <a:xfrm>
            <a:off x="669036" y="692468"/>
            <a:ext cx="2013660" cy="1411753"/>
            <a:chOff x="669036" y="692468"/>
            <a:chExt cx="2013660" cy="1411753"/>
          </a:xfrm>
        </p:grpSpPr>
        <p:sp>
          <p:nvSpPr>
            <p:cNvPr id="4" name="TextBox 4"/>
            <p:cNvSpPr txBox="1"/>
            <p:nvPr/>
          </p:nvSpPr>
          <p:spPr>
            <a:xfrm>
              <a:off x="678942" y="692468"/>
              <a:ext cx="2003754" cy="492443"/>
            </a:xfrm>
            <a:prstGeom prst="rect">
              <a:avLst/>
            </a:prstGeom>
            <a:noFill/>
            <a:ln>
              <a:noFill/>
            </a:ln>
          </p:spPr>
          <p:txBody>
            <a:bodyPr wrap="none" lIns="0" tIns="0" rIns="0" bIns="0" anchor="t" anchorCtr="0">
              <a:spAutoFit/>
            </a:bodyPr>
            <a:lstStyle/>
            <a:p>
              <a:pPr algn="l"/>
              <a:r>
                <a:rPr lang="en-US" sz="3200" b="1" spc="150" dirty="0">
                  <a:solidFill>
                    <a:srgbClr val="D97745"/>
                  </a:solidFill>
                  <a:latin typeface="Arial"/>
                  <a:ea typeface="Arial"/>
                  <a:cs typeface="Arial"/>
                </a:rPr>
                <a:t>CLOSING</a:t>
              </a:r>
            </a:p>
          </p:txBody>
        </p:sp>
        <p:sp>
          <p:nvSpPr>
            <p:cNvPr id="6" name="TextBox 6"/>
            <p:cNvSpPr txBox="1"/>
            <p:nvPr/>
          </p:nvSpPr>
          <p:spPr>
            <a:xfrm>
              <a:off x="669036" y="1596390"/>
              <a:ext cx="65" cy="507831"/>
            </a:xfrm>
            <a:prstGeom prst="rect">
              <a:avLst/>
            </a:prstGeom>
            <a:noFill/>
            <a:ln>
              <a:noFill/>
            </a:ln>
          </p:spPr>
          <p:txBody>
            <a:bodyPr wrap="none" lIns="0" tIns="0" rIns="0" bIns="0" anchor="t" anchorCtr="0">
              <a:spAutoFit/>
            </a:bodyPr>
            <a:lstStyle/>
            <a:p>
              <a:pPr algn="l"/>
              <a:endParaRPr lang="en-US" sz="3300" b="1" dirty="0">
                <a:solidFill>
                  <a:srgbClr val="1F1F1C"/>
                </a:solidFill>
                <a:latin typeface="Arial"/>
                <a:ea typeface="Arial"/>
                <a:cs typeface="Arial"/>
              </a:endParaRPr>
            </a:p>
          </p:txBody>
        </p:sp>
      </p:grpSp>
      <p:grpSp>
        <p:nvGrpSpPr>
          <p:cNvPr id="13" name="Group 13"/>
          <p:cNvGrpSpPr/>
          <p:nvPr/>
        </p:nvGrpSpPr>
        <p:grpSpPr>
          <a:xfrm>
            <a:off x="652436" y="1801939"/>
            <a:ext cx="5589617" cy="2533650"/>
            <a:chOff x="685800" y="2495550"/>
            <a:chExt cx="5589617" cy="2533650"/>
          </a:xfrm>
        </p:grpSpPr>
        <p:sp>
          <p:nvSpPr>
            <p:cNvPr id="8" name="Rectangle 8"/>
            <p:cNvSpPr/>
            <p:nvPr/>
          </p:nvSpPr>
          <p:spPr>
            <a:xfrm>
              <a:off x="685800" y="2495550"/>
              <a:ext cx="4943475" cy="2533650"/>
            </a:xfrm>
            <a:prstGeom prst="roundRect">
              <a:avLst>
                <a:gd name="adj" fmla="val 7519"/>
              </a:avLst>
            </a:prstGeom>
            <a:solidFill>
              <a:srgbClr val="EEEAE2"/>
            </a:solidFill>
            <a:ln>
              <a:noFill/>
            </a:ln>
          </p:spPr>
          <p:txBody>
            <a:bodyPr/>
            <a:lstStyle/>
            <a:p>
              <a:endParaRPr/>
            </a:p>
          </p:txBody>
        </p:sp>
        <p:sp>
          <p:nvSpPr>
            <p:cNvPr id="9" name="TextBox 9"/>
            <p:cNvSpPr txBox="1"/>
            <p:nvPr/>
          </p:nvSpPr>
          <p:spPr>
            <a:xfrm>
              <a:off x="1021842" y="2807018"/>
              <a:ext cx="3975811" cy="264033"/>
            </a:xfrm>
            <a:prstGeom prst="rect">
              <a:avLst/>
            </a:prstGeom>
            <a:noFill/>
            <a:ln>
              <a:noFill/>
            </a:ln>
          </p:spPr>
          <p:txBody>
            <a:bodyPr wrap="none" lIns="0" tIns="0" rIns="0" bIns="0" anchor="t" anchorCtr="0">
              <a:spAutoFit/>
            </a:bodyPr>
            <a:lstStyle/>
            <a:p>
              <a:pPr algn="l"/>
              <a:r>
                <a:rPr lang="en-US" sz="1350" spc="150" dirty="0">
                  <a:solidFill>
                    <a:srgbClr val="D97745"/>
                  </a:solidFill>
                  <a:latin typeface="Arial"/>
                  <a:ea typeface="Arial"/>
                  <a:cs typeface="Arial"/>
                </a:rPr>
                <a:t>WHAT THE PROTOTYPE DEMONSTRATES</a:t>
              </a:r>
            </a:p>
          </p:txBody>
        </p:sp>
        <p:sp>
          <p:nvSpPr>
            <p:cNvPr id="10" name="TextBox 10"/>
            <p:cNvSpPr txBox="1"/>
            <p:nvPr/>
          </p:nvSpPr>
          <p:spPr>
            <a:xfrm>
              <a:off x="1019937" y="3252311"/>
              <a:ext cx="4488043" cy="337376"/>
            </a:xfrm>
            <a:prstGeom prst="rect">
              <a:avLst/>
            </a:prstGeom>
            <a:noFill/>
            <a:ln>
              <a:noFill/>
            </a:ln>
          </p:spPr>
          <p:txBody>
            <a:bodyPr wrap="none" lIns="0" tIns="0" rIns="0" bIns="0" anchor="t" anchorCtr="0">
              <a:spAutoFit/>
            </a:bodyPr>
            <a:lstStyle/>
            <a:p>
              <a:pPr algn="l"/>
              <a:r>
                <a:t>01 Relationships discovered across public sources</a:t>
              </a:r>
            </a:p>
          </p:txBody>
        </p:sp>
        <p:sp>
          <p:nvSpPr>
            <p:cNvPr id="11" name="TextBox 11"/>
            <p:cNvSpPr txBox="1"/>
            <p:nvPr/>
          </p:nvSpPr>
          <p:spPr>
            <a:xfrm>
              <a:off x="1019937" y="3728561"/>
              <a:ext cx="5255480" cy="337376"/>
            </a:xfrm>
            <a:prstGeom prst="rect">
              <a:avLst/>
            </a:prstGeom>
            <a:noFill/>
            <a:ln>
              <a:noFill/>
            </a:ln>
          </p:spPr>
          <p:txBody>
            <a:bodyPr wrap="none" lIns="0" tIns="0" rIns="0" bIns="0" anchor="t" anchorCtr="0">
              <a:spAutoFit/>
            </a:bodyPr>
            <a:lstStyle/>
            <a:p>
              <a:pPr algn="l"/>
              <a:r>
                <a:t>02 Exploration beyond direct connections</a:t>
              </a:r>
            </a:p>
          </p:txBody>
        </p:sp>
        <p:sp>
          <p:nvSpPr>
            <p:cNvPr id="12" name="TextBox 12"/>
            <p:cNvSpPr txBox="1"/>
            <p:nvPr/>
          </p:nvSpPr>
          <p:spPr>
            <a:xfrm>
              <a:off x="1019937" y="4204811"/>
              <a:ext cx="3963644" cy="337376"/>
            </a:xfrm>
            <a:prstGeom prst="rect">
              <a:avLst/>
            </a:prstGeom>
            <a:noFill/>
            <a:ln>
              <a:noFill/>
            </a:ln>
          </p:spPr>
          <p:txBody>
            <a:bodyPr wrap="none" lIns="0" tIns="0" rIns="0" bIns="0" anchor="t" anchorCtr="0">
              <a:spAutoFit/>
            </a:bodyPr>
            <a:lstStyle/>
            <a:p>
              <a:pPr algn="l"/>
              <a:r>
                <a:t>03 Findings traceable to source evidence</a:t>
              </a:r>
            </a:p>
          </p:txBody>
        </p:sp>
      </p:grpSp>
      <p:grpSp>
        <p:nvGrpSpPr>
          <p:cNvPr id="20" name="Group 20"/>
          <p:cNvGrpSpPr/>
          <p:nvPr/>
        </p:nvGrpSpPr>
        <p:grpSpPr>
          <a:xfrm>
            <a:off x="5919761" y="1801939"/>
            <a:ext cx="5553075" cy="2533650"/>
            <a:chOff x="5953125" y="2495550"/>
            <a:chExt cx="5553075" cy="2533650"/>
          </a:xfrm>
        </p:grpSpPr>
        <p:sp>
          <p:nvSpPr>
            <p:cNvPr id="14" name="Rectangle 14"/>
            <p:cNvSpPr/>
            <p:nvPr/>
          </p:nvSpPr>
          <p:spPr>
            <a:xfrm>
              <a:off x="5953125" y="2495550"/>
              <a:ext cx="5553075" cy="2533650"/>
            </a:xfrm>
            <a:prstGeom prst="roundRect">
              <a:avLst>
                <a:gd name="adj" fmla="val 7519"/>
              </a:avLst>
            </a:prstGeom>
            <a:solidFill>
              <a:srgbClr val="1F1F1C"/>
            </a:solidFill>
            <a:ln>
              <a:noFill/>
            </a:ln>
          </p:spPr>
          <p:txBody>
            <a:bodyPr/>
            <a:lstStyle/>
            <a:p>
              <a:endParaRPr/>
            </a:p>
          </p:txBody>
        </p:sp>
        <p:sp>
          <p:nvSpPr>
            <p:cNvPr id="15" name="TextBox 15"/>
            <p:cNvSpPr txBox="1"/>
            <p:nvPr/>
          </p:nvSpPr>
          <p:spPr>
            <a:xfrm>
              <a:off x="6289167" y="2807018"/>
              <a:ext cx="4426001" cy="264033"/>
            </a:xfrm>
            <a:prstGeom prst="rect">
              <a:avLst/>
            </a:prstGeom>
            <a:noFill/>
            <a:ln>
              <a:noFill/>
            </a:ln>
          </p:spPr>
          <p:txBody>
            <a:bodyPr wrap="none" lIns="0" tIns="0" rIns="0" bIns="0" anchor="t" anchorCtr="0">
              <a:spAutoFit/>
            </a:bodyPr>
            <a:lstStyle/>
            <a:p>
              <a:pPr algn="l"/>
              <a:r>
                <a:rPr lang="en-US" sz="1350" spc="150" dirty="0">
                  <a:solidFill>
                    <a:srgbClr val="D97745"/>
                  </a:solidFill>
                  <a:latin typeface="Arial"/>
                  <a:ea typeface="Arial"/>
                  <a:cs typeface="Arial"/>
                </a:rPr>
                <a:t>WHAT THE PROPOSED PROJECT WOULD ADD</a:t>
              </a:r>
            </a:p>
          </p:txBody>
        </p:sp>
        <p:sp>
          <p:nvSpPr>
            <p:cNvPr id="16" name="TextBox 16"/>
            <p:cNvSpPr txBox="1"/>
            <p:nvPr/>
          </p:nvSpPr>
          <p:spPr>
            <a:xfrm>
              <a:off x="6287643" y="3231832"/>
              <a:ext cx="4700015" cy="322707"/>
            </a:xfrm>
            <a:prstGeom prst="rect">
              <a:avLst/>
            </a:prstGeom>
            <a:noFill/>
            <a:ln>
              <a:noFill/>
            </a:ln>
          </p:spPr>
          <p:txBody>
            <a:bodyPr wrap="none" lIns="0" tIns="0" rIns="0" bIns="0" anchor="t" anchorCtr="0">
              <a:spAutoFit/>
            </a:bodyPr>
            <a:lstStyle/>
            <a:p>
              <a:pPr algn="l"/>
              <a:r>
                <a:rPr lang="en-US" sz="1650" dirty="0">
                  <a:solidFill>
                    <a:srgbClr val="F7F4EE"/>
                  </a:solidFill>
                  <a:latin typeface="Arial"/>
                  <a:ea typeface="Arial"/>
                  <a:cs typeface="Arial"/>
                </a:rPr>
                <a:t>01 Internal customer and registration data</a:t>
              </a:r>
            </a:p>
          </p:txBody>
        </p:sp>
        <p:sp>
          <p:nvSpPr>
            <p:cNvPr id="17" name="TextBox 17"/>
            <p:cNvSpPr txBox="1"/>
            <p:nvPr/>
          </p:nvSpPr>
          <p:spPr>
            <a:xfrm>
              <a:off x="6287643" y="3622358"/>
              <a:ext cx="4439694" cy="322707"/>
            </a:xfrm>
            <a:prstGeom prst="rect">
              <a:avLst/>
            </a:prstGeom>
            <a:noFill/>
            <a:ln>
              <a:noFill/>
            </a:ln>
          </p:spPr>
          <p:txBody>
            <a:bodyPr wrap="none" lIns="0" tIns="0" rIns="0" bIns="0" anchor="t" anchorCtr="0">
              <a:spAutoFit/>
            </a:bodyPr>
            <a:lstStyle/>
            <a:p>
              <a:pPr algn="l"/>
              <a:r>
                <a:rPr lang="en-US" sz="1650" dirty="0">
                  <a:solidFill>
                    <a:srgbClr val="F7F4EE"/>
                  </a:solidFill>
                  <a:latin typeface="Arial"/>
                  <a:ea typeface="Arial"/>
                  <a:cs typeface="Arial"/>
                </a:rPr>
                <a:t>02 UBOs, business owners and addresses</a:t>
              </a:r>
            </a:p>
          </p:txBody>
        </p:sp>
        <p:sp>
          <p:nvSpPr>
            <p:cNvPr id="18" name="TextBox 18"/>
            <p:cNvSpPr txBox="1"/>
            <p:nvPr/>
          </p:nvSpPr>
          <p:spPr>
            <a:xfrm>
              <a:off x="6287643" y="4012882"/>
              <a:ext cx="3523452" cy="322707"/>
            </a:xfrm>
            <a:prstGeom prst="rect">
              <a:avLst/>
            </a:prstGeom>
            <a:noFill/>
            <a:ln>
              <a:noFill/>
            </a:ln>
          </p:spPr>
          <p:txBody>
            <a:bodyPr wrap="none" lIns="0" tIns="0" rIns="0" bIns="0" anchor="t" anchorCtr="0">
              <a:spAutoFit/>
            </a:bodyPr>
            <a:lstStyle/>
            <a:p>
              <a:pPr algn="l"/>
              <a:r>
                <a:rPr lang="en-US" sz="1650" dirty="0">
                  <a:solidFill>
                    <a:srgbClr val="F7F4EE"/>
                  </a:solidFill>
                  <a:latin typeface="Arial"/>
                  <a:ea typeface="Arial"/>
                  <a:cs typeface="Arial"/>
                </a:rPr>
                <a:t>03 Moody's and licensed sources</a:t>
              </a:r>
            </a:p>
          </p:txBody>
        </p:sp>
        <p:sp>
          <p:nvSpPr>
            <p:cNvPr id="19" name="TextBox 19"/>
            <p:cNvSpPr txBox="1"/>
            <p:nvPr/>
          </p:nvSpPr>
          <p:spPr>
            <a:xfrm>
              <a:off x="6287643" y="4403408"/>
              <a:ext cx="4366717" cy="322707"/>
            </a:xfrm>
            <a:prstGeom prst="rect">
              <a:avLst/>
            </a:prstGeom>
            <a:noFill/>
            <a:ln>
              <a:noFill/>
            </a:ln>
          </p:spPr>
          <p:txBody>
            <a:bodyPr wrap="none" lIns="0" tIns="0" rIns="0" bIns="0" anchor="t" anchorCtr="0">
              <a:spAutoFit/>
            </a:bodyPr>
            <a:lstStyle/>
            <a:p>
              <a:pPr algn="l"/>
              <a:r>
                <a:rPr lang="en-US" sz="1650" dirty="0">
                  <a:solidFill>
                    <a:srgbClr val="F7F4EE"/>
                  </a:solidFill>
                  <a:latin typeface="Arial"/>
                  <a:ea typeface="Arial"/>
                  <a:cs typeface="Arial"/>
                </a:rPr>
                <a:t>04 Existing review workflow integration</a:t>
              </a:r>
            </a:p>
          </p:txBody>
        </p:sp>
      </p:grpSp>
      <p:grpSp>
        <p:nvGrpSpPr>
          <p:cNvPr id="23" name="Group 23"/>
          <p:cNvGrpSpPr/>
          <p:nvPr/>
        </p:nvGrpSpPr>
        <p:grpSpPr>
          <a:xfrm>
            <a:off x="669036" y="4928140"/>
            <a:ext cx="10820400" cy="552450"/>
            <a:chOff x="685800" y="5353050"/>
            <a:chExt cx="10820400" cy="552450"/>
          </a:xfrm>
        </p:grpSpPr>
        <p:sp>
          <p:nvSpPr>
            <p:cNvPr id="21" name="Rectangle 21"/>
            <p:cNvSpPr/>
            <p:nvPr/>
          </p:nvSpPr>
          <p:spPr>
            <a:xfrm>
              <a:off x="685800" y="5353050"/>
              <a:ext cx="10820400" cy="552450"/>
            </a:xfrm>
            <a:prstGeom prst="roundRect">
              <a:avLst>
                <a:gd name="adj" fmla="val 20690"/>
              </a:avLst>
            </a:prstGeom>
            <a:solidFill>
              <a:srgbClr val="D97745"/>
            </a:solidFill>
            <a:ln>
              <a:noFill/>
            </a:ln>
          </p:spPr>
          <p:txBody>
            <a:bodyPr/>
            <a:lstStyle/>
            <a:p>
              <a:endParaRPr/>
            </a:p>
          </p:txBody>
        </p:sp>
        <p:sp>
          <p:nvSpPr>
            <p:cNvPr id="22" name="TextBox 22"/>
            <p:cNvSpPr txBox="1"/>
            <p:nvPr/>
          </p:nvSpPr>
          <p:spPr>
            <a:xfrm>
              <a:off x="2074472" y="5462547"/>
              <a:ext cx="8109784" cy="276999"/>
            </a:xfrm>
            <a:prstGeom prst="rect">
              <a:avLst/>
            </a:prstGeom>
            <a:noFill/>
            <a:ln>
              <a:noFill/>
            </a:ln>
          </p:spPr>
          <p:txBody>
            <a:bodyPr wrap="none" lIns="0" tIns="0" rIns="0" bIns="0" anchor="t" anchorCtr="0">
              <a:spAutoFit/>
            </a:bodyPr>
            <a:lstStyle/>
            <a:p>
              <a:r>
                <a:rPr dirty="0"/>
                <a:t>The prototype demonstrates the relationship-discovery workflow using public proxies. </a:t>
              </a:r>
            </a:p>
          </p:txBody>
        </p:sp>
      </p:grpSp>
      <p:grpSp>
        <p:nvGrpSpPr>
          <p:cNvPr id="27" name="Group 27"/>
          <p:cNvGrpSpPr/>
          <p:nvPr/>
        </p:nvGrpSpPr>
        <p:grpSpPr>
          <a:xfrm>
            <a:off x="679704" y="6248400"/>
            <a:ext cx="10832592" cy="409956"/>
            <a:chOff x="679704" y="6248400"/>
            <a:chExt cx="10832592" cy="409956"/>
          </a:xfrm>
        </p:grpSpPr>
        <p:sp>
          <p:nvSpPr>
            <p:cNvPr id="24" name="Line 24"/>
            <p:cNvSpPr/>
            <p:nvPr/>
          </p:nvSpPr>
          <p:spPr>
            <a:xfrm>
              <a:off x="685800" y="6248400"/>
              <a:ext cx="10820400" cy="9525"/>
            </a:xfrm>
            <a:custGeom>
              <a:avLst/>
              <a:gdLst/>
              <a:ahLst/>
              <a:cxnLst/>
              <a:rect l="l" t="t" r="r" b="b"/>
              <a:pathLst>
                <a:path w="10820400" h="9525">
                  <a:moveTo>
                    <a:pt x="0" y="0"/>
                  </a:moveTo>
                  <a:lnTo>
                    <a:pt x="10820400" y="0"/>
                  </a:lnTo>
                </a:path>
              </a:pathLst>
            </a:custGeom>
            <a:noFill/>
            <a:ln w="19050">
              <a:solidFill>
                <a:srgbClr val="D8D1C6"/>
              </a:solidFill>
            </a:ln>
          </p:spPr>
          <p:txBody>
            <a:bodyPr/>
            <a:lstStyle/>
            <a:p>
              <a:endParaRPr/>
            </a:p>
          </p:txBody>
        </p:sp>
        <p:sp>
          <p:nvSpPr>
            <p:cNvPr id="25" name="TextBox 25"/>
            <p:cNvSpPr txBox="1"/>
            <p:nvPr/>
          </p:nvSpPr>
          <p:spPr>
            <a:xfrm>
              <a:off x="679704" y="6423660"/>
              <a:ext cx="2571408" cy="234696"/>
            </a:xfrm>
            <a:prstGeom prst="rect">
              <a:avLst/>
            </a:prstGeom>
            <a:noFill/>
            <a:ln>
              <a:noFill/>
            </a:ln>
          </p:spPr>
          <p:txBody>
            <a:bodyPr wrap="none" lIns="0" tIns="0" rIns="0" bIns="0" anchor="t" anchorCtr="0">
              <a:spAutoFit/>
            </a:bodyPr>
            <a:lstStyle/>
            <a:p>
              <a:pPr algn="l"/>
              <a:r>
                <a:rPr lang="en-US" sz="1200" dirty="0">
                  <a:solidFill>
                    <a:srgbClr val="6B6861"/>
                  </a:solidFill>
                  <a:latin typeface="Arial"/>
                  <a:ea typeface="Arial"/>
                  <a:cs typeface="Arial"/>
                </a:rPr>
                <a:t>Customer Relationship Discovery</a:t>
              </a:r>
            </a:p>
          </p:txBody>
        </p:sp>
        <p:sp>
          <p:nvSpPr>
            <p:cNvPr id="26" name="TextBox 26"/>
            <p:cNvSpPr txBox="1"/>
            <p:nvPr/>
          </p:nvSpPr>
          <p:spPr>
            <a:xfrm>
              <a:off x="10958932" y="6423660"/>
              <a:ext cx="553364" cy="234696"/>
            </a:xfrm>
            <a:prstGeom prst="rect">
              <a:avLst/>
            </a:prstGeom>
            <a:noFill/>
            <a:ln>
              <a:noFill/>
            </a:ln>
          </p:spPr>
          <p:txBody>
            <a:bodyPr wrap="none" lIns="0" tIns="0" rIns="0" bIns="0" anchor="t" anchorCtr="0">
              <a:spAutoFit/>
            </a:bodyPr>
            <a:lstStyle/>
            <a:p>
              <a:pPr algn="r"/>
              <a:r>
                <a:rPr lang="en-US" sz="1200" dirty="0">
                  <a:solidFill>
                    <a:srgbClr val="6B6861"/>
                  </a:solidFill>
                  <a:latin typeface="Arial"/>
                  <a:ea typeface="Arial"/>
                  <a:cs typeface="Arial"/>
                </a:rPr>
                <a:t>06 / 06</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FC4E6B7C-E080-7826-B29B-5089A0824240}"/>
              </a:ext>
            </a:extLst>
          </p:cNvPr>
          <p:cNvSpPr/>
          <p:nvPr/>
        </p:nvSpPr>
        <p:spPr>
          <a:xfrm>
            <a:off x="0" y="0"/>
            <a:ext cx="12192000" cy="6858000"/>
          </a:xfrm>
          <a:prstGeom prst="rect">
            <a:avLst/>
          </a:prstGeom>
          <a:solidFill>
            <a:srgbClr val="F7F4EE"/>
          </a:solidFill>
          <a:ln>
            <a:noFill/>
          </a:ln>
        </p:spPr>
        <p:txBody>
          <a:bodyPr/>
          <a:lstStyle/>
          <a:p>
            <a:endParaRPr dirty="0"/>
          </a:p>
        </p:txBody>
      </p:sp>
      <p:sp>
        <p:nvSpPr>
          <p:cNvPr id="5" name="Rectangle 1">
            <a:extLst>
              <a:ext uri="{FF2B5EF4-FFF2-40B4-BE49-F238E27FC236}">
                <a16:creationId xmlns:a16="http://schemas.microsoft.com/office/drawing/2014/main" id="{7E6AE738-69CE-8B9E-A203-A56E44BBBA34}"/>
              </a:ext>
            </a:extLst>
          </p:cNvPr>
          <p:cNvSpPr/>
          <p:nvPr/>
        </p:nvSpPr>
        <p:spPr>
          <a:xfrm>
            <a:off x="0" y="0"/>
            <a:ext cx="118872" cy="6858000"/>
          </a:xfrm>
          <a:prstGeom prst="rect">
            <a:avLst/>
          </a:prstGeom>
          <a:solidFill>
            <a:srgbClr val="D97745"/>
          </a:solidFill>
          <a:ln>
            <a:solidFill>
              <a:srgbClr val="D97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5">
            <a:extLst>
              <a:ext uri="{FF2B5EF4-FFF2-40B4-BE49-F238E27FC236}">
                <a16:creationId xmlns:a16="http://schemas.microsoft.com/office/drawing/2014/main" id="{438E05C4-E885-CBA5-0942-72B489EFC34D}"/>
              </a:ext>
            </a:extLst>
          </p:cNvPr>
          <p:cNvSpPr txBox="1"/>
          <p:nvPr/>
        </p:nvSpPr>
        <p:spPr>
          <a:xfrm>
            <a:off x="4781550" y="2770357"/>
            <a:ext cx="3244850" cy="658642"/>
          </a:xfrm>
          <a:prstGeom prst="rect">
            <a:avLst/>
          </a:prstGeom>
          <a:noFill/>
          <a:ln>
            <a:noFill/>
          </a:ln>
        </p:spPr>
        <p:txBody>
          <a:bodyPr wrap="square" lIns="0" tIns="0" rIns="0" bIns="0" anchor="t" anchorCtr="0">
            <a:spAutoFit/>
          </a:bodyPr>
          <a:lstStyle/>
          <a:p>
            <a:pPr algn="l"/>
            <a:r>
              <a:rPr lang="en-US" altLang="zh-CN" sz="4280" b="1" dirty="0">
                <a:solidFill>
                  <a:srgbClr val="1F1F1C"/>
                </a:solidFill>
                <a:latin typeface="Arial"/>
                <a:ea typeface="Arial"/>
                <a:cs typeface="Arial"/>
              </a:rPr>
              <a:t>Appendix</a:t>
            </a:r>
            <a:endParaRPr lang="en-US" sz="4280" b="1" dirty="0">
              <a:solidFill>
                <a:srgbClr val="1F1F1C"/>
              </a:solidFill>
              <a:latin typeface="Arial"/>
              <a:ea typeface="Arial"/>
              <a:cs typeface="Arial"/>
            </a:endParaRPr>
          </a:p>
        </p:txBody>
      </p:sp>
    </p:spTree>
    <p:extLst>
      <p:ext uri="{BB962C8B-B14F-4D97-AF65-F5344CB8AC3E}">
        <p14:creationId xmlns:p14="http://schemas.microsoft.com/office/powerpoint/2010/main" val="1654758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D97745"/>
          </a:solidFill>
          <a:ln>
            <a:solidFill>
              <a:srgbClr val="D97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438912"/>
            <a:ext cx="7132320" cy="228600"/>
          </a:xfrm>
          <a:prstGeom prst="rect">
            <a:avLst/>
          </a:prstGeom>
          <a:noFill/>
        </p:spPr>
        <p:txBody>
          <a:bodyPr wrap="square" lIns="0" tIns="0" rIns="0" bIns="0">
            <a:spAutoFit/>
          </a:bodyPr>
          <a:lstStyle/>
          <a:p>
            <a:pPr algn="l">
              <a:defRPr sz="900" b="1">
                <a:solidFill>
                  <a:srgbClr val="D97745"/>
                </a:solidFill>
                <a:latin typeface="Arial"/>
              </a:defRPr>
            </a:pPr>
            <a:r>
              <a:t>APPENDIX A | DATA SOURCES</a:t>
            </a:r>
          </a:p>
        </p:txBody>
      </p:sp>
      <p:sp>
        <p:nvSpPr>
          <p:cNvPr id="4" name="TextBox 3"/>
          <p:cNvSpPr txBox="1"/>
          <p:nvPr/>
        </p:nvSpPr>
        <p:spPr>
          <a:xfrm>
            <a:off x="566928" y="758952"/>
            <a:ext cx="10972800" cy="512064"/>
          </a:xfrm>
          <a:prstGeom prst="rect">
            <a:avLst/>
          </a:prstGeom>
          <a:noFill/>
        </p:spPr>
        <p:txBody>
          <a:bodyPr wrap="square" lIns="0" tIns="0" rIns="0" bIns="0">
            <a:spAutoFit/>
          </a:bodyPr>
          <a:lstStyle/>
          <a:p>
            <a:pPr algn="l">
              <a:defRPr sz="2500" b="1">
                <a:solidFill>
                  <a:srgbClr val="1F1F1C"/>
                </a:solidFill>
                <a:latin typeface="Arial"/>
              </a:defRPr>
            </a:pPr>
            <a:r>
              <a:rPr dirty="0"/>
              <a:t>What the current prototype uses - and what it does not.</a:t>
            </a:r>
          </a:p>
        </p:txBody>
      </p:sp>
      <p:sp>
        <p:nvSpPr>
          <p:cNvPr id="5" name="Rectangle 4"/>
          <p:cNvSpPr/>
          <p:nvPr/>
        </p:nvSpPr>
        <p:spPr>
          <a:xfrm>
            <a:off x="566928" y="6245352"/>
            <a:ext cx="11045952" cy="13716"/>
          </a:xfrm>
          <a:prstGeom prst="rect">
            <a:avLst/>
          </a:prstGeom>
          <a:solidFill>
            <a:srgbClr val="D8D1C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6391656"/>
            <a:ext cx="5029200" cy="164592"/>
          </a:xfrm>
          <a:prstGeom prst="rect">
            <a:avLst/>
          </a:prstGeom>
          <a:noFill/>
        </p:spPr>
        <p:txBody>
          <a:bodyPr wrap="square" lIns="0" tIns="0" rIns="0" bIns="0">
            <a:spAutoFit/>
          </a:bodyPr>
          <a:lstStyle/>
          <a:p>
            <a:pPr algn="l">
              <a:defRPr sz="800" b="0">
                <a:solidFill>
                  <a:srgbClr val="6B6861"/>
                </a:solidFill>
                <a:latin typeface="Arial"/>
              </a:defRPr>
            </a:pPr>
            <a:r>
              <a:t>Customer Relationship Discovery | Appendix</a:t>
            </a:r>
          </a:p>
        </p:txBody>
      </p:sp>
      <p:sp>
        <p:nvSpPr>
          <p:cNvPr id="7" name="TextBox 6"/>
          <p:cNvSpPr txBox="1"/>
          <p:nvPr/>
        </p:nvSpPr>
        <p:spPr>
          <a:xfrm>
            <a:off x="10927080" y="6391656"/>
            <a:ext cx="685800" cy="164592"/>
          </a:xfrm>
          <a:prstGeom prst="rect">
            <a:avLst/>
          </a:prstGeom>
          <a:noFill/>
        </p:spPr>
        <p:txBody>
          <a:bodyPr wrap="square" lIns="0" tIns="0" rIns="0" bIns="0">
            <a:spAutoFit/>
          </a:bodyPr>
          <a:lstStyle/>
          <a:p>
            <a:pPr algn="r">
              <a:defRPr sz="800" b="0">
                <a:solidFill>
                  <a:srgbClr val="6B6861"/>
                </a:solidFill>
                <a:latin typeface="Arial"/>
              </a:defRPr>
            </a:pPr>
            <a:r>
              <a:t>07 / 09</a:t>
            </a:r>
          </a:p>
        </p:txBody>
      </p:sp>
      <p:sp>
        <p:nvSpPr>
          <p:cNvPr id="8" name="Rounded Rectangle 7"/>
          <p:cNvSpPr/>
          <p:nvPr/>
        </p:nvSpPr>
        <p:spPr>
          <a:xfrm>
            <a:off x="566928" y="1600200"/>
            <a:ext cx="2606040" cy="3611880"/>
          </a:xfrm>
          <a:prstGeom prst="roundRect">
            <a:avLst/>
          </a:prstGeom>
          <a:solidFill>
            <a:srgbClr val="EEEAE2"/>
          </a:solidFill>
          <a:ln>
            <a:solidFill>
              <a:srgbClr val="EEE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49808" y="1801368"/>
            <a:ext cx="73152" cy="310896"/>
          </a:xfrm>
          <a:prstGeom prst="roundRect">
            <a:avLst/>
          </a:prstGeom>
          <a:solidFill>
            <a:srgbClr val="D97745"/>
          </a:solidFill>
          <a:ln>
            <a:solidFill>
              <a:srgbClr val="D97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50976" y="1792224"/>
            <a:ext cx="2057400" cy="274320"/>
          </a:xfrm>
          <a:prstGeom prst="rect">
            <a:avLst/>
          </a:prstGeom>
          <a:noFill/>
        </p:spPr>
        <p:txBody>
          <a:bodyPr wrap="square" lIns="0" tIns="0" rIns="0" bIns="0">
            <a:spAutoFit/>
          </a:bodyPr>
          <a:lstStyle/>
          <a:p>
            <a:pPr algn="l">
              <a:defRPr sz="1400" b="1">
                <a:solidFill>
                  <a:srgbClr val="1F1F1C"/>
                </a:solidFill>
                <a:latin typeface="Arial"/>
              </a:defRPr>
            </a:pPr>
            <a:r>
              <a:t>Identity resolution</a:t>
            </a:r>
          </a:p>
        </p:txBody>
      </p:sp>
      <p:sp>
        <p:nvSpPr>
          <p:cNvPr id="11" name="TextBox 10"/>
          <p:cNvSpPr txBox="1"/>
          <p:nvPr/>
        </p:nvSpPr>
        <p:spPr>
          <a:xfrm>
            <a:off x="768096" y="2313432"/>
            <a:ext cx="2203704" cy="2734056"/>
          </a:xfrm>
          <a:prstGeom prst="rect">
            <a:avLst/>
          </a:prstGeom>
          <a:noFill/>
        </p:spPr>
        <p:txBody>
          <a:bodyPr wrap="square" lIns="0" tIns="0" rIns="0" bIns="0">
            <a:spAutoFit/>
          </a:bodyPr>
          <a:lstStyle/>
          <a:p>
            <a:pPr algn="l">
              <a:defRPr sz="1050" b="0">
                <a:solidFill>
                  <a:srgbClr val="6B6861"/>
                </a:solidFill>
                <a:latin typeface="Arial"/>
              </a:defRPr>
            </a:pPr>
            <a:r>
              <a:t>GLEIF: legal entity, LEI, jurisdiction and registered address.</a:t>
            </a:r>
            <a:br/>
            <a:br/>
            <a:r>
              <a:t>Wikidata: aliases and auxiliary identifiers.</a:t>
            </a:r>
            <a:br/>
            <a:br/>
            <a:r>
              <a:t>GLEIF remains the legal-identity authority.</a:t>
            </a:r>
          </a:p>
        </p:txBody>
      </p:sp>
      <p:sp>
        <p:nvSpPr>
          <p:cNvPr id="12" name="Rounded Rectangle 11"/>
          <p:cNvSpPr/>
          <p:nvPr/>
        </p:nvSpPr>
        <p:spPr>
          <a:xfrm>
            <a:off x="3355848" y="1600200"/>
            <a:ext cx="2606040" cy="3611880"/>
          </a:xfrm>
          <a:prstGeom prst="roundRect">
            <a:avLst/>
          </a:prstGeom>
          <a:solidFill>
            <a:srgbClr val="EEEAE2"/>
          </a:solidFill>
          <a:ln>
            <a:solidFill>
              <a:srgbClr val="EEE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538728" y="1801368"/>
            <a:ext cx="73152" cy="310896"/>
          </a:xfrm>
          <a:prstGeom prst="roundRect">
            <a:avLst/>
          </a:prstGeom>
          <a:solidFill>
            <a:srgbClr val="D97745"/>
          </a:solidFill>
          <a:ln>
            <a:solidFill>
              <a:srgbClr val="D97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39896" y="1792224"/>
            <a:ext cx="2057400" cy="274320"/>
          </a:xfrm>
          <a:prstGeom prst="rect">
            <a:avLst/>
          </a:prstGeom>
          <a:noFill/>
        </p:spPr>
        <p:txBody>
          <a:bodyPr wrap="square" lIns="0" tIns="0" rIns="0" bIns="0">
            <a:spAutoFit/>
          </a:bodyPr>
          <a:lstStyle/>
          <a:p>
            <a:pPr algn="l">
              <a:defRPr sz="1400" b="1">
                <a:solidFill>
                  <a:srgbClr val="1F1F1C"/>
                </a:solidFill>
                <a:latin typeface="Arial"/>
              </a:defRPr>
            </a:pPr>
            <a:r>
              <a:t>Company disclosures</a:t>
            </a:r>
          </a:p>
        </p:txBody>
      </p:sp>
      <p:sp>
        <p:nvSpPr>
          <p:cNvPr id="15" name="TextBox 14"/>
          <p:cNvSpPr txBox="1"/>
          <p:nvPr/>
        </p:nvSpPr>
        <p:spPr>
          <a:xfrm>
            <a:off x="3557016" y="2313432"/>
            <a:ext cx="2203704" cy="2734056"/>
          </a:xfrm>
          <a:prstGeom prst="rect">
            <a:avLst/>
          </a:prstGeom>
          <a:noFill/>
        </p:spPr>
        <p:txBody>
          <a:bodyPr wrap="square" lIns="0" tIns="0" rIns="0" bIns="0">
            <a:spAutoFit/>
          </a:bodyPr>
          <a:lstStyle/>
          <a:p>
            <a:pPr algn="l">
              <a:defRPr sz="1050" b="0">
                <a:solidFill>
                  <a:srgbClr val="6B6861"/>
                </a:solidFill>
                <a:latin typeface="Arial"/>
              </a:defRPr>
            </a:pPr>
            <a:r>
              <a:t>Annual reports and official corporate pages.</a:t>
            </a:r>
            <a:br/>
            <a:br/>
            <a:r>
              <a:t>Official relationship announcements and public transparency disclosures.</a:t>
            </a:r>
            <a:br/>
            <a:br/>
            <a:r>
              <a:t>All documents are retained, hashed and linked to evidence.</a:t>
            </a:r>
          </a:p>
        </p:txBody>
      </p:sp>
      <p:sp>
        <p:nvSpPr>
          <p:cNvPr id="16" name="Rounded Rectangle 15"/>
          <p:cNvSpPr/>
          <p:nvPr/>
        </p:nvSpPr>
        <p:spPr>
          <a:xfrm>
            <a:off x="6144768" y="1600200"/>
            <a:ext cx="2606040" cy="3611880"/>
          </a:xfrm>
          <a:prstGeom prst="roundRect">
            <a:avLst/>
          </a:prstGeom>
          <a:solidFill>
            <a:srgbClr val="EEEAE2"/>
          </a:solidFill>
          <a:ln>
            <a:solidFill>
              <a:srgbClr val="EEE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27648" y="1801368"/>
            <a:ext cx="73152" cy="310896"/>
          </a:xfrm>
          <a:prstGeom prst="roundRect">
            <a:avLst/>
          </a:prstGeom>
          <a:solidFill>
            <a:srgbClr val="4E8068"/>
          </a:solidFill>
          <a:ln>
            <a:solidFill>
              <a:srgbClr val="4E8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28816" y="1792224"/>
            <a:ext cx="2057400" cy="274320"/>
          </a:xfrm>
          <a:prstGeom prst="rect">
            <a:avLst/>
          </a:prstGeom>
          <a:noFill/>
        </p:spPr>
        <p:txBody>
          <a:bodyPr wrap="square" lIns="0" tIns="0" rIns="0" bIns="0">
            <a:spAutoFit/>
          </a:bodyPr>
          <a:lstStyle/>
          <a:p>
            <a:pPr algn="l">
              <a:defRPr sz="1400" b="1">
                <a:solidFill>
                  <a:srgbClr val="1F1F1C"/>
                </a:solidFill>
                <a:latin typeface="Arial"/>
              </a:defRPr>
            </a:pPr>
            <a:r>
              <a:t>Public news</a:t>
            </a:r>
          </a:p>
        </p:txBody>
      </p:sp>
      <p:sp>
        <p:nvSpPr>
          <p:cNvPr id="19" name="TextBox 18"/>
          <p:cNvSpPr txBox="1"/>
          <p:nvPr/>
        </p:nvSpPr>
        <p:spPr>
          <a:xfrm>
            <a:off x="6345936" y="2313432"/>
            <a:ext cx="2203704" cy="2734056"/>
          </a:xfrm>
          <a:prstGeom prst="rect">
            <a:avLst/>
          </a:prstGeom>
          <a:noFill/>
        </p:spPr>
        <p:txBody>
          <a:bodyPr wrap="square" lIns="0" tIns="0" rIns="0" bIns="0">
            <a:spAutoFit/>
          </a:bodyPr>
          <a:lstStyle/>
          <a:p>
            <a:pPr algn="l">
              <a:defRPr sz="1050" b="0">
                <a:solidFill>
                  <a:srgbClr val="6B6861"/>
                </a:solidFill>
                <a:latin typeface="Arial"/>
              </a:defRPr>
            </a:pPr>
            <a:r>
              <a:t>Tavily-discovered public articles and reports.</a:t>
            </a:r>
            <a:br/>
            <a:br/>
            <a:r>
              <a:t>A single explicit news source starts LOW; independent corroboration can raise confidence.</a:t>
            </a:r>
            <a:br/>
            <a:br/>
            <a:r>
              <a:t>News is never treated as conclusive by itself.</a:t>
            </a:r>
          </a:p>
        </p:txBody>
      </p:sp>
      <p:sp>
        <p:nvSpPr>
          <p:cNvPr id="20" name="Rounded Rectangle 19"/>
          <p:cNvSpPr/>
          <p:nvPr/>
        </p:nvSpPr>
        <p:spPr>
          <a:xfrm>
            <a:off x="8933688" y="1600200"/>
            <a:ext cx="2606040" cy="3611880"/>
          </a:xfrm>
          <a:prstGeom prst="roundRect">
            <a:avLst/>
          </a:prstGeom>
          <a:solidFill>
            <a:srgbClr val="EEEAE2"/>
          </a:solidFill>
          <a:ln>
            <a:solidFill>
              <a:srgbClr val="EEE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116567" y="1801368"/>
            <a:ext cx="73152" cy="310896"/>
          </a:xfrm>
          <a:prstGeom prst="roundRect">
            <a:avLst/>
          </a:prstGeom>
          <a:solidFill>
            <a:srgbClr val="B85C4C"/>
          </a:solidFill>
          <a:ln>
            <a:solidFill>
              <a:srgbClr val="B85C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317736" y="1792224"/>
            <a:ext cx="2057400" cy="274320"/>
          </a:xfrm>
          <a:prstGeom prst="rect">
            <a:avLst/>
          </a:prstGeom>
          <a:noFill/>
        </p:spPr>
        <p:txBody>
          <a:bodyPr wrap="square" lIns="0" tIns="0" rIns="0" bIns="0">
            <a:spAutoFit/>
          </a:bodyPr>
          <a:lstStyle/>
          <a:p>
            <a:pPr algn="l">
              <a:defRPr sz="1400" b="1">
                <a:solidFill>
                  <a:srgbClr val="1F1F1C"/>
                </a:solidFill>
                <a:latin typeface="Arial"/>
              </a:defRPr>
            </a:pPr>
            <a:r>
              <a:t>Risk screening</a:t>
            </a:r>
          </a:p>
        </p:txBody>
      </p:sp>
      <p:sp>
        <p:nvSpPr>
          <p:cNvPr id="23" name="TextBox 22"/>
          <p:cNvSpPr txBox="1"/>
          <p:nvPr/>
        </p:nvSpPr>
        <p:spPr>
          <a:xfrm>
            <a:off x="9134856" y="2313432"/>
            <a:ext cx="2203704" cy="2734056"/>
          </a:xfrm>
          <a:prstGeom prst="rect">
            <a:avLst/>
          </a:prstGeom>
          <a:noFill/>
        </p:spPr>
        <p:txBody>
          <a:bodyPr wrap="square" lIns="0" tIns="0" rIns="0" bIns="0">
            <a:spAutoFit/>
          </a:bodyPr>
          <a:lstStyle/>
          <a:p>
            <a:pPr algn="l">
              <a:defRPr sz="1050" b="0">
                <a:solidFill>
                  <a:srgbClr val="6B6861"/>
                </a:solidFill>
                <a:latin typeface="Arial"/>
              </a:defRPr>
            </a:pPr>
            <a:r>
              <a:t>OFAC SDN list</a:t>
            </a:r>
            <a:br/>
            <a:r>
              <a:t>UK Sanctions List</a:t>
            </a:r>
            <a:br/>
            <a:r>
              <a:t>World Bank debarment records</a:t>
            </a:r>
            <a:br/>
            <a:br/>
            <a:r>
              <a:t>A name match is an investigation lead, not a relationship or risk determination.</a:t>
            </a:r>
          </a:p>
        </p:txBody>
      </p:sp>
      <p:sp>
        <p:nvSpPr>
          <p:cNvPr id="24" name="TextBox 23"/>
          <p:cNvSpPr txBox="1"/>
          <p:nvPr/>
        </p:nvSpPr>
        <p:spPr>
          <a:xfrm>
            <a:off x="566928" y="5577840"/>
            <a:ext cx="10789920" cy="237744"/>
          </a:xfrm>
          <a:prstGeom prst="rect">
            <a:avLst/>
          </a:prstGeom>
          <a:noFill/>
        </p:spPr>
        <p:txBody>
          <a:bodyPr wrap="square" lIns="0" tIns="0" rIns="0" bIns="0">
            <a:spAutoFit/>
          </a:bodyPr>
          <a:lstStyle/>
          <a:p>
            <a:pPr algn="l">
              <a:defRPr sz="1100" b="1">
                <a:solidFill>
                  <a:srgbClr val="1F1F1C"/>
                </a:solidFill>
                <a:latin typeface="Arial"/>
              </a:defRPr>
            </a:pPr>
            <a:r>
              <a:t>Outside the prototype scope today: internal customer / registration data, Moody's and other licensed sources.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D97745"/>
          </a:solidFill>
          <a:ln>
            <a:solidFill>
              <a:srgbClr val="D97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438912"/>
            <a:ext cx="7132320" cy="228600"/>
          </a:xfrm>
          <a:prstGeom prst="rect">
            <a:avLst/>
          </a:prstGeom>
          <a:noFill/>
        </p:spPr>
        <p:txBody>
          <a:bodyPr wrap="square" lIns="0" tIns="0" rIns="0" bIns="0">
            <a:spAutoFit/>
          </a:bodyPr>
          <a:lstStyle/>
          <a:p>
            <a:pPr algn="l">
              <a:defRPr sz="900" b="1">
                <a:solidFill>
                  <a:srgbClr val="D97745"/>
                </a:solidFill>
                <a:latin typeface="Arial"/>
              </a:defRPr>
            </a:pPr>
            <a:r>
              <a:t>APPENDIX B | CONTROLLED VOCABULARY</a:t>
            </a:r>
          </a:p>
        </p:txBody>
      </p:sp>
      <p:sp>
        <p:nvSpPr>
          <p:cNvPr id="4" name="TextBox 3"/>
          <p:cNvSpPr txBox="1"/>
          <p:nvPr/>
        </p:nvSpPr>
        <p:spPr>
          <a:xfrm>
            <a:off x="566928" y="758952"/>
            <a:ext cx="10972800" cy="512064"/>
          </a:xfrm>
          <a:prstGeom prst="rect">
            <a:avLst/>
          </a:prstGeom>
          <a:noFill/>
        </p:spPr>
        <p:txBody>
          <a:bodyPr wrap="square" lIns="0" tIns="0" rIns="0" bIns="0">
            <a:spAutoFit/>
          </a:bodyPr>
          <a:lstStyle/>
          <a:p>
            <a:pPr algn="l">
              <a:defRPr sz="2500" b="1">
                <a:solidFill>
                  <a:srgbClr val="1F1F1C"/>
                </a:solidFill>
                <a:latin typeface="Arial"/>
              </a:defRPr>
            </a:pPr>
            <a:r>
              <a:t>Entity, relationship and confidence are kept separate.</a:t>
            </a:r>
          </a:p>
        </p:txBody>
      </p:sp>
      <p:sp>
        <p:nvSpPr>
          <p:cNvPr id="5" name="Rectangle 4"/>
          <p:cNvSpPr/>
          <p:nvPr/>
        </p:nvSpPr>
        <p:spPr>
          <a:xfrm>
            <a:off x="566928" y="6245352"/>
            <a:ext cx="11045952" cy="13716"/>
          </a:xfrm>
          <a:prstGeom prst="rect">
            <a:avLst/>
          </a:prstGeom>
          <a:solidFill>
            <a:srgbClr val="D8D1C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6391656"/>
            <a:ext cx="5029200" cy="164592"/>
          </a:xfrm>
          <a:prstGeom prst="rect">
            <a:avLst/>
          </a:prstGeom>
          <a:noFill/>
        </p:spPr>
        <p:txBody>
          <a:bodyPr wrap="square" lIns="0" tIns="0" rIns="0" bIns="0">
            <a:spAutoFit/>
          </a:bodyPr>
          <a:lstStyle/>
          <a:p>
            <a:pPr algn="l">
              <a:defRPr sz="800" b="0">
                <a:solidFill>
                  <a:srgbClr val="6B6861"/>
                </a:solidFill>
                <a:latin typeface="Arial"/>
              </a:defRPr>
            </a:pPr>
            <a:r>
              <a:t>Customer Relationship Discovery | Appendix</a:t>
            </a:r>
          </a:p>
        </p:txBody>
      </p:sp>
      <p:sp>
        <p:nvSpPr>
          <p:cNvPr id="7" name="TextBox 6"/>
          <p:cNvSpPr txBox="1"/>
          <p:nvPr/>
        </p:nvSpPr>
        <p:spPr>
          <a:xfrm>
            <a:off x="10927080" y="6391656"/>
            <a:ext cx="685800" cy="164592"/>
          </a:xfrm>
          <a:prstGeom prst="rect">
            <a:avLst/>
          </a:prstGeom>
          <a:noFill/>
        </p:spPr>
        <p:txBody>
          <a:bodyPr wrap="square" lIns="0" tIns="0" rIns="0" bIns="0">
            <a:spAutoFit/>
          </a:bodyPr>
          <a:lstStyle/>
          <a:p>
            <a:pPr algn="r">
              <a:defRPr sz="800" b="0">
                <a:solidFill>
                  <a:srgbClr val="6B6861"/>
                </a:solidFill>
                <a:latin typeface="Arial"/>
              </a:defRPr>
            </a:pPr>
            <a:r>
              <a:t>08 / 09</a:t>
            </a:r>
          </a:p>
        </p:txBody>
      </p:sp>
      <p:sp>
        <p:nvSpPr>
          <p:cNvPr id="8" name="TextBox 7"/>
          <p:cNvSpPr txBox="1"/>
          <p:nvPr/>
        </p:nvSpPr>
        <p:spPr>
          <a:xfrm>
            <a:off x="566928" y="1508760"/>
            <a:ext cx="2103120" cy="228600"/>
          </a:xfrm>
          <a:prstGeom prst="rect">
            <a:avLst/>
          </a:prstGeom>
          <a:noFill/>
        </p:spPr>
        <p:txBody>
          <a:bodyPr wrap="square" lIns="0" tIns="0" rIns="0" bIns="0">
            <a:spAutoFit/>
          </a:bodyPr>
          <a:lstStyle/>
          <a:p>
            <a:pPr algn="l">
              <a:defRPr sz="1400" b="1">
                <a:solidFill>
                  <a:srgbClr val="D97745"/>
                </a:solidFill>
                <a:latin typeface="Arial"/>
              </a:defRPr>
            </a:pPr>
            <a:r>
              <a:t>Entity types</a:t>
            </a:r>
          </a:p>
        </p:txBody>
      </p:sp>
      <p:sp>
        <p:nvSpPr>
          <p:cNvPr id="9" name="Rounded Rectangle 8"/>
          <p:cNvSpPr/>
          <p:nvPr/>
        </p:nvSpPr>
        <p:spPr>
          <a:xfrm>
            <a:off x="566928" y="1920240"/>
            <a:ext cx="2971800" cy="512064"/>
          </a:xfrm>
          <a:prstGeom prst="roundRect">
            <a:avLst/>
          </a:prstGeom>
          <a:solidFill>
            <a:srgbClr val="EEEAE2"/>
          </a:solidFill>
          <a:ln>
            <a:solidFill>
              <a:srgbClr val="EEE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039112"/>
            <a:ext cx="1417320" cy="164592"/>
          </a:xfrm>
          <a:prstGeom prst="rect">
            <a:avLst/>
          </a:prstGeom>
          <a:noFill/>
        </p:spPr>
        <p:txBody>
          <a:bodyPr wrap="square" lIns="0" tIns="0" rIns="0" bIns="0">
            <a:spAutoFit/>
          </a:bodyPr>
          <a:lstStyle/>
          <a:p>
            <a:pPr algn="l">
              <a:defRPr sz="1000" b="1">
                <a:solidFill>
                  <a:srgbClr val="D97745"/>
                </a:solidFill>
                <a:latin typeface="Arial"/>
              </a:defRPr>
            </a:pPr>
            <a:r>
              <a:t>ORGANIZATION</a:t>
            </a:r>
          </a:p>
        </p:txBody>
      </p:sp>
      <p:sp>
        <p:nvSpPr>
          <p:cNvPr id="11" name="TextBox 10"/>
          <p:cNvSpPr txBox="1"/>
          <p:nvPr/>
        </p:nvSpPr>
        <p:spPr>
          <a:xfrm>
            <a:off x="1920240" y="2039112"/>
            <a:ext cx="1371600" cy="164592"/>
          </a:xfrm>
          <a:prstGeom prst="rect">
            <a:avLst/>
          </a:prstGeom>
          <a:noFill/>
        </p:spPr>
        <p:txBody>
          <a:bodyPr wrap="square" lIns="0" tIns="0" rIns="0" bIns="0">
            <a:spAutoFit/>
          </a:bodyPr>
          <a:lstStyle/>
          <a:p>
            <a:pPr algn="l">
              <a:defRPr sz="950" b="0">
                <a:solidFill>
                  <a:srgbClr val="6B6861"/>
                </a:solidFill>
                <a:latin typeface="Arial"/>
              </a:defRPr>
            </a:pPr>
            <a:r>
              <a:t>companies, funds, assets</a:t>
            </a:r>
          </a:p>
        </p:txBody>
      </p:sp>
      <p:sp>
        <p:nvSpPr>
          <p:cNvPr id="12" name="Rounded Rectangle 11"/>
          <p:cNvSpPr/>
          <p:nvPr/>
        </p:nvSpPr>
        <p:spPr>
          <a:xfrm>
            <a:off x="566928" y="2633472"/>
            <a:ext cx="2971800" cy="512064"/>
          </a:xfrm>
          <a:prstGeom prst="roundRect">
            <a:avLst/>
          </a:prstGeom>
          <a:solidFill>
            <a:srgbClr val="EEEAE2"/>
          </a:solidFill>
          <a:ln>
            <a:solidFill>
              <a:srgbClr val="EEE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2752344"/>
            <a:ext cx="1417320" cy="164592"/>
          </a:xfrm>
          <a:prstGeom prst="rect">
            <a:avLst/>
          </a:prstGeom>
          <a:noFill/>
        </p:spPr>
        <p:txBody>
          <a:bodyPr wrap="square" lIns="0" tIns="0" rIns="0" bIns="0">
            <a:spAutoFit/>
          </a:bodyPr>
          <a:lstStyle/>
          <a:p>
            <a:pPr algn="l">
              <a:defRPr sz="1000" b="1">
                <a:solidFill>
                  <a:srgbClr val="4E8068"/>
                </a:solidFill>
                <a:latin typeface="Arial"/>
              </a:defRPr>
            </a:pPr>
            <a:r>
              <a:t>PERSON</a:t>
            </a:r>
          </a:p>
        </p:txBody>
      </p:sp>
      <p:sp>
        <p:nvSpPr>
          <p:cNvPr id="14" name="TextBox 13"/>
          <p:cNvSpPr txBox="1"/>
          <p:nvPr/>
        </p:nvSpPr>
        <p:spPr>
          <a:xfrm>
            <a:off x="1920240" y="2752344"/>
            <a:ext cx="1371600" cy="164592"/>
          </a:xfrm>
          <a:prstGeom prst="rect">
            <a:avLst/>
          </a:prstGeom>
          <a:noFill/>
        </p:spPr>
        <p:txBody>
          <a:bodyPr wrap="square" lIns="0" tIns="0" rIns="0" bIns="0">
            <a:spAutoFit/>
          </a:bodyPr>
          <a:lstStyle/>
          <a:p>
            <a:pPr algn="l">
              <a:defRPr sz="950" b="0">
                <a:solidFill>
                  <a:srgbClr val="6B6861"/>
                </a:solidFill>
                <a:latin typeface="Arial"/>
              </a:defRPr>
            </a:pPr>
            <a:r>
              <a:t>directors, executives, owners</a:t>
            </a:r>
          </a:p>
        </p:txBody>
      </p:sp>
      <p:sp>
        <p:nvSpPr>
          <p:cNvPr id="15" name="Rounded Rectangle 14"/>
          <p:cNvSpPr/>
          <p:nvPr/>
        </p:nvSpPr>
        <p:spPr>
          <a:xfrm>
            <a:off x="566928" y="3346704"/>
            <a:ext cx="2971800" cy="512064"/>
          </a:xfrm>
          <a:prstGeom prst="roundRect">
            <a:avLst/>
          </a:prstGeom>
          <a:solidFill>
            <a:srgbClr val="EEEAE2"/>
          </a:solidFill>
          <a:ln>
            <a:solidFill>
              <a:srgbClr val="EEE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465576"/>
            <a:ext cx="1417320" cy="164592"/>
          </a:xfrm>
          <a:prstGeom prst="rect">
            <a:avLst/>
          </a:prstGeom>
          <a:noFill/>
        </p:spPr>
        <p:txBody>
          <a:bodyPr wrap="square" lIns="0" tIns="0" rIns="0" bIns="0">
            <a:spAutoFit/>
          </a:bodyPr>
          <a:lstStyle/>
          <a:p>
            <a:pPr algn="l">
              <a:defRPr sz="1000" b="1">
                <a:solidFill>
                  <a:srgbClr val="8C6B52"/>
                </a:solidFill>
                <a:latin typeface="Arial"/>
              </a:defRPr>
            </a:pPr>
            <a:r>
              <a:t>GOVERNMENT</a:t>
            </a:r>
          </a:p>
        </p:txBody>
      </p:sp>
      <p:sp>
        <p:nvSpPr>
          <p:cNvPr id="17" name="TextBox 16"/>
          <p:cNvSpPr txBox="1"/>
          <p:nvPr/>
        </p:nvSpPr>
        <p:spPr>
          <a:xfrm>
            <a:off x="1920240" y="3465576"/>
            <a:ext cx="1371600" cy="164592"/>
          </a:xfrm>
          <a:prstGeom prst="rect">
            <a:avLst/>
          </a:prstGeom>
          <a:noFill/>
        </p:spPr>
        <p:txBody>
          <a:bodyPr wrap="square" lIns="0" tIns="0" rIns="0" bIns="0">
            <a:spAutoFit/>
          </a:bodyPr>
          <a:lstStyle/>
          <a:p>
            <a:pPr algn="l">
              <a:defRPr sz="950" b="0">
                <a:solidFill>
                  <a:srgbClr val="6B6861"/>
                </a:solidFill>
                <a:latin typeface="Arial"/>
              </a:defRPr>
            </a:pPr>
            <a:r>
              <a:t>authorities and public bodies</a:t>
            </a:r>
          </a:p>
        </p:txBody>
      </p:sp>
      <p:sp>
        <p:nvSpPr>
          <p:cNvPr id="18" name="Rounded Rectangle 17"/>
          <p:cNvSpPr/>
          <p:nvPr/>
        </p:nvSpPr>
        <p:spPr>
          <a:xfrm>
            <a:off x="566928" y="4059935"/>
            <a:ext cx="2971800" cy="512064"/>
          </a:xfrm>
          <a:prstGeom prst="roundRect">
            <a:avLst/>
          </a:prstGeom>
          <a:solidFill>
            <a:srgbClr val="EEEAE2"/>
          </a:solidFill>
          <a:ln>
            <a:solidFill>
              <a:srgbClr val="EEE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178807"/>
            <a:ext cx="1417320" cy="164592"/>
          </a:xfrm>
          <a:prstGeom prst="rect">
            <a:avLst/>
          </a:prstGeom>
          <a:noFill/>
        </p:spPr>
        <p:txBody>
          <a:bodyPr wrap="square" lIns="0" tIns="0" rIns="0" bIns="0">
            <a:spAutoFit/>
          </a:bodyPr>
          <a:lstStyle/>
          <a:p>
            <a:pPr algn="l">
              <a:defRPr sz="1000" b="1">
                <a:solidFill>
                  <a:srgbClr val="B85C4C"/>
                </a:solidFill>
                <a:latin typeface="Arial"/>
              </a:defRPr>
            </a:pPr>
            <a:r>
              <a:t>OTHER</a:t>
            </a:r>
          </a:p>
        </p:txBody>
      </p:sp>
      <p:sp>
        <p:nvSpPr>
          <p:cNvPr id="20" name="TextBox 19"/>
          <p:cNvSpPr txBox="1"/>
          <p:nvPr/>
        </p:nvSpPr>
        <p:spPr>
          <a:xfrm>
            <a:off x="1920240" y="4178807"/>
            <a:ext cx="1371600" cy="164592"/>
          </a:xfrm>
          <a:prstGeom prst="rect">
            <a:avLst/>
          </a:prstGeom>
          <a:noFill/>
        </p:spPr>
        <p:txBody>
          <a:bodyPr wrap="square" lIns="0" tIns="0" rIns="0" bIns="0">
            <a:spAutoFit/>
          </a:bodyPr>
          <a:lstStyle/>
          <a:p>
            <a:pPr algn="l">
              <a:defRPr sz="950" b="0">
                <a:solidFill>
                  <a:srgbClr val="6B6861"/>
                </a:solidFill>
                <a:latin typeface="Arial"/>
              </a:defRPr>
            </a:pPr>
            <a:r>
              <a:t>projects, facilities and other named subjects</a:t>
            </a:r>
          </a:p>
        </p:txBody>
      </p:sp>
      <p:sp>
        <p:nvSpPr>
          <p:cNvPr id="21" name="TextBox 20"/>
          <p:cNvSpPr txBox="1"/>
          <p:nvPr/>
        </p:nvSpPr>
        <p:spPr>
          <a:xfrm>
            <a:off x="3977639" y="1508760"/>
            <a:ext cx="4114800" cy="228600"/>
          </a:xfrm>
          <a:prstGeom prst="rect">
            <a:avLst/>
          </a:prstGeom>
          <a:noFill/>
        </p:spPr>
        <p:txBody>
          <a:bodyPr wrap="square" lIns="0" tIns="0" rIns="0" bIns="0">
            <a:spAutoFit/>
          </a:bodyPr>
          <a:lstStyle/>
          <a:p>
            <a:pPr algn="l">
              <a:defRPr sz="1400" b="1">
                <a:solidFill>
                  <a:srgbClr val="D97745"/>
                </a:solidFill>
                <a:latin typeface="Arial"/>
              </a:defRPr>
            </a:pPr>
            <a:r>
              <a:t>Predefined relationship types (21)</a:t>
            </a:r>
          </a:p>
        </p:txBody>
      </p:sp>
      <p:sp>
        <p:nvSpPr>
          <p:cNvPr id="22" name="TextBox 21"/>
          <p:cNvSpPr txBox="1"/>
          <p:nvPr/>
        </p:nvSpPr>
        <p:spPr>
          <a:xfrm>
            <a:off x="3977639" y="1901952"/>
            <a:ext cx="1828800" cy="201168"/>
          </a:xfrm>
          <a:prstGeom prst="rect">
            <a:avLst/>
          </a:prstGeom>
          <a:noFill/>
        </p:spPr>
        <p:txBody>
          <a:bodyPr wrap="square" lIns="0" tIns="0" rIns="0" bIns="0">
            <a:spAutoFit/>
          </a:bodyPr>
          <a:lstStyle/>
          <a:p>
            <a:pPr algn="l">
              <a:defRPr sz="1050" b="1">
                <a:solidFill>
                  <a:srgbClr val="1F1F1C"/>
                </a:solidFill>
                <a:latin typeface="Arial"/>
              </a:defRPr>
            </a:pPr>
            <a:r>
              <a:t>Corporate structure</a:t>
            </a:r>
          </a:p>
        </p:txBody>
      </p:sp>
      <p:sp>
        <p:nvSpPr>
          <p:cNvPr id="23" name="TextBox 22"/>
          <p:cNvSpPr txBox="1"/>
          <p:nvPr/>
        </p:nvSpPr>
        <p:spPr>
          <a:xfrm>
            <a:off x="5760720" y="1901952"/>
            <a:ext cx="5760720" cy="329184"/>
          </a:xfrm>
          <a:prstGeom prst="rect">
            <a:avLst/>
          </a:prstGeom>
          <a:noFill/>
        </p:spPr>
        <p:txBody>
          <a:bodyPr wrap="square" lIns="0" tIns="0" rIns="0" bIns="0">
            <a:spAutoFit/>
          </a:bodyPr>
          <a:lstStyle/>
          <a:p>
            <a:pPr algn="l">
              <a:defRPr sz="950" b="0">
                <a:solidFill>
                  <a:srgbClr val="6B6861"/>
                </a:solidFill>
                <a:latin typeface="Arial"/>
              </a:defRPr>
            </a:pPr>
            <a:r>
              <a:t>PARENT_OF | SUBSIDIARY_OF | JOINT_VENTURE_WITH | ASSOCIATE_OF</a:t>
            </a:r>
          </a:p>
        </p:txBody>
      </p:sp>
      <p:sp>
        <p:nvSpPr>
          <p:cNvPr id="24" name="TextBox 23"/>
          <p:cNvSpPr txBox="1"/>
          <p:nvPr/>
        </p:nvSpPr>
        <p:spPr>
          <a:xfrm>
            <a:off x="3977639" y="2532888"/>
            <a:ext cx="1828800" cy="201168"/>
          </a:xfrm>
          <a:prstGeom prst="rect">
            <a:avLst/>
          </a:prstGeom>
          <a:noFill/>
        </p:spPr>
        <p:txBody>
          <a:bodyPr wrap="square" lIns="0" tIns="0" rIns="0" bIns="0">
            <a:spAutoFit/>
          </a:bodyPr>
          <a:lstStyle/>
          <a:p>
            <a:pPr algn="l">
              <a:defRPr sz="1050" b="1">
                <a:solidFill>
                  <a:srgbClr val="1F1F1C"/>
                </a:solidFill>
                <a:latin typeface="Arial"/>
              </a:defRPr>
            </a:pPr>
            <a:r>
              <a:t>Management / ownership</a:t>
            </a:r>
          </a:p>
        </p:txBody>
      </p:sp>
      <p:sp>
        <p:nvSpPr>
          <p:cNvPr id="25" name="TextBox 24"/>
          <p:cNvSpPr txBox="1"/>
          <p:nvPr/>
        </p:nvSpPr>
        <p:spPr>
          <a:xfrm>
            <a:off x="5760720" y="2532888"/>
            <a:ext cx="5760720" cy="329184"/>
          </a:xfrm>
          <a:prstGeom prst="rect">
            <a:avLst/>
          </a:prstGeom>
          <a:noFill/>
        </p:spPr>
        <p:txBody>
          <a:bodyPr wrap="square" lIns="0" tIns="0" rIns="0" bIns="0">
            <a:spAutoFit/>
          </a:bodyPr>
          <a:lstStyle/>
          <a:p>
            <a:pPr algn="l">
              <a:defRPr sz="950" b="0">
                <a:solidFill>
                  <a:srgbClr val="6B6861"/>
                </a:solidFill>
                <a:latin typeface="Arial"/>
              </a:defRPr>
            </a:pPr>
            <a:r>
              <a:t>OWNS | DIRECTOR_OF | INVESTED_IN</a:t>
            </a:r>
          </a:p>
        </p:txBody>
      </p:sp>
      <p:sp>
        <p:nvSpPr>
          <p:cNvPr id="26" name="TextBox 25"/>
          <p:cNvSpPr txBox="1"/>
          <p:nvPr/>
        </p:nvSpPr>
        <p:spPr>
          <a:xfrm>
            <a:off x="3977639" y="3163824"/>
            <a:ext cx="1828800" cy="201168"/>
          </a:xfrm>
          <a:prstGeom prst="rect">
            <a:avLst/>
          </a:prstGeom>
          <a:noFill/>
        </p:spPr>
        <p:txBody>
          <a:bodyPr wrap="square" lIns="0" tIns="0" rIns="0" bIns="0">
            <a:spAutoFit/>
          </a:bodyPr>
          <a:lstStyle/>
          <a:p>
            <a:pPr algn="l">
              <a:defRPr sz="1050" b="1">
                <a:solidFill>
                  <a:srgbClr val="1F1F1C"/>
                </a:solidFill>
                <a:latin typeface="Arial"/>
              </a:defRPr>
            </a:pPr>
            <a:r>
              <a:t>Commercial</a:t>
            </a:r>
          </a:p>
        </p:txBody>
      </p:sp>
      <p:sp>
        <p:nvSpPr>
          <p:cNvPr id="27" name="TextBox 26"/>
          <p:cNvSpPr txBox="1"/>
          <p:nvPr/>
        </p:nvSpPr>
        <p:spPr>
          <a:xfrm>
            <a:off x="5760720" y="3163824"/>
            <a:ext cx="5760720" cy="329184"/>
          </a:xfrm>
          <a:prstGeom prst="rect">
            <a:avLst/>
          </a:prstGeom>
          <a:noFill/>
        </p:spPr>
        <p:txBody>
          <a:bodyPr wrap="square" lIns="0" tIns="0" rIns="0" bIns="0">
            <a:spAutoFit/>
          </a:bodyPr>
          <a:lstStyle/>
          <a:p>
            <a:pPr algn="l">
              <a:defRPr sz="950" b="0">
                <a:solidFill>
                  <a:srgbClr val="6B6861"/>
                </a:solidFill>
                <a:latin typeface="Arial"/>
              </a:defRPr>
            </a:pPr>
            <a:r>
              <a:t>SUPPLIER_TO | CUSTOMER_OF | CONTRACTOR_TO | PARTNERED_WITH | PPA | MOU | OPERATES | ACQUIRED</a:t>
            </a:r>
          </a:p>
        </p:txBody>
      </p:sp>
      <p:sp>
        <p:nvSpPr>
          <p:cNvPr id="28" name="TextBox 27"/>
          <p:cNvSpPr txBox="1"/>
          <p:nvPr/>
        </p:nvSpPr>
        <p:spPr>
          <a:xfrm>
            <a:off x="3977639" y="3794760"/>
            <a:ext cx="1828800" cy="201168"/>
          </a:xfrm>
          <a:prstGeom prst="rect">
            <a:avLst/>
          </a:prstGeom>
          <a:noFill/>
        </p:spPr>
        <p:txBody>
          <a:bodyPr wrap="square" lIns="0" tIns="0" rIns="0" bIns="0">
            <a:spAutoFit/>
          </a:bodyPr>
          <a:lstStyle/>
          <a:p>
            <a:pPr algn="l">
              <a:defRPr sz="1050" b="1">
                <a:solidFill>
                  <a:srgbClr val="1F1F1C"/>
                </a:solidFill>
                <a:latin typeface="Arial"/>
              </a:defRPr>
            </a:pPr>
            <a:r>
              <a:t>Regulatory / risk</a:t>
            </a:r>
          </a:p>
        </p:txBody>
      </p:sp>
      <p:sp>
        <p:nvSpPr>
          <p:cNvPr id="29" name="TextBox 28"/>
          <p:cNvSpPr txBox="1"/>
          <p:nvPr/>
        </p:nvSpPr>
        <p:spPr>
          <a:xfrm>
            <a:off x="5760720" y="3794760"/>
            <a:ext cx="5760720" cy="329184"/>
          </a:xfrm>
          <a:prstGeom prst="rect">
            <a:avLst/>
          </a:prstGeom>
          <a:noFill/>
        </p:spPr>
        <p:txBody>
          <a:bodyPr wrap="square" lIns="0" tIns="0" rIns="0" bIns="0">
            <a:spAutoFit/>
          </a:bodyPr>
          <a:lstStyle/>
          <a:p>
            <a:pPr algn="l">
              <a:defRPr sz="950" b="0">
                <a:solidFill>
                  <a:srgbClr val="6B6861"/>
                </a:solidFill>
                <a:latin typeface="Arial"/>
              </a:defRPr>
            </a:pPr>
            <a:r>
              <a:t>SUBJECT_TO_INVESTIGATION | SUED_BY | SANCTIONED_BY | DEBARRED_BY</a:t>
            </a:r>
          </a:p>
        </p:txBody>
      </p:sp>
      <p:sp>
        <p:nvSpPr>
          <p:cNvPr id="30" name="TextBox 29"/>
          <p:cNvSpPr txBox="1"/>
          <p:nvPr/>
        </p:nvSpPr>
        <p:spPr>
          <a:xfrm>
            <a:off x="3977639" y="4425696"/>
            <a:ext cx="1828800" cy="201168"/>
          </a:xfrm>
          <a:prstGeom prst="rect">
            <a:avLst/>
          </a:prstGeom>
          <a:noFill/>
        </p:spPr>
        <p:txBody>
          <a:bodyPr wrap="square" lIns="0" tIns="0" rIns="0" bIns="0">
            <a:spAutoFit/>
          </a:bodyPr>
          <a:lstStyle/>
          <a:p>
            <a:pPr algn="l">
              <a:defRPr sz="1050" b="1">
                <a:solidFill>
                  <a:srgbClr val="1F1F1C"/>
                </a:solidFill>
                <a:latin typeface="Arial"/>
              </a:defRPr>
            </a:pPr>
            <a:r>
              <a:t>Governed extension</a:t>
            </a:r>
          </a:p>
        </p:txBody>
      </p:sp>
      <p:sp>
        <p:nvSpPr>
          <p:cNvPr id="31" name="TextBox 30"/>
          <p:cNvSpPr txBox="1"/>
          <p:nvPr/>
        </p:nvSpPr>
        <p:spPr>
          <a:xfrm>
            <a:off x="5760720" y="4425696"/>
            <a:ext cx="5760720" cy="329184"/>
          </a:xfrm>
          <a:prstGeom prst="rect">
            <a:avLst/>
          </a:prstGeom>
          <a:noFill/>
        </p:spPr>
        <p:txBody>
          <a:bodyPr wrap="square" lIns="0" tIns="0" rIns="0" bIns="0">
            <a:spAutoFit/>
          </a:bodyPr>
          <a:lstStyle/>
          <a:p>
            <a:pPr algn="l">
              <a:defRPr sz="950" b="0">
                <a:solidFill>
                  <a:srgbClr val="6B6861"/>
                </a:solidFill>
                <a:latin typeface="Arial"/>
              </a:defRPr>
            </a:pPr>
            <a:r>
              <a:t>CO_MENTION | OTHER_MATERIAL_RELATION (explicit, pending vocabulary governance)</a:t>
            </a:r>
          </a:p>
        </p:txBody>
      </p:sp>
      <p:sp>
        <p:nvSpPr>
          <p:cNvPr id="32" name="TextBox 31"/>
          <p:cNvSpPr txBox="1"/>
          <p:nvPr/>
        </p:nvSpPr>
        <p:spPr>
          <a:xfrm>
            <a:off x="3977639" y="5257800"/>
            <a:ext cx="7315200" cy="420624"/>
          </a:xfrm>
          <a:prstGeom prst="rect">
            <a:avLst/>
          </a:prstGeom>
          <a:noFill/>
        </p:spPr>
        <p:txBody>
          <a:bodyPr wrap="square" lIns="0" tIns="0" rIns="0" bIns="0">
            <a:spAutoFit/>
          </a:bodyPr>
          <a:lstStyle/>
          <a:p>
            <a:pPr algn="l">
              <a:defRPr sz="1100" b="1">
                <a:solidFill>
                  <a:srgbClr val="1F1F1C"/>
                </a:solidFill>
                <a:latin typeface="Arial"/>
              </a:defRPr>
            </a:pPr>
            <a:r>
              <a:t>Classifications: RELATED_PARTY | COUNTERPARTY | RISK_RELATION | CO_MENTION.</a:t>
            </a:r>
            <a:br/>
            <a:r>
              <a:t>Confidence and validation status remain separate from relationship type.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D97745"/>
          </a:solidFill>
          <a:ln>
            <a:solidFill>
              <a:srgbClr val="D97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438912"/>
            <a:ext cx="7132320" cy="228600"/>
          </a:xfrm>
          <a:prstGeom prst="rect">
            <a:avLst/>
          </a:prstGeom>
          <a:noFill/>
        </p:spPr>
        <p:txBody>
          <a:bodyPr wrap="square" lIns="0" tIns="0" rIns="0" bIns="0">
            <a:spAutoFit/>
          </a:bodyPr>
          <a:lstStyle/>
          <a:p>
            <a:pPr algn="l">
              <a:defRPr sz="900" b="1">
                <a:solidFill>
                  <a:srgbClr val="D97745"/>
                </a:solidFill>
                <a:latin typeface="Arial"/>
              </a:defRPr>
            </a:pPr>
            <a:r>
              <a:t>APPENDIX C | RIO TINTO CASE FOOTPRINT</a:t>
            </a:r>
          </a:p>
        </p:txBody>
      </p:sp>
      <p:sp>
        <p:nvSpPr>
          <p:cNvPr id="4" name="TextBox 3"/>
          <p:cNvSpPr txBox="1"/>
          <p:nvPr/>
        </p:nvSpPr>
        <p:spPr>
          <a:xfrm>
            <a:off x="566928" y="758952"/>
            <a:ext cx="10972800" cy="512064"/>
          </a:xfrm>
          <a:prstGeom prst="rect">
            <a:avLst/>
          </a:prstGeom>
          <a:noFill/>
        </p:spPr>
        <p:txBody>
          <a:bodyPr wrap="square" lIns="0" tIns="0" rIns="0" bIns="0">
            <a:spAutoFit/>
          </a:bodyPr>
          <a:lstStyle/>
          <a:p>
            <a:pPr algn="l">
              <a:defRPr sz="2500" b="1">
                <a:solidFill>
                  <a:srgbClr val="1F1F1C"/>
                </a:solidFill>
                <a:latin typeface="Arial"/>
              </a:defRPr>
            </a:pPr>
            <a:r>
              <a:t>Current retained public-data footprint for the Rio Tinto investigation.</a:t>
            </a:r>
          </a:p>
        </p:txBody>
      </p:sp>
      <p:sp>
        <p:nvSpPr>
          <p:cNvPr id="5" name="Rectangle 4"/>
          <p:cNvSpPr/>
          <p:nvPr/>
        </p:nvSpPr>
        <p:spPr>
          <a:xfrm>
            <a:off x="566928" y="6245352"/>
            <a:ext cx="11045952" cy="13716"/>
          </a:xfrm>
          <a:prstGeom prst="rect">
            <a:avLst/>
          </a:prstGeom>
          <a:solidFill>
            <a:srgbClr val="D8D1C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6391656"/>
            <a:ext cx="5029200" cy="164592"/>
          </a:xfrm>
          <a:prstGeom prst="rect">
            <a:avLst/>
          </a:prstGeom>
          <a:noFill/>
        </p:spPr>
        <p:txBody>
          <a:bodyPr wrap="square" lIns="0" tIns="0" rIns="0" bIns="0">
            <a:spAutoFit/>
          </a:bodyPr>
          <a:lstStyle/>
          <a:p>
            <a:pPr algn="l">
              <a:defRPr sz="800" b="0">
                <a:solidFill>
                  <a:srgbClr val="6B6861"/>
                </a:solidFill>
                <a:latin typeface="Arial"/>
              </a:defRPr>
            </a:pPr>
            <a:r>
              <a:t>Customer Relationship Discovery | Appendix</a:t>
            </a:r>
          </a:p>
        </p:txBody>
      </p:sp>
      <p:sp>
        <p:nvSpPr>
          <p:cNvPr id="7" name="TextBox 6"/>
          <p:cNvSpPr txBox="1"/>
          <p:nvPr/>
        </p:nvSpPr>
        <p:spPr>
          <a:xfrm>
            <a:off x="10927080" y="6391656"/>
            <a:ext cx="685800" cy="164592"/>
          </a:xfrm>
          <a:prstGeom prst="rect">
            <a:avLst/>
          </a:prstGeom>
          <a:noFill/>
        </p:spPr>
        <p:txBody>
          <a:bodyPr wrap="square" lIns="0" tIns="0" rIns="0" bIns="0">
            <a:spAutoFit/>
          </a:bodyPr>
          <a:lstStyle/>
          <a:p>
            <a:pPr algn="r">
              <a:defRPr sz="800" b="0">
                <a:solidFill>
                  <a:srgbClr val="6B6861"/>
                </a:solidFill>
                <a:latin typeface="Arial"/>
              </a:defRPr>
            </a:pPr>
            <a:r>
              <a:t>09 / 09</a:t>
            </a:r>
          </a:p>
        </p:txBody>
      </p:sp>
      <p:sp>
        <p:nvSpPr>
          <p:cNvPr id="8" name="Rounded Rectangle 7"/>
          <p:cNvSpPr/>
          <p:nvPr/>
        </p:nvSpPr>
        <p:spPr>
          <a:xfrm>
            <a:off x="566928" y="1554480"/>
            <a:ext cx="2487168" cy="1161288"/>
          </a:xfrm>
          <a:prstGeom prst="roundRect">
            <a:avLst/>
          </a:prstGeom>
          <a:solidFill>
            <a:srgbClr val="EEEAE2"/>
          </a:solidFill>
          <a:ln>
            <a:solidFill>
              <a:srgbClr val="EEE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1719072"/>
            <a:ext cx="822960" cy="384048"/>
          </a:xfrm>
          <a:prstGeom prst="rect">
            <a:avLst/>
          </a:prstGeom>
          <a:noFill/>
        </p:spPr>
        <p:txBody>
          <a:bodyPr wrap="square" lIns="0" tIns="0" rIns="0" bIns="0">
            <a:spAutoFit/>
          </a:bodyPr>
          <a:lstStyle/>
          <a:p>
            <a:pPr algn="l">
              <a:defRPr sz="2800" b="1">
                <a:solidFill>
                  <a:srgbClr val="D97745"/>
                </a:solidFill>
                <a:latin typeface="Arial"/>
              </a:defRPr>
            </a:pPr>
            <a:r>
              <a:t>72</a:t>
            </a:r>
          </a:p>
        </p:txBody>
      </p:sp>
      <p:sp>
        <p:nvSpPr>
          <p:cNvPr id="10" name="TextBox 9"/>
          <p:cNvSpPr txBox="1"/>
          <p:nvPr/>
        </p:nvSpPr>
        <p:spPr>
          <a:xfrm>
            <a:off x="768096" y="2267712"/>
            <a:ext cx="1975104" cy="228600"/>
          </a:xfrm>
          <a:prstGeom prst="rect">
            <a:avLst/>
          </a:prstGeom>
          <a:noFill/>
        </p:spPr>
        <p:txBody>
          <a:bodyPr wrap="square" lIns="0" tIns="0" rIns="0" bIns="0">
            <a:spAutoFit/>
          </a:bodyPr>
          <a:lstStyle/>
          <a:p>
            <a:pPr algn="l">
              <a:defRPr sz="1000" b="0">
                <a:solidFill>
                  <a:srgbClr val="6B6861"/>
                </a:solidFill>
                <a:latin typeface="Arial"/>
              </a:defRPr>
            </a:pPr>
            <a:r>
              <a:t>documents linked to the current case</a:t>
            </a:r>
          </a:p>
        </p:txBody>
      </p:sp>
      <p:sp>
        <p:nvSpPr>
          <p:cNvPr id="11" name="Rounded Rectangle 10"/>
          <p:cNvSpPr/>
          <p:nvPr/>
        </p:nvSpPr>
        <p:spPr>
          <a:xfrm>
            <a:off x="3355848" y="1554480"/>
            <a:ext cx="2487168" cy="1161288"/>
          </a:xfrm>
          <a:prstGeom prst="roundRect">
            <a:avLst/>
          </a:prstGeom>
          <a:solidFill>
            <a:srgbClr val="EEEAE2"/>
          </a:solidFill>
          <a:ln>
            <a:solidFill>
              <a:srgbClr val="EEE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57016" y="1719072"/>
            <a:ext cx="822960" cy="384048"/>
          </a:xfrm>
          <a:prstGeom prst="rect">
            <a:avLst/>
          </a:prstGeom>
          <a:noFill/>
        </p:spPr>
        <p:txBody>
          <a:bodyPr wrap="square" lIns="0" tIns="0" rIns="0" bIns="0">
            <a:spAutoFit/>
          </a:bodyPr>
          <a:lstStyle/>
          <a:p>
            <a:pPr algn="l">
              <a:defRPr sz="2800" b="1">
                <a:solidFill>
                  <a:srgbClr val="D97745"/>
                </a:solidFill>
                <a:latin typeface="Arial"/>
              </a:defRPr>
            </a:pPr>
            <a:r>
              <a:t>8</a:t>
            </a:r>
          </a:p>
        </p:txBody>
      </p:sp>
      <p:sp>
        <p:nvSpPr>
          <p:cNvPr id="13" name="TextBox 12"/>
          <p:cNvSpPr txBox="1"/>
          <p:nvPr/>
        </p:nvSpPr>
        <p:spPr>
          <a:xfrm>
            <a:off x="3557016" y="2267712"/>
            <a:ext cx="1975104" cy="228600"/>
          </a:xfrm>
          <a:prstGeom prst="rect">
            <a:avLst/>
          </a:prstGeom>
          <a:noFill/>
        </p:spPr>
        <p:txBody>
          <a:bodyPr wrap="square" lIns="0" tIns="0" rIns="0" bIns="0">
            <a:spAutoFit/>
          </a:bodyPr>
          <a:lstStyle/>
          <a:p>
            <a:pPr algn="l">
              <a:defRPr sz="1000" b="0">
                <a:solidFill>
                  <a:srgbClr val="6B6861"/>
                </a:solidFill>
                <a:latin typeface="Arial"/>
              </a:defRPr>
            </a:pPr>
            <a:r>
              <a:t>official documents retained for the case</a:t>
            </a:r>
          </a:p>
        </p:txBody>
      </p:sp>
      <p:sp>
        <p:nvSpPr>
          <p:cNvPr id="14" name="Rounded Rectangle 13"/>
          <p:cNvSpPr/>
          <p:nvPr/>
        </p:nvSpPr>
        <p:spPr>
          <a:xfrm>
            <a:off x="6144768" y="1554480"/>
            <a:ext cx="2487168" cy="1161288"/>
          </a:xfrm>
          <a:prstGeom prst="roundRect">
            <a:avLst/>
          </a:prstGeom>
          <a:solidFill>
            <a:srgbClr val="EEEAE2"/>
          </a:solidFill>
          <a:ln>
            <a:solidFill>
              <a:srgbClr val="EEE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45936" y="1719072"/>
            <a:ext cx="822960" cy="384048"/>
          </a:xfrm>
          <a:prstGeom prst="rect">
            <a:avLst/>
          </a:prstGeom>
          <a:noFill/>
        </p:spPr>
        <p:txBody>
          <a:bodyPr wrap="square" lIns="0" tIns="0" rIns="0" bIns="0">
            <a:spAutoFit/>
          </a:bodyPr>
          <a:lstStyle/>
          <a:p>
            <a:pPr algn="l">
              <a:defRPr sz="2800" b="1">
                <a:solidFill>
                  <a:srgbClr val="D97745"/>
                </a:solidFill>
                <a:latin typeface="Arial"/>
              </a:defRPr>
            </a:pPr>
            <a:r>
              <a:t>64</a:t>
            </a:r>
          </a:p>
        </p:txBody>
      </p:sp>
      <p:sp>
        <p:nvSpPr>
          <p:cNvPr id="16" name="TextBox 15"/>
          <p:cNvSpPr txBox="1"/>
          <p:nvPr/>
        </p:nvSpPr>
        <p:spPr>
          <a:xfrm>
            <a:off x="6345936" y="2267712"/>
            <a:ext cx="1975104" cy="228600"/>
          </a:xfrm>
          <a:prstGeom prst="rect">
            <a:avLst/>
          </a:prstGeom>
          <a:noFill/>
        </p:spPr>
        <p:txBody>
          <a:bodyPr wrap="square" lIns="0" tIns="0" rIns="0" bIns="0">
            <a:spAutoFit/>
          </a:bodyPr>
          <a:lstStyle/>
          <a:p>
            <a:pPr algn="l">
              <a:defRPr sz="1000" b="0">
                <a:solidFill>
                  <a:srgbClr val="6B6861"/>
                </a:solidFill>
                <a:latin typeface="Arial"/>
              </a:defRPr>
            </a:pPr>
            <a:r>
              <a:t>news documents linked to the case</a:t>
            </a:r>
          </a:p>
        </p:txBody>
      </p:sp>
      <p:sp>
        <p:nvSpPr>
          <p:cNvPr id="17" name="Rounded Rectangle 16"/>
          <p:cNvSpPr/>
          <p:nvPr/>
        </p:nvSpPr>
        <p:spPr>
          <a:xfrm>
            <a:off x="8933687" y="1554480"/>
            <a:ext cx="2487168" cy="1161288"/>
          </a:xfrm>
          <a:prstGeom prst="roundRect">
            <a:avLst/>
          </a:prstGeom>
          <a:solidFill>
            <a:srgbClr val="EEEAE2"/>
          </a:solidFill>
          <a:ln>
            <a:solidFill>
              <a:srgbClr val="EEE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34855" y="1719072"/>
            <a:ext cx="822960" cy="384048"/>
          </a:xfrm>
          <a:prstGeom prst="rect">
            <a:avLst/>
          </a:prstGeom>
          <a:noFill/>
        </p:spPr>
        <p:txBody>
          <a:bodyPr wrap="square" lIns="0" tIns="0" rIns="0" bIns="0">
            <a:spAutoFit/>
          </a:bodyPr>
          <a:lstStyle/>
          <a:p>
            <a:pPr algn="l">
              <a:defRPr sz="2800" b="1">
                <a:solidFill>
                  <a:srgbClr val="D97745"/>
                </a:solidFill>
                <a:latin typeface="Arial"/>
              </a:defRPr>
            </a:pPr>
            <a:r>
              <a:t>83</a:t>
            </a:r>
          </a:p>
        </p:txBody>
      </p:sp>
      <p:sp>
        <p:nvSpPr>
          <p:cNvPr id="19" name="TextBox 18"/>
          <p:cNvSpPr txBox="1"/>
          <p:nvPr/>
        </p:nvSpPr>
        <p:spPr>
          <a:xfrm>
            <a:off x="9134855" y="2267712"/>
            <a:ext cx="1975104" cy="228600"/>
          </a:xfrm>
          <a:prstGeom prst="rect">
            <a:avLst/>
          </a:prstGeom>
          <a:noFill/>
        </p:spPr>
        <p:txBody>
          <a:bodyPr wrap="square" lIns="0" tIns="0" rIns="0" bIns="0">
            <a:spAutoFit/>
          </a:bodyPr>
          <a:lstStyle/>
          <a:p>
            <a:pPr algn="l">
              <a:defRPr sz="1000" b="0">
                <a:solidFill>
                  <a:srgbClr val="6B6861"/>
                </a:solidFill>
                <a:latin typeface="Arial"/>
              </a:defRPr>
            </a:pPr>
            <a:r>
              <a:t>news search results discovered</a:t>
            </a:r>
          </a:p>
        </p:txBody>
      </p:sp>
      <p:sp>
        <p:nvSpPr>
          <p:cNvPr id="20" name="TextBox 19"/>
          <p:cNvSpPr txBox="1"/>
          <p:nvPr/>
        </p:nvSpPr>
        <p:spPr>
          <a:xfrm>
            <a:off x="566928" y="3136392"/>
            <a:ext cx="2926080" cy="228600"/>
          </a:xfrm>
          <a:prstGeom prst="rect">
            <a:avLst/>
          </a:prstGeom>
          <a:noFill/>
        </p:spPr>
        <p:txBody>
          <a:bodyPr wrap="square" lIns="0" tIns="0" rIns="0" bIns="0">
            <a:spAutoFit/>
          </a:bodyPr>
          <a:lstStyle/>
          <a:p>
            <a:pPr algn="l">
              <a:defRPr sz="1400" b="1">
                <a:solidFill>
                  <a:srgbClr val="D97745"/>
                </a:solidFill>
                <a:latin typeface="Arial"/>
              </a:defRPr>
            </a:pPr>
            <a:r>
              <a:t>Official document set (8)</a:t>
            </a:r>
          </a:p>
        </p:txBody>
      </p:sp>
      <p:sp>
        <p:nvSpPr>
          <p:cNvPr id="21" name="TextBox 20"/>
          <p:cNvSpPr txBox="1"/>
          <p:nvPr/>
        </p:nvSpPr>
        <p:spPr>
          <a:xfrm>
            <a:off x="566928" y="3511296"/>
            <a:ext cx="4343400" cy="804672"/>
          </a:xfrm>
          <a:prstGeom prst="rect">
            <a:avLst/>
          </a:prstGeom>
          <a:noFill/>
        </p:spPr>
        <p:txBody>
          <a:bodyPr wrap="square" lIns="0" tIns="0" rIns="0" bIns="0">
            <a:spAutoFit/>
          </a:bodyPr>
          <a:lstStyle/>
          <a:p>
            <a:pPr algn="l">
              <a:defRPr sz="1200" b="0">
                <a:solidFill>
                  <a:srgbClr val="1F1F1C"/>
                </a:solidFill>
                <a:latin typeface="Arial"/>
              </a:defRPr>
            </a:pPr>
            <a:r>
              <a:t>2 annual reports: 2024 and 2025</a:t>
            </a:r>
            <a:br/>
            <a:r>
              <a:t>2 official corporate pages: Companies and Transparency</a:t>
            </a:r>
            <a:br/>
            <a:r>
              <a:t>4 official relationship announcements (2026)</a:t>
            </a:r>
          </a:p>
        </p:txBody>
      </p:sp>
      <p:sp>
        <p:nvSpPr>
          <p:cNvPr id="22" name="TextBox 21"/>
          <p:cNvSpPr txBox="1"/>
          <p:nvPr/>
        </p:nvSpPr>
        <p:spPr>
          <a:xfrm>
            <a:off x="5623560" y="3136392"/>
            <a:ext cx="2011680" cy="228600"/>
          </a:xfrm>
          <a:prstGeom prst="rect">
            <a:avLst/>
          </a:prstGeom>
          <a:noFill/>
        </p:spPr>
        <p:txBody>
          <a:bodyPr wrap="square" lIns="0" tIns="0" rIns="0" bIns="0">
            <a:spAutoFit/>
          </a:bodyPr>
          <a:lstStyle/>
          <a:p>
            <a:pPr algn="l">
              <a:defRPr sz="1400" b="1">
                <a:solidFill>
                  <a:srgbClr val="D97745"/>
                </a:solidFill>
                <a:latin typeface="Arial"/>
              </a:defRPr>
            </a:pPr>
            <a:r>
              <a:t>Processing detail</a:t>
            </a:r>
          </a:p>
        </p:txBody>
      </p:sp>
      <p:sp>
        <p:nvSpPr>
          <p:cNvPr id="23" name="TextBox 22"/>
          <p:cNvSpPr txBox="1"/>
          <p:nvPr/>
        </p:nvSpPr>
        <p:spPr>
          <a:xfrm>
            <a:off x="5623560" y="3511296"/>
            <a:ext cx="5394960" cy="896112"/>
          </a:xfrm>
          <a:prstGeom prst="rect">
            <a:avLst/>
          </a:prstGeom>
          <a:noFill/>
        </p:spPr>
        <p:txBody>
          <a:bodyPr wrap="square" lIns="0" tIns="0" rIns="0" bIns="0">
            <a:spAutoFit/>
          </a:bodyPr>
          <a:lstStyle/>
          <a:p>
            <a:pPr algn="l">
              <a:defRPr sz="1200" b="0">
                <a:solidFill>
                  <a:srgbClr val="1F1F1C"/>
                </a:solidFill>
                <a:latin typeface="Arial"/>
              </a:defRPr>
            </a:pPr>
            <a:r>
              <a:t>The retained eight-document smoke set was validated for local full text, content hashes, expected content and extraction chunking.</a:t>
            </a:r>
            <a:br/>
            <a:br/>
            <a:r>
              <a:t>Annual report chunks: 95 (2024) and 99 (2025).</a:t>
            </a:r>
          </a:p>
        </p:txBody>
      </p:sp>
      <p:sp>
        <p:nvSpPr>
          <p:cNvPr id="24" name="Rounded Rectangle 23"/>
          <p:cNvSpPr/>
          <p:nvPr/>
        </p:nvSpPr>
        <p:spPr>
          <a:xfrm>
            <a:off x="566928" y="5029200"/>
            <a:ext cx="10972800" cy="566928"/>
          </a:xfrm>
          <a:prstGeom prst="roundRect">
            <a:avLst/>
          </a:prstGeom>
          <a:solidFill>
            <a:srgbClr val="1F1F1C"/>
          </a:solidFill>
          <a:ln>
            <a:solidFill>
              <a:srgbClr val="1F1F1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5230368"/>
            <a:ext cx="10469880" cy="201168"/>
          </a:xfrm>
          <a:prstGeom prst="rect">
            <a:avLst/>
          </a:prstGeom>
          <a:noFill/>
        </p:spPr>
        <p:txBody>
          <a:bodyPr wrap="square" lIns="0" tIns="0" rIns="0" bIns="0">
            <a:spAutoFit/>
          </a:bodyPr>
          <a:lstStyle/>
          <a:p>
            <a:pPr algn="l">
              <a:defRPr sz="1200" b="1">
                <a:solidFill>
                  <a:srgbClr val="F7F4EE"/>
                </a:solidFill>
                <a:latin typeface="Arial"/>
              </a:defRPr>
            </a:pPr>
            <a:r>
              <a:t>Interpretation guardrail: this is a public-source exploration footprint, not evidence of complete or undisclosed relationship coverage.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D97745"/>
          </a:solidFill>
          <a:ln>
            <a:solidFill>
              <a:srgbClr val="D97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438912"/>
            <a:ext cx="7132320" cy="228600"/>
          </a:xfrm>
          <a:prstGeom prst="rect">
            <a:avLst/>
          </a:prstGeom>
          <a:noFill/>
        </p:spPr>
        <p:txBody>
          <a:bodyPr wrap="square" lIns="0" tIns="0" rIns="0" bIns="0">
            <a:spAutoFit/>
          </a:bodyPr>
          <a:lstStyle/>
          <a:p>
            <a:r>
              <a:t>APPENDIX D | PROTOTYPE BOUNDARIES</a:t>
            </a:r>
          </a:p>
        </p:txBody>
      </p:sp>
      <p:sp>
        <p:nvSpPr>
          <p:cNvPr id="4" name="TextBox 3"/>
          <p:cNvSpPr txBox="1"/>
          <p:nvPr/>
        </p:nvSpPr>
        <p:spPr>
          <a:xfrm>
            <a:off x="566928" y="758952"/>
            <a:ext cx="10972800" cy="512064"/>
          </a:xfrm>
          <a:prstGeom prst="rect">
            <a:avLst/>
          </a:prstGeom>
          <a:noFill/>
        </p:spPr>
        <p:txBody>
          <a:bodyPr wrap="square" lIns="0" tIns="0" rIns="0" bIns="0">
            <a:spAutoFit/>
          </a:bodyPr>
          <a:lstStyle/>
          <a:p>
            <a:r>
              <a:t>What this prototype demonstrates — and what still needs validation.</a:t>
            </a:r>
          </a:p>
        </p:txBody>
      </p:sp>
      <p:sp>
        <p:nvSpPr>
          <p:cNvPr id="5" name="Rectangle 4"/>
          <p:cNvSpPr/>
          <p:nvPr/>
        </p:nvSpPr>
        <p:spPr>
          <a:xfrm>
            <a:off x="566928" y="6245352"/>
            <a:ext cx="11045952" cy="13716"/>
          </a:xfrm>
          <a:prstGeom prst="rect">
            <a:avLst/>
          </a:prstGeom>
          <a:solidFill>
            <a:srgbClr val="D8D1C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6391656"/>
            <a:ext cx="5029200" cy="164592"/>
          </a:xfrm>
          <a:prstGeom prst="rect">
            <a:avLst/>
          </a:prstGeom>
          <a:noFill/>
        </p:spPr>
        <p:txBody>
          <a:bodyPr wrap="square" lIns="0" tIns="0" rIns="0" bIns="0">
            <a:spAutoFit/>
          </a:bodyPr>
          <a:lstStyle/>
          <a:p>
            <a:r>
              <a:t>Customer Relationship Discovery | Appendix</a:t>
            </a:r>
          </a:p>
        </p:txBody>
      </p:sp>
      <p:sp>
        <p:nvSpPr>
          <p:cNvPr id="7" name="TextBox 6"/>
          <p:cNvSpPr txBox="1"/>
          <p:nvPr/>
        </p:nvSpPr>
        <p:spPr>
          <a:xfrm>
            <a:off x="10927080" y="6391656"/>
            <a:ext cx="685800" cy="164592"/>
          </a:xfrm>
          <a:prstGeom prst="rect">
            <a:avLst/>
          </a:prstGeom>
          <a:noFill/>
        </p:spPr>
        <p:txBody>
          <a:bodyPr wrap="square" lIns="0" tIns="0" rIns="0" bIns="0">
            <a:spAutoFit/>
          </a:bodyPr>
          <a:lstStyle/>
          <a:p>
            <a:r>
              <a:t>10 / 10</a:t>
            </a:r>
          </a:p>
        </p:txBody>
      </p:sp>
      <p:sp>
        <p:nvSpPr>
          <p:cNvPr id="8" name="Rounded Rectangle 7"/>
          <p:cNvSpPr/>
          <p:nvPr/>
        </p:nvSpPr>
        <p:spPr>
          <a:xfrm>
            <a:off x="566928" y="1600200"/>
            <a:ext cx="2606040" cy="3611880"/>
          </a:xfrm>
          <a:prstGeom prst="roundRect">
            <a:avLst/>
          </a:prstGeom>
          <a:solidFill>
            <a:srgbClr val="EEEAE2"/>
          </a:solidFill>
          <a:ln>
            <a:solidFill>
              <a:srgbClr val="EEE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49808" y="1801368"/>
            <a:ext cx="73152" cy="310896"/>
          </a:xfrm>
          <a:prstGeom prst="roundRect">
            <a:avLst/>
          </a:prstGeom>
          <a:solidFill>
            <a:srgbClr val="D97745"/>
          </a:solidFill>
          <a:ln>
            <a:solidFill>
              <a:srgbClr val="D97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50976" y="1792224"/>
            <a:ext cx="2057400" cy="274320"/>
          </a:xfrm>
          <a:prstGeom prst="rect">
            <a:avLst/>
          </a:prstGeom>
          <a:noFill/>
        </p:spPr>
        <p:txBody>
          <a:bodyPr wrap="square" lIns="0" tIns="0" rIns="0" bIns="0">
            <a:spAutoFit/>
          </a:bodyPr>
          <a:lstStyle/>
          <a:p>
            <a:r>
              <a:t>Demonstrated today</a:t>
            </a:r>
          </a:p>
        </p:txBody>
      </p:sp>
      <p:sp>
        <p:nvSpPr>
          <p:cNvPr id="11" name="TextBox 10"/>
          <p:cNvSpPr txBox="1"/>
          <p:nvPr/>
        </p:nvSpPr>
        <p:spPr>
          <a:xfrm>
            <a:off x="768096" y="2313432"/>
            <a:ext cx="2203704" cy="2734056"/>
          </a:xfrm>
          <a:prstGeom prst="rect">
            <a:avLst/>
          </a:prstGeom>
          <a:noFill/>
        </p:spPr>
        <p:txBody>
          <a:bodyPr wrap="square" lIns="0" tIns="0" rIns="0" bIns="0">
            <a:spAutoFit/>
          </a:bodyPr>
          <a:lstStyle/>
          <a:p>
            <a:pPr algn="l">
              <a:defRPr sz="1050" b="0">
                <a:solidFill>
                  <a:srgbClr val="6B6861"/>
                </a:solidFill>
                <a:latin typeface="Arial"/>
              </a:defRPr>
            </a:pPr>
            <a:r>
              <a:t>GLEIF: legal entity, LEI, jurisdiction and registered address.</a:t>
            </a:r>
            <a:br/>
            <a:br/>
            <a:r>
              <a:t>Wikidata: aliases and auxiliary identifiers.</a:t>
            </a:r>
            <a:br/>
            <a:br/>
            <a:r>
              <a:t>GLEIF remains the legal-identity authority.</a:t>
            </a:r>
          </a:p>
        </p:txBody>
      </p:sp>
      <p:sp>
        <p:nvSpPr>
          <p:cNvPr id="12" name="Rounded Rectangle 11"/>
          <p:cNvSpPr/>
          <p:nvPr/>
        </p:nvSpPr>
        <p:spPr>
          <a:xfrm>
            <a:off x="3355848" y="1600200"/>
            <a:ext cx="2606040" cy="3611880"/>
          </a:xfrm>
          <a:prstGeom prst="roundRect">
            <a:avLst/>
          </a:prstGeom>
          <a:solidFill>
            <a:srgbClr val="EEEAE2"/>
          </a:solidFill>
          <a:ln>
            <a:solidFill>
              <a:srgbClr val="EEE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538728" y="1801368"/>
            <a:ext cx="73152" cy="310896"/>
          </a:xfrm>
          <a:prstGeom prst="roundRect">
            <a:avLst/>
          </a:prstGeom>
          <a:solidFill>
            <a:srgbClr val="D97745"/>
          </a:solidFill>
          <a:ln>
            <a:solidFill>
              <a:srgbClr val="D97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39896" y="1792224"/>
            <a:ext cx="2057400" cy="274320"/>
          </a:xfrm>
          <a:prstGeom prst="rect">
            <a:avLst/>
          </a:prstGeom>
          <a:noFill/>
        </p:spPr>
        <p:txBody>
          <a:bodyPr wrap="square" lIns="0" tIns="0" rIns="0" bIns="0">
            <a:spAutoFit/>
          </a:bodyPr>
          <a:lstStyle/>
          <a:p>
            <a:r>
              <a:t>Not demonstrated yet</a:t>
            </a:r>
          </a:p>
        </p:txBody>
      </p:sp>
      <p:sp>
        <p:nvSpPr>
          <p:cNvPr id="15" name="TextBox 14"/>
          <p:cNvSpPr txBox="1"/>
          <p:nvPr/>
        </p:nvSpPr>
        <p:spPr>
          <a:xfrm>
            <a:off x="3557016" y="2313432"/>
            <a:ext cx="2203704" cy="2734056"/>
          </a:xfrm>
          <a:prstGeom prst="rect">
            <a:avLst/>
          </a:prstGeom>
          <a:noFill/>
        </p:spPr>
        <p:txBody>
          <a:bodyPr wrap="square" lIns="0" tIns="0" rIns="0" bIns="0">
            <a:spAutoFit/>
          </a:bodyPr>
          <a:lstStyle/>
          <a:p>
            <a:pPr algn="l">
              <a:defRPr sz="1050" b="0">
                <a:solidFill>
                  <a:srgbClr val="6B6861"/>
                </a:solidFill>
                <a:latin typeface="Arial"/>
              </a:defRPr>
            </a:pPr>
            <a:r>
              <a:t>Annual reports and official corporate pages.</a:t>
            </a:r>
            <a:br/>
            <a:br/>
            <a:r>
              <a:t>Official relationship announcements and public transparency disclosures.</a:t>
            </a:r>
            <a:br/>
            <a:br/>
            <a:r>
              <a:t>All documents are retained, hashed and linked to evidence.</a:t>
            </a:r>
          </a:p>
        </p:txBody>
      </p:sp>
      <p:sp>
        <p:nvSpPr>
          <p:cNvPr id="16" name="Rounded Rectangle 15"/>
          <p:cNvSpPr/>
          <p:nvPr/>
        </p:nvSpPr>
        <p:spPr>
          <a:xfrm>
            <a:off x="6144768" y="1600200"/>
            <a:ext cx="2606040" cy="3611880"/>
          </a:xfrm>
          <a:prstGeom prst="roundRect">
            <a:avLst/>
          </a:prstGeom>
          <a:solidFill>
            <a:srgbClr val="EEEAE2"/>
          </a:solidFill>
          <a:ln>
            <a:solidFill>
              <a:srgbClr val="EEE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27648" y="1801368"/>
            <a:ext cx="73152" cy="310896"/>
          </a:xfrm>
          <a:prstGeom prst="roundRect">
            <a:avLst/>
          </a:prstGeom>
          <a:solidFill>
            <a:srgbClr val="4E8068"/>
          </a:solidFill>
          <a:ln>
            <a:solidFill>
              <a:srgbClr val="4E80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28816" y="1792224"/>
            <a:ext cx="2057400" cy="274320"/>
          </a:xfrm>
          <a:prstGeom prst="rect">
            <a:avLst/>
          </a:prstGeom>
          <a:noFill/>
        </p:spPr>
        <p:txBody>
          <a:bodyPr wrap="square" lIns="0" tIns="0" rIns="0" bIns="0">
            <a:spAutoFit/>
          </a:bodyPr>
          <a:lstStyle/>
          <a:p>
            <a:r>
              <a:t>Next validation</a:t>
            </a:r>
          </a:p>
        </p:txBody>
      </p:sp>
      <p:sp>
        <p:nvSpPr>
          <p:cNvPr id="19" name="TextBox 18"/>
          <p:cNvSpPr txBox="1"/>
          <p:nvPr/>
        </p:nvSpPr>
        <p:spPr>
          <a:xfrm>
            <a:off x="6345936" y="2313432"/>
            <a:ext cx="2203704" cy="2734056"/>
          </a:xfrm>
          <a:prstGeom prst="rect">
            <a:avLst/>
          </a:prstGeom>
          <a:noFill/>
        </p:spPr>
        <p:txBody>
          <a:bodyPr wrap="square" lIns="0" tIns="0" rIns="0" bIns="0">
            <a:spAutoFit/>
          </a:bodyPr>
          <a:lstStyle/>
          <a:p>
            <a:pPr algn="l">
              <a:defRPr sz="1050" b="0">
                <a:solidFill>
                  <a:srgbClr val="6B6861"/>
                </a:solidFill>
                <a:latin typeface="Arial"/>
              </a:defRPr>
            </a:pPr>
            <a:r>
              <a:t>Tavily-discovered public articles and reports.</a:t>
            </a:r>
            <a:br/>
            <a:br/>
            <a:r>
              <a:t>A single explicit news source starts LOW; independent corroboration can raise confidence.</a:t>
            </a:r>
            <a:br/>
            <a:br/>
            <a:r>
              <a:t>News is never treated as conclusive by itself.</a:t>
            </a:r>
          </a:p>
        </p:txBody>
      </p:sp>
      <p:sp>
        <p:nvSpPr>
          <p:cNvPr id="20" name="Rounded Rectangle 19"/>
          <p:cNvSpPr/>
          <p:nvPr/>
        </p:nvSpPr>
        <p:spPr>
          <a:xfrm>
            <a:off x="8933688" y="1600200"/>
            <a:ext cx="2606040" cy="3611880"/>
          </a:xfrm>
          <a:prstGeom prst="roundRect">
            <a:avLst/>
          </a:prstGeom>
          <a:solidFill>
            <a:srgbClr val="EEEAE2"/>
          </a:solidFill>
          <a:ln>
            <a:solidFill>
              <a:srgbClr val="EEE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116567" y="1801368"/>
            <a:ext cx="73152" cy="310896"/>
          </a:xfrm>
          <a:prstGeom prst="roundRect">
            <a:avLst/>
          </a:prstGeom>
          <a:solidFill>
            <a:srgbClr val="B85C4C"/>
          </a:solidFill>
          <a:ln>
            <a:solidFill>
              <a:srgbClr val="B85C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317736" y="1792224"/>
            <a:ext cx="2057400" cy="274320"/>
          </a:xfrm>
          <a:prstGeom prst="rect">
            <a:avLst/>
          </a:prstGeom>
          <a:noFill/>
        </p:spPr>
        <p:txBody>
          <a:bodyPr wrap="square" lIns="0" tIns="0" rIns="0" bIns="0">
            <a:spAutoFit/>
          </a:bodyPr>
          <a:lstStyle/>
          <a:p>
            <a:r>
              <a:t>Key guardrails</a:t>
            </a:r>
          </a:p>
        </p:txBody>
      </p:sp>
      <p:sp>
        <p:nvSpPr>
          <p:cNvPr id="23" name="TextBox 22"/>
          <p:cNvSpPr txBox="1"/>
          <p:nvPr/>
        </p:nvSpPr>
        <p:spPr>
          <a:xfrm>
            <a:off x="9134856" y="2313432"/>
            <a:ext cx="2203704" cy="2734056"/>
          </a:xfrm>
          <a:prstGeom prst="rect">
            <a:avLst/>
          </a:prstGeom>
          <a:noFill/>
        </p:spPr>
        <p:txBody>
          <a:bodyPr wrap="square" lIns="0" tIns="0" rIns="0" bIns="0">
            <a:spAutoFit/>
          </a:bodyPr>
          <a:lstStyle/>
          <a:p>
            <a:pPr algn="l">
              <a:defRPr sz="1050" b="0">
                <a:solidFill>
                  <a:srgbClr val="6B6861"/>
                </a:solidFill>
                <a:latin typeface="Arial"/>
              </a:defRPr>
            </a:pPr>
            <a:r>
              <a:t>OFAC SDN list</a:t>
            </a:r>
            <a:br/>
            <a:r>
              <a:t>UK Sanctions List</a:t>
            </a:r>
            <a:br/>
            <a:r>
              <a:t>World Bank debarment records</a:t>
            </a:r>
            <a:br/>
            <a:br/>
            <a:r>
              <a:t>A name match is an investigation lead, not a relationship or risk determination.</a:t>
            </a:r>
          </a:p>
        </p:txBody>
      </p:sp>
      <p:sp>
        <p:nvSpPr>
          <p:cNvPr id="24" name="TextBox 23"/>
          <p:cNvSpPr txBox="1"/>
          <p:nvPr/>
        </p:nvSpPr>
        <p:spPr>
          <a:xfrm>
            <a:off x="566928" y="5577840"/>
            <a:ext cx="10789920" cy="237744"/>
          </a:xfrm>
          <a:prstGeom prst="rect">
            <a:avLst/>
          </a:prstGeom>
          <a:noFill/>
        </p:spPr>
        <p:txBody>
          <a:bodyPr wrap="square" lIns="0" tIns="0" rIns="0" bIns="0">
            <a:spAutoFit/>
          </a:bodyPr>
          <a:lstStyle/>
          <a:p>
            <a:r>
              <a:t>Purpose of the prototype: make the proposed workflow testable before the intended internal and licensed data are available.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TotalTime>
  <Words>2869</Words>
  <Application>Microsoft Office PowerPoint</Application>
  <PresentationFormat>宽屏</PresentationFormat>
  <Paragraphs>319</Paragraphs>
  <Slides>11</Slides>
  <Notes>6</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马行云</dc:creator>
  <cp:keywords/>
  <dc:description/>
  <cp:lastModifiedBy>MA, Xingyun</cp:lastModifiedBy>
  <cp:revision>2</cp:revision>
  <dcterms:created xsi:type="dcterms:W3CDTF">2026-08-27T17:13:31Z</dcterms:created>
  <dcterms:modified xsi:type="dcterms:W3CDTF">2026-08-28T02:33:25Z</dcterms:modified>
  <cp:category/>
  <cp:contentStatus/>
  <dc:language/>
</cp:coreProperties>
</file>