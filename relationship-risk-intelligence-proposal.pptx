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deliberately modest: approve a feasibility MVP, not a full enterprise graph programme. The proposition is to add relationship context to risk prioritisation, then expand only when evidence supports the investment.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AHP helps us identify where to look, but it does not consistently explain the relationship context behind a risk signal. The current Hong Kong-only two-hop network and fragmented external research leave investigators to assemble that context manually. At the same time, searching the web for every customer is not a realistic answer.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resolves that tension. Layer 0 remains a lightweight all-population internal foundation. AHP, an investigator query, or a known-risk seed activates targeted enrichment only for a relevant customer or entity. Layer 1 stores source-linked, reusable relationship knowledge. Layer 2 turns it into a small case subgraph and an evidence pack.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is not a new black-box score. It is a structured investigation narrative: why the case was triggered, what relationships were found, how confident we are in the entity match, and what an investigator should verify next. The same foundation can support related-party, counterparty-flow and external-risk use cases as data becomes available.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should prove value before requesting the richer data and vendor investment. Phase 1 works with what is available today. Phase 2 adds reliable structured corporate relationships. Phase 3 introduces aggregated counterparty patterns and tightly scoped monitoring. The immediate decision is to approve Phase 1 and the gated path to assess the next data dependencies if it succeeds.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742950"/>
            <a:ext cx="114300" cy="451485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23900" y="742950"/>
            <a:ext cx="114300" cy="4514850"/>
          </a:xfrm>
          <a:prstGeom prst="rect">
            <a:avLst/>
          </a:prstGeom>
          <a:solidFill>
            <a:srgbClr val="0B8F8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6142" y="978218"/>
            <a:ext cx="3563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rgbClr val="1E5AA8"/>
                </a:solidFill>
                <a:latin typeface="Arial"/>
                <a:ea typeface="Arial"/>
                <a:cs typeface="Arial"/>
              </a:rPr>
              <a:t>FRAUD INVESTIGATION PROPOSAL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950" y="1732598"/>
            <a:ext cx="8382519" cy="1247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4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From Fraud Scores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2685098"/>
            <a:ext cx="6674751" cy="1247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4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to Relationship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950" y="3637598"/>
            <a:ext cx="5167781" cy="1247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450" b="1" dirty="0">
                <a:solidFill>
                  <a:srgbClr val="1E5AA8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9" name="Line 9"/>
          <p:cNvSpPr/>
          <p:nvPr/>
        </p:nvSpPr>
        <p:spPr>
          <a:xfrm>
            <a:off x="1143000" y="481965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0808" y="5055870"/>
            <a:ext cx="1189271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A phased, on-demand network approach to strengthen fraud investigations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143000" y="5791200"/>
            <a:ext cx="8858250" cy="55245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362456" y="5958840"/>
            <a:ext cx="140206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Decision requested: approve a limited feasibility MVP and a gated path to scale only when value is demonstrated.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47654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3598" y="441008"/>
            <a:ext cx="135156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Today we can prioritise risk, but we lack relationship context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066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8170" y="1357312"/>
            <a:ext cx="1562200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AHP indicates where to look; investigators still need reliable evidence to explain why risk may exist.</a:t>
            </a:r>
          </a:p>
        </p:txBody>
      </p:sp>
      <p:sp>
        <p:nvSpPr>
          <p:cNvPr id="6" name="Line 6"/>
          <p:cNvSpPr/>
          <p:nvPr/>
        </p:nvSpPr>
        <p:spPr>
          <a:xfrm>
            <a:off x="3905250" y="2076450"/>
            <a:ext cx="9525" cy="3543300"/>
          </a:xfrm>
          <a:custGeom>
            <a:avLst/>
            <a:gdLst/>
            <a:ahLst/>
            <a:cxnLst/>
            <a:rect l="l" t="t" r="r" b="b"/>
            <a:pathLst>
              <a:path w="9525" h="3543300">
                <a:moveTo>
                  <a:pt x="0" y="0"/>
                </a:moveTo>
                <a:lnTo>
                  <a:pt x="0" y="354330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02742" y="2292668"/>
            <a:ext cx="18976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1E5AA8"/>
                </a:solidFill>
                <a:latin typeface="Arial"/>
                <a:ea typeface="Arial"/>
                <a:cs typeface="Arial"/>
              </a:rPr>
              <a:t>CURRENT STRENGTH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408" y="2674620"/>
            <a:ext cx="35020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AHP ranks customers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456" y="308229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using fraud-related indicators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456" y="3472815"/>
            <a:ext cx="43072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such as counterparty concentration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0456" y="3806190"/>
            <a:ext cx="25716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and U-turn patterns.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" y="4524375"/>
            <a:ext cx="2705100" cy="66675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10006" y="4739640"/>
            <a:ext cx="25825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Useful prioritisation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74642" y="2292668"/>
            <a:ext cx="21306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C88918"/>
                </a:solidFill>
                <a:latin typeface="Arial"/>
                <a:ea typeface="Arial"/>
                <a:cs typeface="Arial"/>
              </a:rPr>
              <a:t>THE UNRESOLVED GAP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81500" y="2724150"/>
            <a:ext cx="2190750" cy="2305050"/>
          </a:xfrm>
          <a:prstGeom prst="rect">
            <a:avLst/>
          </a:prstGeom>
          <a:solidFill>
            <a:srgbClr val="FFF5D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99432" y="2916555"/>
            <a:ext cx="10836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Limited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99432" y="3259455"/>
            <a:ext cx="19210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relationships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2480" y="3724275"/>
            <a:ext cx="210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Hong Kong-only 2-hop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2480" y="3990975"/>
            <a:ext cx="17922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network and basic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2480" y="4257675"/>
            <a:ext cx="11965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identifiers.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953250" y="2724150"/>
            <a:ext cx="2190750" cy="2305050"/>
          </a:xfrm>
          <a:prstGeom prst="rect">
            <a:avLst/>
          </a:prstGeom>
          <a:solidFill>
            <a:srgbClr val="FFF5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71182" y="2916555"/>
            <a:ext cx="172288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Fragmented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71182" y="3259455"/>
            <a:ext cx="13274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74230" y="3724275"/>
            <a:ext cx="23031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Investigators assemble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74230" y="3990975"/>
            <a:ext cx="16912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external context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74230" y="4257675"/>
            <a:ext cx="9542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manually.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0" y="2724150"/>
            <a:ext cx="2057400" cy="2305050"/>
          </a:xfrm>
          <a:prstGeom prst="rect">
            <a:avLst/>
          </a:prstGeom>
          <a:solidFill>
            <a:srgbClr val="FFF5D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742932" y="2916555"/>
            <a:ext cx="12768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No viable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42932" y="3259455"/>
            <a:ext cx="14164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full crawl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45980" y="3724275"/>
            <a:ext cx="17579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Searching roughly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45980" y="3990975"/>
            <a:ext cx="2125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one million customers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45980" y="4257675"/>
            <a:ext cx="16508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is not practical.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0832" y="5488305"/>
            <a:ext cx="157188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B8F8C"/>
                </a:solidFill>
                <a:latin typeface="Arial"/>
                <a:ea typeface="Arial"/>
                <a:cs typeface="Arial"/>
              </a:rPr>
              <a:t>Opportunity: deliver targeted, explainable relationship context only when a customer merits investigation.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47654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3598" y="345758"/>
            <a:ext cx="1656494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 shared relationship intelligence layer expands only when a case justifies 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456" y="834390"/>
            <a:ext cx="133708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Not another fraud model. Not a full-population web crawl. A source-linked knowledge layer activated on demand.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23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03504" y="1432560"/>
            <a:ext cx="8306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TRIGGERS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76400"/>
            <a:ext cx="3124200" cy="53340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91718" y="1822132"/>
            <a:ext cx="354978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AHP priority / strong indicator</a:t>
            </a:r>
          </a:p>
        </p:txBody>
      </p:sp>
      <p:sp>
        <p:nvSpPr>
          <p:cNvPr id="9" name="Rectangle 9"/>
          <p:cNvSpPr/>
          <p:nvPr/>
        </p:nvSpPr>
        <p:spPr>
          <a:xfrm>
            <a:off x="4057650" y="1676400"/>
            <a:ext cx="3124200" cy="53340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239768" y="1822132"/>
            <a:ext cx="21579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Investigator query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505700" y="1676400"/>
            <a:ext cx="3124200" cy="53340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687818" y="1822132"/>
            <a:ext cx="18790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Known-risk seed</a:t>
            </a:r>
          </a:p>
        </p:txBody>
      </p:sp>
      <p:sp>
        <p:nvSpPr>
          <p:cNvPr id="13" name="Line 13"/>
          <p:cNvSpPr/>
          <p:nvPr/>
        </p:nvSpPr>
        <p:spPr>
          <a:xfrm>
            <a:off x="2171700" y="2209800"/>
            <a:ext cx="1" cy="485775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14" name="Line 14"/>
          <p:cNvSpPr/>
          <p:nvPr/>
        </p:nvSpPr>
        <p:spPr>
          <a:xfrm>
            <a:off x="5619750" y="2209800"/>
            <a:ext cx="1" cy="485775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15" name="Line 15"/>
          <p:cNvSpPr/>
          <p:nvPr/>
        </p:nvSpPr>
        <p:spPr>
          <a:xfrm>
            <a:off x="9067800" y="2209800"/>
            <a:ext cx="1" cy="485775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16" name="TextBox 16"/>
          <p:cNvSpPr txBox="1"/>
          <p:nvPr/>
        </p:nvSpPr>
        <p:spPr>
          <a:xfrm>
            <a:off x="603504" y="2480310"/>
            <a:ext cx="2972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LAYER 0 — INTERNAL FOUNDATION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" y="2781300"/>
            <a:ext cx="6858000" cy="60960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10006" y="2863215"/>
            <a:ext cx="74561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Customer identity &amp; risk index — full population, lightweight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2292" y="3121342"/>
            <a:ext cx="8040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Customer ID · legal / alias name · country · industry · monthly AHP indicators · risk labels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810500" y="2781300"/>
            <a:ext cx="2819400" cy="609600"/>
          </a:xfrm>
          <a:prstGeom prst="rect">
            <a:avLst/>
          </a:prstGeom>
          <a:solidFill>
            <a:srgbClr val="FFF5DF"/>
          </a:solidFill>
          <a:ln w="19050">
            <a:solidFill>
              <a:srgbClr val="C8891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92618" y="2879408"/>
            <a:ext cx="27298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Future structured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4523" y="3129439"/>
            <a:ext cx="31015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Orbis · KYC · transaction summaries</a:t>
            </a:r>
          </a:p>
        </p:txBody>
      </p:sp>
      <p:sp>
        <p:nvSpPr>
          <p:cNvPr id="23" name="Line 23"/>
          <p:cNvSpPr/>
          <p:nvPr/>
        </p:nvSpPr>
        <p:spPr>
          <a:xfrm>
            <a:off x="4038600" y="3390900"/>
            <a:ext cx="1" cy="447675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24" name="Line 24"/>
          <p:cNvSpPr/>
          <p:nvPr/>
        </p:nvSpPr>
        <p:spPr>
          <a:xfrm>
            <a:off x="9220200" y="3390900"/>
            <a:ext cx="1" cy="447675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603504" y="3632835"/>
            <a:ext cx="46216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LAYER 1 — ON-DEMAND RELATIONSHIP INTELLIGENCE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9600" y="3943350"/>
            <a:ext cx="4572000" cy="723900"/>
          </a:xfrm>
          <a:prstGeom prst="rect">
            <a:avLst/>
          </a:prstGeom>
          <a:solidFill>
            <a:srgbClr val="E8F5F3"/>
          </a:solidFill>
          <a:ln w="19050">
            <a:solidFill>
              <a:srgbClr val="0B8F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10006" y="4044315"/>
            <a:ext cx="463165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B6C69"/>
                </a:solidFill>
                <a:latin typeface="Arial"/>
                <a:ea typeface="Arial"/>
                <a:cs typeface="Arial"/>
              </a:rPr>
              <a:t>Entity resolution &amp; evidence controls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2292" y="4311968"/>
            <a:ext cx="44366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Match confidence · source · date · review status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505450" y="3943350"/>
            <a:ext cx="4000500" cy="723900"/>
          </a:xfrm>
          <a:prstGeom prst="rect">
            <a:avLst/>
          </a:prstGeom>
          <a:solidFill>
            <a:srgbClr val="E8F5F3"/>
          </a:solidFill>
          <a:ln w="19050">
            <a:solidFill>
              <a:srgbClr val="0B8F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705856" y="4044315"/>
            <a:ext cx="4465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B6C69"/>
                </a:solidFill>
                <a:latin typeface="Arial"/>
                <a:ea typeface="Arial"/>
                <a:cs typeface="Arial"/>
              </a:rPr>
              <a:t>Shared relationship knowledge layer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08142" y="4311968"/>
            <a:ext cx="50453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Reusable company · person · counterparty · event edges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10750" y="3790950"/>
            <a:ext cx="1771650" cy="361950"/>
          </a:xfrm>
          <a:prstGeom prst="rect">
            <a:avLst/>
          </a:prstGeom>
          <a:solidFill>
            <a:srgbClr val="EAF1F8"/>
          </a:solidFill>
          <a:ln w="14288">
            <a:solidFill>
              <a:srgbClr val="1E5AA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937623" y="3891439"/>
            <a:ext cx="908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News Edge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810750" y="4229100"/>
            <a:ext cx="1771650" cy="361950"/>
          </a:xfrm>
          <a:prstGeom prst="rect">
            <a:avLst/>
          </a:prstGeom>
          <a:solidFill>
            <a:srgbClr val="EAF1F8"/>
          </a:solidFill>
          <a:ln w="14288">
            <a:solidFill>
              <a:srgbClr val="1E5AA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937623" y="4329589"/>
            <a:ext cx="14746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Google Grounding</a:t>
            </a:r>
          </a:p>
        </p:txBody>
      </p:sp>
      <p:sp>
        <p:nvSpPr>
          <p:cNvPr id="36" name="Line 36"/>
          <p:cNvSpPr/>
          <p:nvPr/>
        </p:nvSpPr>
        <p:spPr>
          <a:xfrm flipH="1">
            <a:off x="9544050" y="3971925"/>
            <a:ext cx="266700" cy="133350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37" name="Line 37"/>
          <p:cNvSpPr/>
          <p:nvPr/>
        </p:nvSpPr>
        <p:spPr>
          <a:xfrm flipH="1" flipV="1">
            <a:off x="9544050" y="4352925"/>
            <a:ext cx="266700" cy="57150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38" name="Line 38"/>
          <p:cNvSpPr/>
          <p:nvPr/>
        </p:nvSpPr>
        <p:spPr>
          <a:xfrm>
            <a:off x="5181600" y="4305300"/>
            <a:ext cx="304800" cy="1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39" name="Line 39"/>
          <p:cNvSpPr/>
          <p:nvPr/>
        </p:nvSpPr>
        <p:spPr>
          <a:xfrm>
            <a:off x="7505700" y="4667250"/>
            <a:ext cx="1" cy="495300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603504" y="4937760"/>
            <a:ext cx="4322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LAYER 2 — INVESTIGATION OUTPUTS &amp; USE CASES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9600" y="5238750"/>
            <a:ext cx="3105150" cy="70485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10006" y="5339715"/>
            <a:ext cx="17821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Case subgraph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2292" y="5616892"/>
            <a:ext cx="29396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1-hop default · risk-gated 2-hop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038600" y="5238750"/>
            <a:ext cx="3105150" cy="70485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239006" y="5339715"/>
            <a:ext cx="1718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Evidence pack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41292" y="5616892"/>
            <a:ext cx="27646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Summary · sources · questions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467600" y="5238750"/>
            <a:ext cx="3162300" cy="70485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668006" y="5339715"/>
            <a:ext cx="20747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Use-case library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670292" y="5616892"/>
            <a:ext cx="32460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Related party · flow risk · exposure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47654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3598" y="345758"/>
            <a:ext cx="1360399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The same foundation supports multiple investigation questions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456" y="834390"/>
            <a:ext cx="130512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The output is an investigation-ready evidence pack — not a black-box risk decision and not a one-off use case.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23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1685925"/>
            <a:ext cx="2781300" cy="1390650"/>
          </a:xfrm>
          <a:prstGeom prst="rect">
            <a:avLst/>
          </a:prstGeom>
          <a:solidFill>
            <a:srgbClr val="FFF5DF"/>
          </a:solidFill>
          <a:ln w="19050">
            <a:solidFill>
              <a:srgbClr val="C8891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9056" y="1863090"/>
            <a:ext cx="18724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1. Risk trigger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199" y="2239804"/>
            <a:ext cx="215744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AHP priority, strong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0199" y="2506504"/>
            <a:ext cx="243310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indicator, investigator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199" y="2773204"/>
            <a:ext cx="2019652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query or risk seed.</a:t>
            </a:r>
          </a:p>
        </p:txBody>
      </p:sp>
      <p:sp>
        <p:nvSpPr>
          <p:cNvPr id="11" name="Line 11"/>
          <p:cNvSpPr/>
          <p:nvPr/>
        </p:nvSpPr>
        <p:spPr>
          <a:xfrm>
            <a:off x="3390900" y="2381250"/>
            <a:ext cx="542925" cy="1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12" name="Rectangle 12"/>
          <p:cNvSpPr/>
          <p:nvPr/>
        </p:nvSpPr>
        <p:spPr>
          <a:xfrm>
            <a:off x="4000500" y="1685925"/>
            <a:ext cx="3733800" cy="1390650"/>
          </a:xfrm>
          <a:prstGeom prst="rect">
            <a:avLst/>
          </a:prstGeom>
          <a:solidFill>
            <a:srgbClr val="E8F5F3"/>
          </a:solidFill>
          <a:ln w="19050">
            <a:solidFill>
              <a:srgbClr val="0B8F8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219956" y="1863090"/>
            <a:ext cx="300356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B6C69"/>
                </a:solidFill>
                <a:latin typeface="Arial"/>
                <a:ea typeface="Arial"/>
                <a:cs typeface="Arial"/>
              </a:rPr>
              <a:t>2. Relationship evidence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21099" y="2239804"/>
            <a:ext cx="3701603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Potential common control, external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21099" y="2506504"/>
            <a:ext cx="358864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role overlap, adverse-information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21099" y="2773204"/>
            <a:ext cx="3302413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or counterparty inconsistency.</a:t>
            </a:r>
          </a:p>
        </p:txBody>
      </p:sp>
      <p:sp>
        <p:nvSpPr>
          <p:cNvPr id="17" name="Line 17"/>
          <p:cNvSpPr/>
          <p:nvPr/>
        </p:nvSpPr>
        <p:spPr>
          <a:xfrm>
            <a:off x="7734300" y="2381250"/>
            <a:ext cx="542925" cy="1"/>
          </a:xfrm>
          <a:prstGeom prst="line">
            <a:avLst/>
          </a:prstGeom>
          <a:noFill/>
          <a:ln w="19050">
            <a:solidFill>
              <a:srgbClr val="5C6B7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343900" y="1685925"/>
            <a:ext cx="3238500" cy="139065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63356" y="1863090"/>
            <a:ext cx="27875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3. Investigator 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64499" y="2239804"/>
            <a:ext cx="2969843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Verify disclosure, operating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4499" y="2506504"/>
            <a:ext cx="262392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model and the commercial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64499" y="2773204"/>
            <a:ext cx="320700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rationale for the relationship.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2742" y="3473768"/>
            <a:ext cx="20091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CASE PACK CONTENT</a:t>
            </a:r>
          </a:p>
        </p:txBody>
      </p:sp>
      <p:sp>
        <p:nvSpPr>
          <p:cNvPr id="24" name="Line 24"/>
          <p:cNvSpPr/>
          <p:nvPr/>
        </p:nvSpPr>
        <p:spPr>
          <a:xfrm>
            <a:off x="609600" y="378142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98932" y="4002405"/>
            <a:ext cx="196070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Risk summary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1980" y="4371975"/>
            <a:ext cx="47066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Which indicator or query triggered enrichment?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94582" y="4002405"/>
            <a:ext cx="31618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Relationship subgraph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97630" y="4371975"/>
            <a:ext cx="5141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One-hop by default; risk-gated two-hop expansion.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99832" y="4002405"/>
            <a:ext cx="258316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Evidence register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02880" y="4371975"/>
            <a:ext cx="58177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Source, retrieval date, match confidence, review status.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2742" y="5131118"/>
            <a:ext cx="28908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REUSABLE USE-CASE LIBRARY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5467350"/>
            <a:ext cx="3314700" cy="59055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1718" y="5641658"/>
            <a:ext cx="3616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Related party &amp; common control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210050" y="5467350"/>
            <a:ext cx="3314700" cy="590550"/>
          </a:xfrm>
          <a:prstGeom prst="rect">
            <a:avLst/>
          </a:prstGeom>
          <a:solidFill>
            <a:srgbClr val="E8F5F3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392168" y="5641658"/>
            <a:ext cx="37562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B6C69"/>
                </a:solidFill>
                <a:latin typeface="Arial"/>
                <a:ea typeface="Arial"/>
                <a:cs typeface="Arial"/>
              </a:rPr>
              <a:t>Counterparty &amp; transaction flow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810500" y="5467350"/>
            <a:ext cx="3771900" cy="590550"/>
          </a:xfrm>
          <a:prstGeom prst="rect">
            <a:avLst/>
          </a:prstGeom>
          <a:solidFill>
            <a:srgbClr val="FFF5D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92618" y="5641658"/>
            <a:ext cx="42228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External exposure &amp; known-risk links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47654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3598" y="345758"/>
            <a:ext cx="1665450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Prove value first, then unlock richer relationship and transaction use cases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456" y="834390"/>
            <a:ext cx="12687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A gated roadmap limits cost and technical risk while preserving a credible path to an enterprise capability.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23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02742" y="1473518"/>
            <a:ext cx="16135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GATED ROADMAP</a:t>
            </a:r>
          </a:p>
        </p:txBody>
      </p:sp>
      <p:sp>
        <p:nvSpPr>
          <p:cNvPr id="7" name="Line 7"/>
          <p:cNvSpPr/>
          <p:nvPr/>
        </p:nvSpPr>
        <p:spPr>
          <a:xfrm>
            <a:off x="1619250" y="2000250"/>
            <a:ext cx="9525" cy="2895600"/>
          </a:xfrm>
          <a:custGeom>
            <a:avLst/>
            <a:gdLst/>
            <a:ahLst/>
            <a:cxnLst/>
            <a:rect l="l" t="t" r="r" b="b"/>
            <a:pathLst>
              <a:path w="9525" h="2895600">
                <a:moveTo>
                  <a:pt x="0" y="0"/>
                </a:moveTo>
                <a:lnTo>
                  <a:pt x="0" y="2895600"/>
                </a:lnTo>
              </a:path>
            </a:pathLst>
          </a:custGeom>
          <a:noFill/>
          <a:ln w="38100">
            <a:solidFill>
              <a:srgbClr val="C9D3DE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485900" y="2133600"/>
            <a:ext cx="266700" cy="2667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485900" y="3390900"/>
            <a:ext cx="266700" cy="266700"/>
          </a:xfrm>
          <a:prstGeom prst="ellipse">
            <a:avLst/>
          </a:prstGeom>
          <a:solidFill>
            <a:srgbClr val="0B8F8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485900" y="4648200"/>
            <a:ext cx="266700" cy="266700"/>
          </a:xfrm>
          <a:prstGeom prst="ellipse">
            <a:avLst/>
          </a:prstGeom>
          <a:solidFill>
            <a:srgbClr val="C8891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2000250" y="1828800"/>
            <a:ext cx="4629150" cy="895350"/>
          </a:xfrm>
          <a:prstGeom prst="rect">
            <a:avLst/>
          </a:prstGeom>
          <a:solidFill>
            <a:srgbClr val="EAF1F8"/>
          </a:solidFill>
          <a:ln w="19050">
            <a:solidFill>
              <a:srgbClr val="1E5AA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218944" y="1942148"/>
            <a:ext cx="336270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2355B"/>
                </a:solidFill>
                <a:latin typeface="Arial"/>
                <a:ea typeface="Arial"/>
                <a:cs typeface="Arial"/>
              </a:rPr>
              <a:t>Phase 1 — Feasibility MVP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21611" y="2265521"/>
            <a:ext cx="68893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Existing customer data · AHP · risk labels · News Edge · Google Grounding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1611" y="2494121"/>
            <a:ext cx="42888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Targeted external-risk and relationship leads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00250" y="3086100"/>
            <a:ext cx="4629150" cy="895350"/>
          </a:xfrm>
          <a:prstGeom prst="rect">
            <a:avLst/>
          </a:prstGeom>
          <a:solidFill>
            <a:srgbClr val="E8F5F3"/>
          </a:solidFill>
          <a:ln w="19050">
            <a:solidFill>
              <a:srgbClr val="0B8F8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218944" y="3199448"/>
            <a:ext cx="533071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B6C69"/>
                </a:solidFill>
                <a:latin typeface="Arial"/>
                <a:ea typeface="Arial"/>
                <a:cs typeface="Arial"/>
              </a:rPr>
              <a:t>Phase 2 — Structured relationship layer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21611" y="3522821"/>
            <a:ext cx="57666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Orbis or equivalent · available KYC and customer master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1611" y="3751421"/>
            <a:ext cx="48549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Reliable ownership, director and corporate context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000250" y="4343400"/>
            <a:ext cx="4629150" cy="895350"/>
          </a:xfrm>
          <a:prstGeom prst="rect">
            <a:avLst/>
          </a:prstGeom>
          <a:solidFill>
            <a:srgbClr val="FFF5DF"/>
          </a:solidFill>
          <a:ln w="19050">
            <a:solidFill>
              <a:srgbClr val="C8891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218944" y="4456748"/>
            <a:ext cx="56217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Phase 3 — Counterparty &amp; event expansion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21611" y="4780121"/>
            <a:ext cx="602516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Aggregated transaction data · activated-entity monitoring pool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21611" y="5008721"/>
            <a:ext cx="44812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Dual-role, flow-risk and event-driven patterns</a:t>
            </a:r>
          </a:p>
        </p:txBody>
      </p:sp>
      <p:sp>
        <p:nvSpPr>
          <p:cNvPr id="23" name="Line 23"/>
          <p:cNvSpPr/>
          <p:nvPr/>
        </p:nvSpPr>
        <p:spPr>
          <a:xfrm>
            <a:off x="7048500" y="1600200"/>
            <a:ext cx="9525" cy="3676650"/>
          </a:xfrm>
          <a:custGeom>
            <a:avLst/>
            <a:gdLst/>
            <a:ahLst/>
            <a:cxnLst/>
            <a:rect l="l" t="t" r="r" b="b"/>
            <a:pathLst>
              <a:path w="9525" h="3676650">
                <a:moveTo>
                  <a:pt x="0" y="0"/>
                </a:moveTo>
                <a:lnTo>
                  <a:pt x="0" y="3676650"/>
                </a:lnTo>
              </a:path>
            </a:pathLst>
          </a:custGeom>
          <a:noFill/>
          <a:ln w="19050">
            <a:solidFill>
              <a:srgbClr val="C9D3D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460742" y="1473518"/>
            <a:ext cx="28096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PHASE 1 SUCCESS MEASURES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8075" y="1874044"/>
            <a:ext cx="433486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• Confirmed entity-match quality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58075" y="2255044"/>
            <a:ext cx="494439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• Incremental, source-linked evidence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58075" y="2636044"/>
            <a:ext cx="41642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• Investigator / SME usefulness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8075" y="3017044"/>
            <a:ext cx="366236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• Time and API cost per case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58075" y="3398044"/>
            <a:ext cx="565985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• Meaningful findings in known-risk samples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467600" y="4114800"/>
            <a:ext cx="4114800" cy="1123950"/>
          </a:xfrm>
          <a:prstGeom prst="rect">
            <a:avLst/>
          </a:prstGeom>
          <a:solidFill>
            <a:srgbClr val="12355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689342" y="4302442"/>
            <a:ext cx="2120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75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86675" y="4569619"/>
            <a:ext cx="410480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Approve Phase 1 feasibility MVP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88961" y="4894421"/>
            <a:ext cx="80694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and a gated path to assess Orbis, KYC and transaction data if value is demonstrated.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47654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B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2026-07-13T06:04:07Z</dcterms:created>
  <dcterms:modified xsi:type="dcterms:W3CDTF">2026-07-13T06:04:07Z</dcterms:modified>
  <cp:category/>
  <cp:contentStatus/>
</cp:coreProperties>
</file>